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70248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3657600" y="0"/>
            <a:ext cx="612648" cy="612648"/>
          </a:xfrm>
          <a:prstGeom prst="rtTriangle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502920"/>
            <a:ext cx="3474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Calibri"/>
              </a:rPr>
              <a:t>webshooks</a:t>
            </a:r>
            <a:r>
              <a:rPr sz="22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474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AAB4C8"/>
                </a:solidFill>
                <a:latin typeface="Calibri"/>
              </a:rPr>
              <a:t>Desarrollo de Software · LATAM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417320"/>
            <a:ext cx="219456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05740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Propuesta</a:t>
            </a:r>
          </a:p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Comercial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520440"/>
            <a:ext cx="3474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Módulo de Análisis Financiero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CEDEARs + ADRs LatAm — Backoffice Catalaxia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532120"/>
            <a:ext cx="3520440" cy="9525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5669280"/>
            <a:ext cx="3520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50" b="0" i="0">
                <a:solidFill>
                  <a:srgbClr val="AAB4C8"/>
                </a:solidFill>
                <a:latin typeface="Calibri"/>
              </a:rPr>
              <a:t>Cliente  </a:t>
            </a:r>
            <a:r>
              <a:rPr sz="950" b="1" i="0">
                <a:solidFill>
                  <a:srgbClr val="FFFFFF"/>
                </a:solidFill>
                <a:latin typeface="Calibri"/>
              </a:rPr>
              <a:t>Catalaxia S.A.</a:t>
            </a:r>
          </a:p>
          <a:p>
            <a:pPr>
              <a:spcBef>
                <a:spcPts val="600"/>
              </a:spcBef>
            </a:pPr>
            <a:r>
              <a:rPr sz="950" b="0" i="0">
                <a:solidFill>
                  <a:srgbClr val="AAB4C8"/>
                </a:solidFill>
                <a:latin typeface="Calibri"/>
              </a:rPr>
              <a:t>Fecha  </a:t>
            </a:r>
            <a:r>
              <a:rPr sz="950" b="1" i="0">
                <a:solidFill>
                  <a:srgbClr val="FFFFFF"/>
                </a:solidFill>
                <a:latin typeface="Calibri"/>
              </a:rPr>
              <a:t>Junio 2026 · v3.0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822960"/>
            <a:ext cx="68580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A2744"/>
                </a:solidFill>
                <a:latin typeface="Calibri"/>
              </a:rPr>
              <a:t>Iniciá tu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3B82F6"/>
                </a:solidFill>
                <a:latin typeface="Calibri"/>
              </a:rPr>
              <a:t>transformación digital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43A047"/>
                </a:solidFill>
                <a:latin typeface="Calibri"/>
              </a:rPr>
              <a:t>con nosotros.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788920"/>
            <a:ext cx="6492240" cy="3810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3108960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6B7589"/>
                </a:solidFill>
                <a:latin typeface="Calibri"/>
              </a:rPr>
              <a:t>Propuesta de Solución (actualizada):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6B7589"/>
                </a:solidFill>
                <a:latin typeface="Calibri"/>
              </a:rPr>
              <a:t>Módulo de Análisis Financiero con SEC EDGAR — validado sobre 553 empresas reales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114800"/>
            <a:ext cx="758952" cy="329184"/>
          </a:xfrm>
          <a:prstGeom prst="rect">
            <a:avLst/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114800"/>
            <a:ext cx="7589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A4D8F"/>
                </a:solidFill>
                <a:latin typeface="Calibri"/>
              </a:rPr>
              <a:t>Python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15000" y="4114800"/>
            <a:ext cx="836676" cy="329184"/>
          </a:xfrm>
          <a:prstGeom prst="rect">
            <a:avLst/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4114800"/>
            <a:ext cx="8366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A4D8F"/>
                </a:solidFill>
                <a:latin typeface="Calibri"/>
              </a:rPr>
              <a:t>Next.js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1404" y="4114800"/>
            <a:ext cx="1069848" cy="329184"/>
          </a:xfrm>
          <a:prstGeom prst="rect">
            <a:avLst/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1404" y="4114800"/>
            <a:ext cx="106984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A4D8F"/>
                </a:solidFill>
                <a:latin typeface="Calibri"/>
              </a:rPr>
              <a:t>PostgreSQL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40980" y="4114800"/>
            <a:ext cx="836676" cy="329184"/>
          </a:xfrm>
          <a:prstGeom prst="rect">
            <a:avLst/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0980" y="4114800"/>
            <a:ext cx="83667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A4D8F"/>
                </a:solidFill>
                <a:latin typeface="Calibri"/>
              </a:rPr>
              <a:t>FastAPI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87384" y="4114800"/>
            <a:ext cx="1924812" cy="329184"/>
          </a:xfrm>
          <a:prstGeom prst="rect">
            <a:avLst/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87384" y="4114800"/>
            <a:ext cx="192481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1A4D8F"/>
                </a:solidFill>
                <a:latin typeface="Calibri"/>
              </a:rPr>
              <a:t>SEC EDGAR (GAAP+IFRS)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Resumen Ejecutivo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Desarrollo de un módulo de análisis financiero integrado al backoffice de Catalaxia. A diferencia de la propuesta original, la fuente de datos ya está validada empíricamente: 553 empresas reales calculadas y comparadas contra Investing.com.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4500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78308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B82F6"/>
                </a:solidFill>
                <a:latin typeface="Calibri"/>
              </a:rPr>
              <a:t>553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Empresas con ratios ya calculados y validados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69164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691640"/>
            <a:ext cx="45000" cy="105156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8308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5821F"/>
                </a:solidFill>
                <a:latin typeface="Calibri"/>
              </a:rPr>
              <a:t>35+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Ratios fundamentales por empresa (GAAP+IFRS)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169164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4184" y="1691640"/>
            <a:ext cx="45000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78308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43A047"/>
                </a:solidFill>
                <a:latin typeface="Calibri"/>
              </a:rPr>
              <a:t>8.021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Universo total disponible en SEC EDGAR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4816" y="169164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14816" y="1691640"/>
            <a:ext cx="45000" cy="10515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178308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A2744"/>
                </a:solidFill>
                <a:latin typeface="Calibri"/>
              </a:rPr>
              <a:t>1,3%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Divergencia mediana de PER vs. Investing.com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01752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2744"/>
                </a:solidFill>
                <a:latin typeface="Calibri"/>
              </a:rPr>
              <a:t>¿Qué incluye?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4290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" b="1" i="0">
                <a:solidFill>
                  <a:srgbClr val="1A2744"/>
                </a:solidFill>
                <a:latin typeface="Calibri"/>
              </a:rPr>
              <a:t/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Screener con +500 empresas reales y 35 ratios (no una maqueta)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Cobertura S&amp;P 500 (100%) + ADRs Argentina/Brasil/LatAm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Fuente única: SEC EDGAR oficial — cero scraping frágil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34290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" b="1" i="0">
                <a:solidFill>
                  <a:srgbClr val="1A2744"/>
                </a:solidFill>
                <a:latin typeface="Calibri"/>
              </a:rPr>
              <a:t/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GAAP + IFRS unificados: desbloquea ADRs locales (GGAL, PAM, etc.)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Sistema de flags de calidad — nunca se estima, se marca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Base de datos en 5 capas: catálogo → facts → ratios → valuación → flags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42900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" b="1" i="0">
                <a:solidFill>
                  <a:srgbClr val="1A2744"/>
                </a:solidFill>
                <a:latin typeface="Calibri"/>
              </a:rPr>
              <a:t/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API REST + frontend Next.js (módulo de presentación, a construir)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3 jobs automatizados (precios, financials, cálculo)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Camino de migración SQLite → PostgreSQL ya definido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Validación y Confiabilidad — lo nuevo desde Mayo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11155680" cy="685800"/>
          </a:xfrm>
          <a:prstGeom prst="rect">
            <a:avLst/>
          </a:prstGeom>
          <a:solidFill>
            <a:srgbClr val="E7F7EC"/>
          </a:solidFill>
          <a:ln w="9525">
            <a:solidFill>
              <a:srgbClr val="B7E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78408"/>
            <a:ext cx="10881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980" b="1" i="0">
                <a:solidFill>
                  <a:srgbClr val="156023"/>
                </a:solidFill>
                <a:latin typeface="Calibri"/>
              </a:rPr>
              <a:t>Diferencia clave vs. la propuesta de Mayo: </a:t>
            </a:r>
            <a:r>
              <a:rPr sz="980" b="0" i="0">
                <a:solidFill>
                  <a:srgbClr val="1F6B35"/>
                </a:solidFill>
                <a:latin typeface="Calibri"/>
              </a:rPr>
              <a:t>ya no partimos de una arquitectura sin probar. Diagnosticamos 10 causas raíz de divergencia EDGAR-Investing y las corregimos.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78308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297680"/>
                <a:gridCol w="2743200"/>
              </a:tblGrid>
              <a:tr h="300445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Calibri"/>
                        </a:rPr>
                        <a:t>Divergencia mediana vs. Investing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Calibri"/>
                        </a:rPr>
                        <a:t>Veredicto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EPS (anual)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Exacto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Margen Neto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Exacto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Payout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0,0%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Exacto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PER (TTM)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1,3%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Confiable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00445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ROE (TTM, equity promedio)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0,4%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Confiable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Crecimiento EPS 5 años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1,5% (no comparable)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5821F"/>
                          </a:solidFill>
                          <a:latin typeface="Calibri"/>
                        </a:rPr>
                        <a:t>⚠ Metodología distinta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160520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Hallazgo central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El bug de mayor impacto: deduplicar por el campo fy de XBRL en vez del período (end). Corregirlo bajó las divergencias &gt;10% de 107 a 39 (-64%).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160520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Por qué importa para Catalaxia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Eliminamos la dependencia de scraping a Investing.com (frágil, bloqueable) sin perder precisión. Riesgo legal y de negocio: cero.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160520"/>
            <a:ext cx="3657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Control de calidad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429 de 553 empresas (78%) quedan limpias (sin flags) para screening serio. El resto queda marcado, nunca inventado.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Ratios Adicionales — Mismo Pipeline EDGAR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3A4458"/>
                </a:solidFill>
                <a:latin typeface="Calibri"/>
              </a:rPr>
              <a:t>Estos 2 ratios ya están implementados con la misma fuente (SEC EDGAR XBRL) y el mismo pipeline validado en la slide anterior — todavía no se incluyeron en la comparación formal contra Investing.com, pero usan datos ya probados (Net Income, CFO, CapEx, Equity, Deuda).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00200"/>
          <a:ext cx="111556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2286000"/>
                <a:gridCol w="256032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Fórmula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Implementado en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Deuda/EBITDA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Deuda total (o LP) / EBITDA TTM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SEC EDGAR XBRL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05_calcular_ratios.py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FCFonCE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FCF / Capital Empleado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SEC EDGAR XBRL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05_calcular_ratios.py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154680"/>
            <a:ext cx="5440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2744"/>
                </a:solidFill>
                <a:latin typeface="Calibri"/>
              </a:rPr>
              <a:t>Deuda/EBITDA — detalle del cálculo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EBITDA TTM = Operating Income + D&amp;A (incluye amortización de intangibles cuando corresponde)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Deuda LP: tag LongTermDebt / LongTermDebtNoncurrent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Deuda Total: + ShortTermBorrowings / DebtCurrent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Dos variantes ya calculadas: deuda_lp_sobre_ebitda y deuda_total_sobre_ebitda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154680"/>
            <a:ext cx="54406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2744"/>
                </a:solidFill>
                <a:latin typeface="Calibri"/>
              </a:rPr>
              <a:t>FCFonCE — detalle del cálculo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FCF = CFO − CapEx (Cash Flow Operativo − Capital Expenditures)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Capital Empleado, variante A: Equity + Deuda LP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Capital Empleado, variante B: Equity + Deuda Total − Caja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Dos variantes ya calculadas: fcfonce_equity_lp y fcfonce_neto_caja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Alcance del Proyecto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6576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2744"/>
                </a:solidFill>
                <a:latin typeface="Calibri"/>
              </a:rPr>
              <a:t>Base de Datos &amp; Jobs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Catálogo de 8.021 empresas (sector/país/tamaño)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Facts GAAP+IFRS unificados (companyfacts XBRL)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Tabla ratios — 35+ por empresa, lista para servir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Sistema de flags de calidad (nunca se estima)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Migración SQLite → PostgreSQL (esquema definido)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Job 1A precios diario · 1B financials semanal · 2 cálculo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051560"/>
            <a:ext cx="36576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2744"/>
                </a:solidFill>
                <a:latin typeface="Calibri"/>
              </a:rPr>
              <a:t>API REST — FastAPI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GET /api/cedears/screener (553 empresas, filtros)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GET /api/cedears/{ticker}/ratios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GET /api/cedears/{ticker}/precio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POST /api/jobs/ratios/{precios,financials,calculo}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GET /api/jobs/{id}/status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Documentación openapi.json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051560"/>
            <a:ext cx="36576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A2744"/>
                </a:solidFill>
                <a:latin typeface="Calibri"/>
              </a:rPr>
              <a:t>Frontend — Next.js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Screener: tabla 500+ empresas, columnas configurables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Filtros min/max: PER, Deuda/EBITDA, ROE, Precio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Filtro por flag de calidad ("solo datos limpios")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Sorting + paginación + exportar CSV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Detalle por ticker: gauge PER + barra 52 semanas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Panel de jobs con log en tiempo real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Stack Tecnológico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097280"/>
          <a:ext cx="539496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566160"/>
              </a:tblGrid>
              <a:tr h="375920">
                <a:tc>
                  <a:txBody>
                    <a:bodyPr wrap="square"/>
                    <a:lstStyle/>
                    <a:p>
                      <a:r>
                        <a:rPr sz="969" b="1" i="0">
                          <a:solidFill>
                            <a:srgbClr val="FFFFFF"/>
                          </a:solidFill>
                          <a:latin typeface="Calibri"/>
                        </a:rPr>
                        <a:t>BACKEND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Lenguaje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Python 3.11+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API Framework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FastAPI + Uvicorn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Precios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yfinance (Yahoo Finance)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Financials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SEC EDGAR XBRL — fuente única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Scraping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Investing.com (Playwright) — ya no es necesario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Base de datos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PostgreSQL 16 (hoy: SQLite validado)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ORM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SQLAlchemy 2.0 + asyncpg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APScheduler — cron jobs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72200" y="1097280"/>
          <a:ext cx="53949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5661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969" b="1" i="0">
                          <a:solidFill>
                            <a:srgbClr val="FFFFFF"/>
                          </a:solidFill>
                          <a:latin typeface="Calibri"/>
                        </a:rPr>
                        <a:t>FRONTEND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1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Framework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Next.js 14 (App Router)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Lenguaje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TypeScript 5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Estilos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Tailwind CSS 3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Componentes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shadcn/ui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Fetch / cache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SWR + React Query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Iconos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69" b="0" i="0">
                          <a:solidFill>
                            <a:srgbClr val="3A4458"/>
                          </a:solidFill>
                          <a:latin typeface="Calibri"/>
                        </a:rPr>
                        <a:t>Tabler Icons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30" b="1" i="0">
                <a:solidFill>
                  <a:srgbClr val="1A2744"/>
                </a:solidFill>
                <a:latin typeface="Calibri"/>
              </a:rPr>
              <a:t>Cambio clave vs. propuesta original: </a:t>
            </a:r>
            <a:r>
              <a:rPr sz="1030" b="0" i="0">
                <a:solidFill>
                  <a:srgbClr val="3A4458"/>
                </a:solidFill>
                <a:latin typeface="Calibri"/>
              </a:rPr>
              <a:t>se elimina la dependencia de scraping a Investing.com para los ratios — reduce riesgo legal y de mantenimiento, sin perder precisión (1,3% de divergencia validado).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Cobertura del Universo EDGAR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3A4458"/>
                </a:solidFill>
                <a:latin typeface="Calibri"/>
              </a:rPr>
              <a:t>De la base completa de SEC EDGAR al dataset listo para producción — sin scraping, 100% trazable.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45000" cy="105156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46304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3B82F6"/>
                </a:solidFill>
                <a:latin typeface="Calibri"/>
              </a:rPr>
              <a:t>8.021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Empresas con ticker en SEC EDGAR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37160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73552" y="1371600"/>
            <a:ext cx="45000" cy="105156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46304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5821F"/>
                </a:solidFill>
                <a:latin typeface="Calibri"/>
              </a:rPr>
              <a:t>100%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Cobertura del S&amp;P 500 (large caps, ~19 años de historia)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44184" y="137160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44184" y="1371600"/>
            <a:ext cx="45000" cy="105156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46304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43A047"/>
                </a:solidFill>
                <a:latin typeface="Calibri"/>
              </a:rPr>
              <a:t>553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Empresas con ratios calculados hoy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14816" y="1371600"/>
            <a:ext cx="26060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14816" y="1371600"/>
            <a:ext cx="45000" cy="105156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9408" y="1463040"/>
            <a:ext cx="23317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1A2744"/>
                </a:solidFill>
                <a:latin typeface="Calibri"/>
              </a:rPr>
              <a:t>429</a:t>
            </a:r>
          </a:p>
          <a:p>
            <a:pPr algn="l">
              <a:spcAft>
                <a:spcPts val="0"/>
              </a:spcAft>
            </a:pPr>
            <a:r>
              <a:rPr sz="869" b="0" i="0">
                <a:solidFill>
                  <a:srgbClr val="6B7589"/>
                </a:solidFill>
                <a:latin typeface="Calibri"/>
              </a:rPr>
              <a:t>Limpias (sin flags) listas para screening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69748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2744"/>
                </a:solidFill>
                <a:latin typeface="Calibri"/>
              </a:rPr>
              <a:t>Composición del dataset actual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306324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3017520"/>
                <a:gridCol w="3017520"/>
              </a:tblGrid>
              <a:tr h="335280"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Calibri"/>
                        </a:rPr>
                        <a:t>Segmento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Calibri"/>
                        </a:rPr>
                        <a:t>Taxonomía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FFFFF"/>
                          </a:solidFill>
                          <a:latin typeface="Calibri"/>
                        </a:rPr>
                        <a:t>Estado</a:t>
                      </a:r>
                    </a:p>
                  </a:txBody>
                  <a:tcPr marL="76200" marR="76200" marT="38100" marB="38100">
                    <a:solidFill>
                      <a:srgbClr val="1A2744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S&amp;P 500 (large caps USA)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us-gaap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100% cubierto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ADRs Argentina (GGAL, PAM, BMA, CRESY, YPF...)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ifrs-full + us-gaap mixto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Desbloqueado (fix IFRS)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ADRs Brasil (VALE, ABEV, ITUB, GGB...)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ifrs-full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Desbloqueado (fix IFRS)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ADRs LatAm resto (UGP, NU, LOMA...)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ifrs-full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43A047"/>
                          </a:solidFill>
                          <a:latin typeface="Calibri"/>
                        </a:rPr>
                        <a:t>✓ Desbloqueado (fix IFRS)</a:t>
                      </a:r>
                    </a:p>
                  </a:txBody>
                  <a:tcPr marL="76200" marR="76200" marT="25400" marB="25400">
                    <a:solidFill>
                      <a:srgbClr val="F5F8FD"/>
                    </a:solidFill>
                  </a:tcPr>
                </a:tc>
              </a:tr>
              <a:tr h="335280"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Cola larga USA (~7.458 restantes)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0" i="0">
                          <a:solidFill>
                            <a:srgbClr val="3A4458"/>
                          </a:solidFill>
                          <a:latin typeface="Calibri"/>
                        </a:rPr>
                        <a:t>us-gaap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19" b="1" i="0">
                          <a:solidFill>
                            <a:srgbClr val="F5821F"/>
                          </a:solidFill>
                          <a:latin typeface="Calibri"/>
                        </a:rPr>
                        <a:t>⚠ Pendiente (companyfacts.zip)</a:t>
                      </a:r>
                    </a:p>
                  </a:txBody>
                  <a:tcPr marL="76200" marR="762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2" name="Connector 21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Arquitectura del Pipeline — 5 Bloques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144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30" b="0" i="0">
                <a:solidFill>
                  <a:srgbClr val="3A4458"/>
                </a:solidFill>
                <a:latin typeface="Calibri"/>
              </a:rPr>
              <a:t>Cada bloque tiene input/output definido y se re-ejecuta de forma independiente. El raw cache de SEC se descarga una sola vez (lo caro es el rate limit, no el cómputo).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874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1 · Catálogo</a:t>
            </a:r>
          </a:p>
          <a:p>
            <a:pPr algn="l">
              <a:spcAft>
                <a:spcPts val="800"/>
              </a:spcAft>
            </a:pPr>
            <a:r>
              <a:rPr sz="800" b="0" i="1">
                <a:solidFill>
                  <a:srgbClr val="6B7589"/>
                </a:solidFill>
                <a:latin typeface="Calibri"/>
              </a:rPr>
              <a:t>construir_catalogo.py</a:t>
            </a:r>
          </a:p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8.021 empresas: ticker, CIK, sector, país, tamaño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0020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737360"/>
            <a:ext cx="1874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2 · Facts GAAP+IFRS</a:t>
            </a:r>
          </a:p>
          <a:p>
            <a:pPr algn="l">
              <a:spcAft>
                <a:spcPts val="800"/>
              </a:spcAft>
            </a:pPr>
            <a:r>
              <a:rPr sz="800" b="0" i="1">
                <a:solidFill>
                  <a:srgbClr val="6B7589"/>
                </a:solidFill>
                <a:latin typeface="Calibri"/>
              </a:rPr>
              <a:t>construir_base.py</a:t>
            </a:r>
          </a:p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Tags XBRL por empresa, series temporales, ambas taxonomías unificadas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160020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737360"/>
            <a:ext cx="1874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3 · Ratios</a:t>
            </a:r>
          </a:p>
          <a:p>
            <a:pPr algn="l">
              <a:spcAft>
                <a:spcPts val="800"/>
              </a:spcAft>
            </a:pPr>
            <a:r>
              <a:rPr sz="800" b="0" i="1">
                <a:solidFill>
                  <a:srgbClr val="6B7589"/>
                </a:solidFill>
                <a:latin typeface="Calibri"/>
              </a:rPr>
              <a:t>calcular_ratios_base.py</a:t>
            </a:r>
          </a:p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~28 ratios fundamentales: márgenes, ROE, deuda, FCF, CAGR 5y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160020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1737360"/>
            <a:ext cx="1874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4 · Valuación</a:t>
            </a:r>
          </a:p>
          <a:p>
            <a:pPr algn="l">
              <a:spcAft>
                <a:spcPts val="800"/>
              </a:spcAft>
            </a:pPr>
            <a:r>
              <a:rPr sz="800" b="0" i="1">
                <a:solidFill>
                  <a:srgbClr val="6B7589"/>
                </a:solidFill>
                <a:latin typeface="Calibri"/>
              </a:rPr>
              <a:t>precios_y_valuacion.py</a:t>
            </a:r>
          </a:p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PER, P/Book, EV/EBITDA con market cap (USD) + FX para IFRS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464040" y="1600200"/>
            <a:ext cx="2148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737360"/>
            <a:ext cx="1874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5 · Flags de calidad</a:t>
            </a:r>
          </a:p>
          <a:p>
            <a:pPr algn="l">
              <a:spcAft>
                <a:spcPts val="800"/>
              </a:spcAft>
            </a:pPr>
            <a:r>
              <a:rPr sz="800" b="0" i="1">
                <a:solidFill>
                  <a:srgbClr val="6B7589"/>
                </a:solidFill>
                <a:latin typeface="Calibri"/>
              </a:rPr>
              <a:t>flags_calidad.py</a:t>
            </a:r>
          </a:p>
          <a:p>
            <a:pPr algn="l">
              <a:spcAft>
                <a:spcPts val="4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ni_fy, roe_ns, fx, mktcap_rev — el cinturón de seguridad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9204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80" b="1" i="0">
                <a:solidFill>
                  <a:srgbClr val="1A2744"/>
                </a:solidFill>
                <a:latin typeface="Calibri"/>
              </a:rPr>
              <a:t>Principio de diseño: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el raw cache (data/raw/*.json) es la fuente de verdad — se baja una vez de SEC EDGAR y la base se reconstruye sin volver a tocar la red. Si cambia una fórmula, se recalcula en segundos, no en horas.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Equipo de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6576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2744"/>
                </a:solidFill>
                <a:latin typeface="Calibri"/>
              </a:rPr>
              <a:t>Mateo — Backend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Precios, financials y cálculo de ratios (ya validado)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Job 1A: yfinance → precios_raw (cron diario)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Pipeline EDGAR GAAP+IFRS, 35+ ratios, flags de calidad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Validación contra Investing (10 fixes, ver slide 3)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Endpoints GET precio/ratios + POST jobs, APScheduler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097280"/>
            <a:ext cx="36576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2744"/>
                </a:solidFill>
                <a:latin typeface="Calibri"/>
              </a:rPr>
              <a:t>Joaquín — Frontend A / Aldana — Frontend B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Screener: tabla 500+ empresas, columnas de ratios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Filtros min/max + filtro por flag de calidad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Sorting + paginación + exportar CSV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Panel de jobs con polling en tiempo real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Detalle de ticker: gauge PER + barra 52 semanas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1097280"/>
            <a:ext cx="365760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A2744"/>
                </a:solidFill>
                <a:latin typeface="Calibri"/>
              </a:rPr>
              <a:t>Federico — Arquitecto · Tech Lead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Diseño de arquitectura de 5 bloques + esquema de BD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Metodología de validación EDGAR vs. Investing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Decisiones técnicas: TTM rodante, fallback GAAP/IFRS, flags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Integración, code review y QA del equipo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969" b="0" i="0">
                <a:solidFill>
                  <a:srgbClr val="3A4458"/>
                </a:solidFill>
                <a:latin typeface="Calibri"/>
              </a:rPr>
              <a:t>Deploy y soporte correctivo post-entrega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Cronograma — 4 Semanas de Implementación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11155680" cy="777240"/>
          </a:xfrm>
          <a:prstGeom prst="rect">
            <a:avLst/>
          </a:prstGeom>
          <a:solidFill>
            <a:srgbClr val="E7F7EC"/>
          </a:solidFill>
          <a:ln w="9525">
            <a:solidFill>
              <a:srgbClr val="B7E3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60120"/>
            <a:ext cx="108813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 i="0">
                <a:solidFill>
                  <a:srgbClr val="156023"/>
                </a:solidFill>
                <a:latin typeface="Calibri"/>
              </a:rPr>
              <a:t>Fase 0 — Validación de datos: COMPLETADA </a:t>
            </a:r>
            <a:r>
              <a:rPr sz="1000" b="0" i="0">
                <a:solidFill>
                  <a:srgbClr val="1F6B35"/>
                </a:solidFill>
                <a:latin typeface="Calibri"/>
              </a:rPr>
              <a:t>antes de empezar a cobrar. 553 empresas, 10 bugs corregidos, validado contra Investing.com. El riesgo técnico más grande del proyecto ya está resuelto.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6596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4231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Semana 1</a:t>
            </a:r>
          </a:p>
          <a:p>
            <a:pPr algn="l">
              <a:spcAft>
                <a:spcPts val="800"/>
              </a:spcAft>
            </a:pPr>
            <a:r>
              <a:rPr sz="830" b="0" i="1">
                <a:solidFill>
                  <a:srgbClr val="6B7589"/>
                </a:solidFill>
                <a:latin typeface="Calibri"/>
              </a:rPr>
              <a:t>Fundamentos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Migración esquema BD a PostgreSQL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Endpoints base + cron jobs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Next.js + sidebar/topbar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96596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4231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Semana 2</a:t>
            </a:r>
          </a:p>
          <a:p>
            <a:pPr algn="l">
              <a:spcAft>
                <a:spcPts val="800"/>
              </a:spcAft>
            </a:pPr>
            <a:r>
              <a:rPr sz="830" b="0" i="1">
                <a:solidFill>
                  <a:srgbClr val="6B7589"/>
                </a:solidFill>
                <a:latin typeface="Calibri"/>
              </a:rPr>
              <a:t>Integración de datos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Servir las 553 empresas vía API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Tabla screener con filtros reales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Ruta de detalle por ticker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103120"/>
            <a:ext cx="24231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Semana 3</a:t>
            </a:r>
          </a:p>
          <a:p>
            <a:pPr algn="l">
              <a:spcAft>
                <a:spcPts val="800"/>
              </a:spcAft>
            </a:pPr>
            <a:r>
              <a:rPr sz="830" b="0" i="1">
                <a:solidFill>
                  <a:srgbClr val="6B7589"/>
                </a:solidFill>
                <a:latin typeface="Calibri"/>
              </a:rPr>
              <a:t>Funcionalidad completa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Filtros min/max + flags de calidad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Jobs de actualización automática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Panel de procesos visual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06840" y="196596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103120"/>
            <a:ext cx="242316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Semana 4</a:t>
            </a:r>
          </a:p>
          <a:p>
            <a:pPr algn="l">
              <a:spcAft>
                <a:spcPts val="800"/>
              </a:spcAft>
            </a:pPr>
            <a:r>
              <a:rPr sz="830" b="0" i="1">
                <a:solidFill>
                  <a:srgbClr val="6B7589"/>
                </a:solidFill>
                <a:latin typeface="Calibri"/>
              </a:rPr>
              <a:t>Integración + QA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Tests + manejo de errores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openapi.json documentado</a:t>
            </a:r>
          </a:p>
          <a:p>
            <a:pPr algn="l" marL="228600" indent="-228600">
              <a:spcAft>
                <a:spcPts val="500"/>
              </a:spcAft>
              <a:buClr>
                <a:srgbClr val="98A3B8"/>
              </a:buClr>
              <a:buFont typeface="Arial"/>
              <a:buChar char="•"/>
            </a:pPr>
            <a:r>
              <a:rPr sz="830" b="0" i="0">
                <a:solidFill>
                  <a:srgbClr val="3A4458"/>
                </a:solidFill>
                <a:latin typeface="Calibri"/>
              </a:rPr>
              <a:t>QA y entrega final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Inversión y Financiación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55680" cy="118872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43000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Inversión Total</a:t>
            </a:r>
          </a:p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USD 1.200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43000"/>
            <a:ext cx="6858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300"/>
              </a:spcAft>
            </a:pPr>
            <a:r>
              <a:rPr sz="950" b="0" i="0">
                <a:solidFill>
                  <a:srgbClr val="FFFFFF"/>
                </a:solidFill>
                <a:latin typeface="Calibri"/>
              </a:rPr>
              <a:t>Precio fijo por proyecto · Sin costos adicionales</a:t>
            </a:r>
          </a:p>
          <a:p>
            <a:pPr algn="r">
              <a:spcAft>
                <a:spcPts val="300"/>
              </a:spcAft>
            </a:pPr>
            <a:r>
              <a:rPr sz="900" b="0" i="0">
                <a:solidFill>
                  <a:srgbClr val="F5B97F"/>
                </a:solidFill>
                <a:latin typeface="Calibri"/>
              </a:rPr>
              <a:t>Incluye la validación de datos ya realizada (553 empresas) sin cargo extra</a:t>
            </a:r>
          </a:p>
          <a:p>
            <a:pPr algn="r">
              <a:spcAft>
                <a:spcPts val="400"/>
              </a:spcAft>
            </a:pPr>
            <a:r>
              <a:rPr sz="900" b="0" i="0">
                <a:solidFill>
                  <a:srgbClr val="F5B97F"/>
                </a:solidFill>
                <a:latin typeface="Calibri"/>
              </a:rPr>
              <a:t>Soporte correctivo opcional: 3-12 meses x USD 125/mes, o único pago USD 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2744"/>
                </a:solidFill>
                <a:latin typeface="Calibri"/>
              </a:rPr>
              <a:t>Opciones de pago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3611880" cy="5029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8892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Contado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9184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474720"/>
            <a:ext cx="3611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6B7589"/>
                </a:solidFill>
                <a:latin typeface="Calibri"/>
              </a:rPr>
              <a:t>Pago único al firmar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1700" b="1" i="0">
                <a:solidFill>
                  <a:srgbClr val="1A2744"/>
                </a:solidFill>
                <a:latin typeface="Calibri"/>
              </a:rPr>
              <a:t>USD 1.200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10% de descuento si se contrata hoy mismo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Inicio inmediato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2788920"/>
            <a:ext cx="3611880" cy="50292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9392" y="278892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Cuotas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9392" y="329184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9392" y="3474720"/>
            <a:ext cx="3611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6B7589"/>
                </a:solidFill>
                <a:latin typeface="Calibri"/>
              </a:rPr>
              <a:t>Sin interés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1700" b="1" i="0">
                <a:solidFill>
                  <a:srgbClr val="1A2744"/>
                </a:solidFill>
                <a:latin typeface="Calibri"/>
              </a:rPr>
              <a:t>USD 400 × 3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Cuota 1: al firmar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Cuota 2: a la entrega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Cuota 3: mes posterior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4" y="2788920"/>
            <a:ext cx="3611880" cy="5029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5864" y="2788920"/>
            <a:ext cx="36118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 Cuotas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55864" y="329184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55864" y="3474720"/>
            <a:ext cx="3611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6B7589"/>
                </a:solidFill>
                <a:latin typeface="Calibri"/>
              </a:rPr>
              <a:t>Con ajuste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1700" b="1" i="0">
                <a:solidFill>
                  <a:srgbClr val="1A2744"/>
                </a:solidFill>
                <a:latin typeface="Calibri"/>
              </a:rPr>
              <a:t>USD 250 × 6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Cuota 1: al firmar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Cuota 2: a la entrega</a:t>
            </a:r>
          </a:p>
          <a:p>
            <a:pPr algn="ctr">
              <a:spcAft>
                <a:spcPts val="300"/>
              </a:spcAft>
            </a:pPr>
            <a:r>
              <a:rPr sz="869" b="0" i="0">
                <a:solidFill>
                  <a:srgbClr val="3A4458"/>
                </a:solidFill>
                <a:latin typeface="Calibri"/>
              </a:rPr>
              <a:t>Cuotas 3-6: mensuales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0000" cy="685800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201168"/>
            <a:ext cx="1417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webshooks</a:t>
            </a:r>
            <a:r>
              <a:rPr sz="13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64592"/>
            <a:ext cx="90525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650" b="1" i="0">
                <a:solidFill>
                  <a:srgbClr val="FFFFFF"/>
                </a:solidFill>
                <a:latin typeface="Calibri"/>
              </a:rPr>
              <a:t>¿Cómo arrancamos?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9728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07008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01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Aprobación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A4458"/>
                </a:solidFill>
                <a:latin typeface="Calibri"/>
              </a:rPr>
              <a:t>Confirmar la propuesta y definir el plan de pago.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09728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07008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02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Primer pago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A4458"/>
                </a:solidFill>
                <a:latin typeface="Calibri"/>
              </a:rPr>
              <a:t>50% al inicio o primera cuota según el plan elegido.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09728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07008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03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Kickoff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A4458"/>
                </a:solidFill>
                <a:latin typeface="Calibri"/>
              </a:rPr>
              <a:t>1 hora con el equipo: revisión de las 553 empresas ya validadas + contrato de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06840" y="1097280"/>
            <a:ext cx="269748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2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207008"/>
            <a:ext cx="2423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04</a:t>
            </a:r>
          </a:p>
          <a:p>
            <a:pPr algn="l">
              <a:spcAft>
                <a:spcPts val="300"/>
              </a:spcAft>
            </a:pPr>
            <a:r>
              <a:rPr sz="1100" b="1" i="0">
                <a:solidFill>
                  <a:srgbClr val="1A2744"/>
                </a:solidFill>
                <a:latin typeface="Calibri"/>
              </a:rPr>
              <a:t>Entrega</a:t>
            </a:r>
          </a:p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3A4458"/>
                </a:solidFill>
                <a:latin typeface="Calibri"/>
              </a:rPr>
              <a:t>4 semanas de desarrollo + reportes semanales.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22960" y="3108960"/>
          <a:ext cx="10515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931920"/>
                <a:gridCol w="1554480"/>
                <a:gridCol w="347472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2744"/>
                          </a:solidFill>
                          <a:latin typeface="Calibri"/>
                        </a:rPr>
                        <a:t>Empresa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webshooks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2744"/>
                          </a:solidFill>
                          <a:latin typeface="Calibri"/>
                        </a:rPr>
                        <a:t>Inversión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USD 1.200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2744"/>
                          </a:solidFill>
                          <a:latin typeface="Calibri"/>
                        </a:rPr>
                        <a:t>Proyecto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Módulo CEDEARs + ADRs LatAm (datos ya validados)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2744"/>
                          </a:solidFill>
                          <a:latin typeface="Calibri"/>
                        </a:rPr>
                        <a:t>Duración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4 semanas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2744"/>
                          </a:solidFill>
                          <a:latin typeface="Calibri"/>
                        </a:rPr>
                        <a:t>Inicio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Inmediato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2744"/>
                          </a:solidFill>
                          <a:latin typeface="Calibri"/>
                        </a:rPr>
                        <a:t>Garantía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3A4458"/>
                          </a:solidFill>
                          <a:latin typeface="Calibri"/>
                        </a:rPr>
                        <a:t>30 días post-entrega</a:t>
                      </a:r>
                    </a:p>
                  </a:txBody>
                  <a:tcPr>
                    <a:solidFill>
                      <a:srgbClr val="F5F8FD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02920" y="4846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6B7589"/>
                </a:solidFill>
                <a:latin typeface="Calibri"/>
              </a:rPr>
              <a:t>Esta propuesta tiene validez de 30 días.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11480" y="6583680"/>
            <a:ext cx="11365992" cy="0"/>
          </a:xfrm>
          <a:prstGeom prst="line">
            <a:avLst/>
          </a:prstGeom>
          <a:ln w="9525">
            <a:solidFill>
              <a:srgbClr val="D9E2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1480" y="662025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620256"/>
            <a:ext cx="126187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850" b="0" i="0">
                <a:solidFill>
                  <a:srgbClr val="AAB4C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