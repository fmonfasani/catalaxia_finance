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  <a:r>
              <a:rPr sz="2000" b="1">
                <a:solidFill>
                  <a:srgbClr val="1A2744"/>
                </a:solidFill>
                <a:latin typeface="Calibri"/>
              </a:rPr>
              <a:t>shooks</a:t>
            </a:r>
            <a:r>
              <a:rPr sz="2000" b="1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4206240" cy="21031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11155680" cy="10058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Catalaxia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17520"/>
            <a:ext cx="1005840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600" b="0">
                <a:solidFill>
                  <a:srgbClr val="AECBFF"/>
                </a:solidFill>
                <a:latin typeface="Calibri"/>
              </a:rPr>
              <a:t>Demostración de resultados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94760"/>
            <a:ext cx="2011680" cy="4445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114800"/>
            <a:ext cx="10058400" cy="10972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B9C6DC"/>
                </a:solidFill>
                <a:latin typeface="Calibri"/>
              </a:rPr>
              <a:t>Plataforma de datos financieros trazables · SEC EDGAR · CNV · Market · TIKR</a:t>
            </a:r>
          </a:p>
          <a:p>
            <a:pPr algn="l"/>
            <a:r>
              <a:rPr sz="1400" b="0">
                <a:solidFill>
                  <a:srgbClr val="B9C6DC"/>
                </a:solidFill>
                <a:latin typeface="Calibri"/>
              </a:rPr>
              <a:t>Un sistema funcionando, medido y verificable — con resultados.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126480"/>
            <a:ext cx="100584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webshooks. · Septiembre 2026 · Documento presentado a Catalaxia — interno/confidencial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Qué demostramos con datos medidos, no con promesas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43A047"/>
                </a:solidFill>
                <a:latin typeface="Calibri"/>
              </a:rPr>
              <a:t>3 / 3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pipelines golden run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YPF · KO · METR — PASS_WITH_WARNINGS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A2744"/>
                </a:solidFill>
                <a:latin typeface="Calibri"/>
              </a:rPr>
              <a:t>0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errores de Catalaxia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en homologación TIKR (152 métricas)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3B82F6"/>
                </a:solidFill>
                <a:latin typeface="Calibri"/>
              </a:rPr>
              <a:t>51 / 152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métricas coinciden con TIKR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33,6% exactas o derivadas · gate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10881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3A4458"/>
                </a:solidFill>
                <a:latin typeface="Calibri"/>
              </a:rPr>
              <a:t>• El sistema corre E2E sobre las tres fuentes: SEC (YPF, KO) y CNV (METR), con reporte de golden run para cada una.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A4458"/>
                </a:solidFill>
                <a:latin typeface="Calibri"/>
              </a:rPr>
              <a:t>• La calidad se mide contra un proveedor externo pago (TIKR): cero errores propios; las diferencias se explican una por una.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A4458"/>
                </a:solidFill>
                <a:latin typeface="Calibri"/>
              </a:rPr>
              <a:t>• Cada número tiene una historia trazable: RAW → parsing → normalización → hecho económico → ratio → certificación.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A4458"/>
                </a:solidFill>
                <a:latin typeface="Calibri"/>
              </a:rPr>
              <a:t>• Operación protegida: producción aislada (5432 vs 5433), 241 corridas auditadas, 34 migraciones, 378 tests en verde.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QUÉ ES CATALAXIA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Propósito y diseño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3A4458"/>
                </a:solidFill>
                <a:latin typeface="Calibri"/>
              </a:rPr>
              <a:t>• Propósito: transformar evidencia financiera de múltiples fuentes en información económica de calidad, trazable y lista para decisiones.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A4458"/>
                </a:solidFill>
                <a:latin typeface="Calibri"/>
              </a:rPr>
              <a:t>• Fuentes: SEC / EDGAR (XBRL), CNV (estados contables HTML) y Market (precios, acciones corporativas, FX).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A4458"/>
                </a:solidFill>
                <a:latin typeface="Calibri"/>
              </a:rPr>
              <a:t>• Modelo: RAW → PARSED → NORMALIZED → Economic Facts → Financial Model → Ratios → Certificación.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A4458"/>
                </a:solidFill>
                <a:latin typeface="Calibri"/>
              </a:rPr>
              <a:t>• Principios rectores: trazabilidad completa, reproducibilidad, separación de dato reportado/derivado, calidad antes que cantidad, transparencia y auditabilidad.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A4458"/>
                </a:solidFill>
                <a:latin typeface="Calibri"/>
              </a:rPr>
              <a:t>• Gobernanza transversal: provenance, quality gates, certificación (PASS / PARTIAL / BLOCKED), logs y auditoría.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1208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43A047"/>
                </a:solidFill>
                <a:latin typeface="Calibri"/>
              </a:rPr>
              <a:t>ESTADO: OPERATIVO (parcial)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521208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5821F"/>
                </a:solidFill>
                <a:latin typeface="Calibri"/>
              </a:rPr>
              <a:t>4 CAPÍTULOS SIGUEN EN WORKTREE (D-1)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LOS TRES PILOTOS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Un piloto por fuente / régimen contable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560320"/>
                <a:gridCol w="2926080"/>
              </a:tblGrid>
              <a:tr h="4000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Piloto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Régimen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Estado de la corrida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YPF (CIK 0000904851)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SEC / EDGAR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IFRS + srt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PASS_WITH_WARNINGS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KO (CIK 0000021344)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SEC / EDGAR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US-GAAP puro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PASS_WITH_WARNINGS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METR (CUIT 30657863676)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CNV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EEFF HTML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PASS_WITH_WARNINGS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749039"/>
            <a:ext cx="10881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3A4458"/>
                </a:solidFill>
                <a:latin typeface="Calibri"/>
              </a:rPr>
              <a:t>• YPF: aprendizaje completo del camino SEC (7 gates).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4458"/>
                </a:solidFill>
                <a:latin typeface="Calibri"/>
              </a:rPr>
              <a:t>• KO: generaliza SEC a US-GAAP — falta corrida de certificación formal (implica C-3).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4458"/>
                </a:solidFill>
                <a:latin typeface="Calibri"/>
              </a:rPr>
              <a:t>• METR: generaliza la FUENTE (CNV); el tramo canónico del adaptador vive en el worktree (D-1).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GOLDEN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Corridas de referencia verificadas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51760"/>
                <a:gridCol w="3291840"/>
                <a:gridCol w="3017520"/>
              </a:tblGrid>
              <a:tr h="4000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Caso de referencia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Validador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YPF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SEC · IFRS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PASS_WITH_WARNINGS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golden run completo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KO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SEC · US-GAAP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PASS_WITH_WARNINGS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pendiente certificar (C-3)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METR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CNV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PASS_WITH_WARNINGS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458"/>
                          </a:solidFill>
                          <a:latin typeface="Calibri"/>
                        </a:rPr>
                        <a:t>golden run + demo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749039"/>
            <a:ext cx="10881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3A4458"/>
                </a:solidFill>
                <a:latin typeface="Calibri"/>
              </a:rPr>
              <a:t>• Definición: corrida completa del pipeline (fuente → publicación) con resultado verificado y auditable.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4458"/>
                </a:solidFill>
                <a:latin typeface="Calibri"/>
              </a:rPr>
              <a:t>• Cada golden run deja un reporte: conteos, gates, provenance y advertencias (GOLDEN_RUNS.md).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4458"/>
                </a:solidFill>
                <a:latin typeface="Calibri"/>
              </a:rPr>
              <a:t>• Uso operativo: la regla de operación es comparar toda corrida nueva contra su golden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HOMOLOGACIÓN TIKR · METR FY2025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Nuestros datos vs. un proveedor externo pago (152 métricas)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3760"/>
                <a:gridCol w="1828800"/>
                <a:gridCol w="2103120"/>
              </a:tblGrid>
              <a:tr h="3931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del universo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Coinciden exactas o por derivación (MATCH_EXACT / DERIVED / ROUNDING)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33,6%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Explicadas por definición o perimetría (DEFINITION / INPUT DIFFERENCE)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18,4%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Sin insumo en Catalaxia (CATALAXIA_MISSING_INPUT)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43,4%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Errores propios de formato/proceso (CATALAXIA_ERROR)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794760"/>
            <a:ext cx="10881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43A047"/>
                </a:solidFill>
                <a:latin typeface="Calibri"/>
              </a:rPr>
              <a:t>• Gate del proceso de homologación: PASS_WITH_WARNINGS.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4458"/>
                </a:solidFill>
                <a:latin typeface="Calibri"/>
              </a:rPr>
              <a:t>• Validación del perímetro: el INDIVIDUAL de METR = segmento “MetroGAS Distribution”.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4458"/>
                </a:solidFill>
                <a:latin typeface="Calibri"/>
              </a:rPr>
              <a:t>• Ejemplos: NetIncome −1.827 exacto; Total Debt difiere (cuenta + provisión, factor IAS 29 1.3155); Operating Income reclasifica 7.728.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4458"/>
                </a:solidFill>
                <a:latin typeface="Calibri"/>
              </a:rPr>
              <a:t>• Qué significa: falta insumo, no calidad. Las 66 métricas sin insumo son inputs no cargados aún — mejora por datos, no por corrección.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TRAZABILIDAD DE UN NÚMERO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Cada número tiene una historia — y podemos explicarla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8483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821F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9696" y="18288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7016" y="208483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821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18288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NORMALIZED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93792" y="208483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821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8288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ECON. FACTS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30568" y="208483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821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0024" y="18288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FIN.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208483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821F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8288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RATIOS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208483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821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23576" y="18288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CERTIFY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08960"/>
            <a:ext cx="10881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3A4458"/>
                </a:solidFill>
                <a:latin typeface="Calibri"/>
              </a:rPr>
              <a:t>• P/E de KO (ejemplo): Price (Market) ÷ EPS — EPS = Net Income (XBRL, 10-K/SEC) ÷ Shares.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A4458"/>
                </a:solidFill>
                <a:latin typeface="Calibri"/>
              </a:rPr>
              <a:t>• El rastro queda en provenance: origen, transformación, reglas aplicadas, hash por etapa.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A4458"/>
                </a:solidFill>
                <a:latin typeface="Calibri"/>
              </a:rPr>
              <a:t>• Certificación: estado PASS con evidencia; la corrida puede reproducirse y compararse contra el golden run.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SALUD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Datos de operación y pruebas, tomados del estado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A2744"/>
                </a:solidFill>
                <a:latin typeface="Calibri"/>
              </a:rPr>
              <a:t>34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migraciones aplicadas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00→033 en repo · 034–036 en worktree D-1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3B82F6"/>
                </a:solidFill>
                <a:latin typeface="Calibri"/>
              </a:rPr>
              <a:t>378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tests en verde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3 fallas pre-existentes (F-038) · 1 skip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43A047"/>
                </a:solidFill>
                <a:latin typeface="Calibri"/>
              </a:rPr>
              <a:t>241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corridas auditadas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OK 61 · ABORTED 132 · BLOCKED 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A2744"/>
                </a:solidFill>
                <a:latin typeface="Calibri"/>
              </a:rPr>
              <a:t>4,8M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precios de mercado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584 instrumentos · 8.322 filas de calidad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47472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3B82F6"/>
                </a:solidFill>
                <a:latin typeface="Calibri"/>
              </a:rPr>
              <a:t>51.917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acciones corporativas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601 filas de fetch auditadas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7472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43A047"/>
                </a:solidFill>
                <a:latin typeface="Calibri"/>
              </a:rPr>
              <a:t>5432</a:t>
            </a:r>
          </a:p>
          <a:p>
            <a:r>
              <a:rPr sz="1100">
                <a:solidFill>
                  <a:srgbClr val="6B7589"/>
                </a:solidFill>
                <a:latin typeface="Calibri"/>
              </a:rPr>
              <a:t>producción aislada</a:t>
            </a:r>
          </a:p>
          <a:p>
            <a:r>
              <a:rPr sz="1000">
                <a:solidFill>
                  <a:srgbClr val="6B7589"/>
                </a:solidFill>
                <a:latin typeface="Calibri"/>
              </a:rPr>
              <a:t>guard EXT-010: bloquea escritura sin permiso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9052560" cy="5486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Transparentes y priorizados — para llegar a cobertura completa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309360"/>
                <a:gridCol w="3383280"/>
              </a:tblGrid>
              <a:tr h="3931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Trabajo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desbloquea</a:t>
                      </a:r>
                    </a:p>
                  </a:txBody>
                  <a:tcPr marL="45720" marR="45720" marT="18288" marB="18288" anchor="ctr">
                    <a:solidFill>
                      <a:srgbClr val="1A274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Idempotencia de S00/S02 + is_custom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Corridas estables sin dobles conteos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Tramo canónico de CNV (adaptador)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METR completo y certificable (D-1)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Homologación TIKR → cobertura de inputs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Subir coincidencia 33,6% → 80%+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Certificación formal de KO (C-3) y Market E2E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458"/>
                          </a:solidFill>
                          <a:latin typeface="Calibri"/>
                        </a:rPr>
                        <a:t>Completar los tres pilotos</a:t>
                      </a:r>
                    </a:p>
                  </a:txBody>
                  <a:tcPr marL="45720" marR="45720" marT="18288" marB="18288" anchor="ctr"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749039"/>
            <a:ext cx="10881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3A4458"/>
                </a:solidFill>
                <a:latin typeface="Calibri"/>
              </a:rPr>
              <a:t>• Decisiones abiertas a validar con el cliente: D-1 (repo vs worktree), D-2, D-3, D-4.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4458"/>
                </a:solidFill>
                <a:latin typeface="Calibri"/>
              </a:rPr>
              <a:t>• El manual operativo v2.0 documenta todo: 21 partes, 40 figuras, plantillas de diagramas.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B7589"/>
                </a:solidFill>
                <a:latin typeface="Calibri"/>
              </a:rPr>
              <a:t>webshooks.com</a:t>
            </a:r>
            <a:r>
              <a:rPr sz="850">
                <a:solidFill>
                  <a:srgbClr val="6B7589"/>
                </a:solidFill>
                <a:latin typeface="Calibri"/>
              </a:rPr>
              <a:t>										 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19088"/>
            <a:ext cx="11155680" cy="9525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  <a:r>
              <a:rPr sz="2000" b="1">
                <a:solidFill>
                  <a:srgbClr val="1A2744"/>
                </a:solidFill>
                <a:latin typeface="Calibri"/>
              </a:rPr>
              <a:t>shooks</a:t>
            </a:r>
            <a:r>
              <a:rPr sz="2000" b="1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11155680" cy="9144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 sistema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43200"/>
            <a:ext cx="2011680" cy="4445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017520"/>
            <a:ext cx="10972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Tres pilotos E2E sobre las dos fuentes reales (SEC y CNV), con golden runs y reportes.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Calidad contrastada contra TIKR con cero errores propios.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Trazabilidad de cada número desde el documento original hasta el ratio publicado.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20640"/>
            <a:ext cx="10972800" cy="7315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AECBFF"/>
                </a:solidFill>
                <a:latin typeface="Calibri"/>
              </a:rPr>
              <a:t>Siguiente paso propuesto: aprobar prioridades P0/P1 y habilitar el tramo canónico de CNV.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17920"/>
            <a:ext cx="100584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6B7589"/>
                </a:solidFill>
                <a:latin typeface="Calibri"/>
              </a:rPr>
              <a:t>webshooks. · Septiembre 2026 · Para Catalaxia — interno/confidencial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