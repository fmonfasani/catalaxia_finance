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Smith/Ricardo/Marshall describen un mundo de rendimientos decrecientes por escasez de factores. Romer (1990) endogeniza el conocimiento como bien no-rival; Arthur (1994) muestra que en tecnología dominan los rendimientos crecientes. La tesis: el software pertenece a la segunda física, y confundir las dos es el error estratégico raíz.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 neoclásica: función de producción cóncava. Solow la usa para explicar por qué el capital solo no sostiene crecimiento. El punto pedagógico: es el mundo 'normal', y el software es la excepción — pero solo si se diseña para serlo.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benchmark contra el cual se miden los otros dos regímenes. Útil para que los ingenieros distingan 'negocio que usa software' de 'negocio de software'.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Arthur, junto al Santa Fe Institute, formalizó los increasing returns con procesos de Pólya (path dependence). Ideas clave: lock-in, small events, multiple equilibria. Es la teoría #1 porque explica el 'winner-take-most' de casi todo el sector.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Marshall (1890) es la raíz. Importante diferenciar economías de escala (mismo producto, más volumen) de rendimientos crecientes de Arthur (feedback de demanda). Muchos las confunden.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Panzar &amp; Willig (1981) formalizan subadditividad de costos. En tech, la 'plataforma interna' es la fuente moderna de economías de alcance; explica los conglomerados digitales.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Information Rules es el puente entre la teoría económica y la estrategia práctica de pricing. La era de la IA obliga a revisar el supuesto de marginal cero: es el gran cambio 2023+.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Samuelson (1954) define bienes públicos por no-rivalidad + no-exclusión. Romer toma la dimensión de rivalidad y la separa de la exclusión, y ahí está su gran aporte.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corazón del Nobel de Romer (2018). No-rivalidad ⇒ no-convexidad ⇒ imposible competencia perfecta ⇒ competencia monopolística e I+D intencional. Todo el resto de la charla se apoya acá.</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Excluibilidad parcial es la pieza que faltaba: sin algo de exclusión, nadie invierte; con demasiada, se frena la difusión. La política de IP y el diseño de producto son la misma decisión.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Punto de contraste: es el único capital que la contabilidad tradicional captura bien. Los cuatro siguientes son intangibles y por eso subvaluados — la clave de Brynjolfsson.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Brynjolfsson insiste en que el capital intangible (intelectual, organizacional, de datos) está masivamente sub-medido por el PIB y la contabilidad, lo que distorsiona cómo entendemos la economía digital.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software es el único capital que un ingeniero crea directamente. Verlo como 'activo que compone' (no como 'tarea que se cierra') es el cambio mental central de la charla para builders.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Enlaza con Data Network Effects (concepto 36). El punto crítico: el capital de datos requiere DECISIÓN de arquitectura (capturar, versionar) o no se acumula. Es el más fácil de perder por negligencia técnica.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Brynjolfsson &amp; McAfee: el 'productivity paradox' se explica porque el capital organizacional tarda años en ajustarse a la nueva tecnología. Es el complemento invisible que decide si la inversión en tech rinde.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Romer (1990) 'Endogenous Technological Change', JPE. La tasa de crecimiento depende del stock de capital humano en investigación, NO del tamaño de la población. Nobel 2018 (con Nordhaus).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Enlaza con spillovers (18) y combinatoria (19). La 'productividad del investigador crece con el stock A de conocimiento' es un supuesto central del modelo de Romer.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Marshall ya hablaba de 'secrets of the trade are in the air' en los distritos industriales. Romer lo formaliza. Tensión clave: spillover social bueno, pero reduce incentivo privado ⇒ rol del Estado en I+D básica.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Arthur, 'The Nature of Technology' (2009). La combinatoria explica por qué la innovación se acelera: es un proceso auto-catalítico. Brynjolfsson la señala como una de las 3 propiedades del progreso digital (exponencial, digital, combinatorio).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Arthur y David (QWERTY) formalizaron path dependence contra la ortodoxia de 'mercados siempre eligen lo óptimo'. Implica multiple equilibria, lock-in, y no-ergodicidad: el pasado no se borra.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Distinción ética clave: lock-in por valor (el producto es mejor cuanto más lo usás) vs lock-in por rehén (te cuesta salir aunque el producto sea malo). El primero es defendible; el segundo atrae reguladores.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Shapiro-Varian dan el marco cuantitativo del lock-in. Para un fundador: el switching cost es la variable que convierte adquisición en LTV. Diseñarlo es diseñar el negocio.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Katz &amp; Shapiro (1985), Arthur (1989). Distinguir de escala: la escala baja tu costo; la red sube el valor para el usuario. Los efectos de red producen winner-take-most (24) y tipping.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Bezos lo dibujó en una servilleta; Collins lo teorizó en 'Good to Great'. Es la versión operativa y dibujable de los rendimientos crecientes de Arthur: la herramienta para que un equipo de producto ejecute la teoría.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Arthur (increasing returns) + Frank &amp; Cook (1995). No todos los mercados son winner-take-all: los fragmentados (restaurantes) no. La pregunta estratégica: ¿mi mercado tiende a concentrarse? Si sí, hay que ir por el trono.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Thiel 'Zero to One' + Schumpeter (monopolio temporal como premio y motor de innovación). Tensión con antitrust: el monopolio innovador schumpeteriano vs el monopolio rentista que ahoga. La regulación intenta distinguirlos.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Parker, Van Alstyne, Choudary (2016). 'La empresa se voltea': el valor se crea afuera. Gestión de externalidades y gobernanza reemplazan a la gestión de la cadena de producción. Es el modelo dominante de las empresas más valiosas.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Mercado Libre como caso LatAm: marketplace + pagos (Mercado Pago) + logística + crédito. Muestra economías de alcance (concepto 6) sobre la base del marketplace. El take rate sobre red que crece = rendimientos crecientes.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memo de Bezos convirtió Amazon en plataforma y habilitó AWS. La API es simultáneamente arquitectura (Conway), distribución (self-serve) y moat (integración = switching cost). Es el ejemplo perfecto de 'decisión técnica = ventaja económica'.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Moore 'The Death of Competition' (1996), Iansiti &amp; Levien 'The Keystone Advantage'. El ecosistema es la capa donde economías de alcance (6), plataformas (27) y lock-in (21) se combinan en el moat más duradero.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Benkler (2006) da la teoría social; la práctica es Shapiro-Varian: 'comoditizá tu complemento'. Open source es el caso más puro de bien no-rival (Romer) y de spillovers deliberados. Riesgo: hyperscalers capturando el valor del OSS que otros mantienen.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Coase (1937) 'The Nature of the Firm': los límites de la empresa dependen de costos de transacción. La nube y las APIs los desploman → empresas más chicas y especializadas hacen más (Benkler, combinatoria). AWS transformó a Amazon en la empresa de infraestructura del planeta.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SaaS es la encarnación práctica de casi toda la teoría previa: costo marginal ~0 (7), escala (5), lock-in por datos (21), y NRR como flywheel de ingresos. El giro de Adobe a suscripción es el caso de estudio de creación de valor.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IA generativa rompe el supuesto de costo marginal cero de Shapiro-Varian: cada inferencia consume GPU. Esto reordena la estrategia de pricing y hace que la eficiencia de inferencia sea ventaja competitiva.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Bommasani et al. (Stanford, 2021) acuñan 'foundation models'. Sutton 'The Bitter Lesson' (2019) es la guía filosófica: apostá a escala y aprendizaje general, no a reglas hechas a mano. Explica por qué los labs con más computo lideran.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Matiz crítico (y honesto): muchos 'data network effects' son débiles o saturan. El moat real requiere que (a) el dato sea propietario, (b) realimente calidad, (c) no se sature rápido. Enlaza con capital de datos (14).</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Huang (Nvidia), Altman (OpenAI), Brynjolfsson (productividad de la IA). Paradoja de Jevons: al abaratar la cognición, su consumo total explota. Conecta con el mensaje central: estamos en el mejor momento de la historia para construir.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Schumpeter (1942). El emprendedor como agente de 'nuevas combinaciones' (enlaza con Arthur, combinatoria). Ironía schumpeteriana: el capitalismo se socava por su propio éxito. La destrucción creativa es la fuerza que da urgencia a toda la charla.</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Christensen (1997). Distinción clave: innovación sostenedora (mejora para el cliente actual) vs disruptiva (nuevo mercado o low-end). El dilema es que la buena gestión del presente impide la supervivencia futura. Contrapunto: Thiel dice 'no seas disruptivo, sé monopólico'.</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Matiz honesto: la evidencia sobre first-mover advantage es mixta (Lieberman &amp; Montgomery). Solo domina cuando se combina con rendimientos crecientes (Arthur). Hoffman lo reformula como 'first-scaler advantage': la escala, no la fecha, es lo que bloquea el mercado.</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Hoffman &amp; Yeh (2018). Blitzscaling es la aplicación operativa de Arthur (increasing returns) + winner-take-most (25) + first-scaler (40). Es arriesgado y contextual: la mayoría de las startups NO deberían blitzscalear. Requiere capital de riesgo abundante.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Síntesis de la charla: los moats de Thiel se mapean 1:1 a los conceptos previos (red=23, escala=5, tecnología=capital intelectual=12, marca). Un moat es un rendimiento creciente institucionalizado. El buen roadmap = ahondar moats.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Puente de Porter (ventaja competitiva estática) a la visión dinámica de Arthur (rendimientos crecientes) y al compounding stack (Acto VII). La pregunta del builder: ¿mi ventaja de hoy será más grande o más chica en 3 años sin esfuerzo extra?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 del compounding stack. El valor de 'Compound knowledge (conocimiento)' no está en el artefacto, sino en cómo se acumula con el uso y el tiempo. Cada capa habilita la de arriba.</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 del compounding stack. El valor de 'Compound software (código)' no está en el artefacto, sino en cómo se acumula con el uso y el tiempo. Cada capa habilita la de arriba.</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 del compounding stack. El valor de 'Compound data (datos)' no está en el artefacto, sino en cómo se acumula con el uso y el tiempo. Cada capa habilita la de arriba.</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 del compounding stack. El valor de 'Compound organization (organización)' no está en el artefacto, sino en cómo se acumula con el uso y el tiempo. Cada capa habilita la de arriba.</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 del compounding stack. El valor de 'Compound distribution (distribución)' no está en el artefacto, sino en cómo se acumula con el uso y el tiempo. Cada capa habilita la de arriba.</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 del compounding stack. El valor de 'Compound ecosystem (ecosistema)' no está en el artefacto, sino en cómo se acumula con el uso y el tiempo. Cada capa habilita la de arriba.</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de la síntesis. Advertencia de honestidad: la teoría explica PARTE del éxito; ejecución, timing, capital, regulación y suerte (Taleb) explican el resto. No hay fórmula garantizada — pero entender la física mejora radicalmente las probabilidades.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0" cy="5143500"/>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840480" cy="82296"/>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iamond 4"/>
          <p:cNvSpPr/>
          <p:nvPr/>
        </p:nvSpPr>
        <p:spPr>
          <a:xfrm>
            <a:off x="347472" y="329184"/>
            <a:ext cx="146304" cy="146304"/>
          </a:xfrm>
          <a:prstGeom prst="diamond">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74320"/>
            <a:ext cx="3108960" cy="36576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2000" b="1" i="0">
                <a:solidFill>
                  <a:srgbClr val="FFFFFF"/>
                </a:solidFill>
                <a:latin typeface="Calibri"/>
              </a:rPr>
              <a:t>masterclass.</a:t>
            </a:r>
          </a:p>
        </p:txBody>
      </p:sp>
      <p:sp>
        <p:nvSpPr>
          <p:cNvPr id="7" name="TextBox 6"/>
          <p:cNvSpPr txBox="1"/>
          <p:nvPr/>
        </p:nvSpPr>
        <p:spPr>
          <a:xfrm>
            <a:off x="365760" y="749808"/>
            <a:ext cx="3291840" cy="27432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00" b="0" i="0">
                <a:solidFill>
                  <a:srgbClr val="4A9EFF"/>
                </a:solidFill>
                <a:latin typeface="Calibri"/>
              </a:rPr>
              <a:t>Economía · Software · IA · Plataformas</a:t>
            </a:r>
          </a:p>
        </p:txBody>
      </p:sp>
      <p:sp>
        <p:nvSpPr>
          <p:cNvPr id="8" name="Rectangle 7"/>
          <p:cNvSpPr/>
          <p:nvPr/>
        </p:nvSpPr>
        <p:spPr>
          <a:xfrm>
            <a:off x="365760" y="1188720"/>
            <a:ext cx="2194560" cy="27432"/>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417320"/>
            <a:ext cx="3291840" cy="1463040"/>
          </a:xfrm>
          <a:prstGeom prst="rect">
            <a:avLst/>
          </a:prstGeom>
          <a:noFill/>
        </p:spPr>
        <p:txBody>
          <a:bodyPr wrap="square" anchor="t" lIns="12700" rIns="12700" tIns="12700" bIns="12700">
            <a:spAutoFit/>
          </a:bodyPr>
          <a:lstStyle/>
          <a:p>
            <a:pPr algn="l">
              <a:lnSpc>
                <a:spcPct val="102000"/>
              </a:lnSpc>
              <a:spcBef>
                <a:spcPts val="0"/>
              </a:spcBef>
              <a:spcAft>
                <a:spcPts val="200"/>
              </a:spcAft>
            </a:pPr>
            <a:r>
              <a:rPr sz="3000" b="1" i="0">
                <a:solidFill>
                  <a:srgbClr val="FFFFFF"/>
                </a:solidFill>
                <a:latin typeface="Calibri"/>
              </a:rPr>
              <a:t>Economía del Software</a:t>
            </a:r>
          </a:p>
        </p:txBody>
      </p:sp>
      <p:sp>
        <p:nvSpPr>
          <p:cNvPr id="10" name="TextBox 9"/>
          <p:cNvSpPr txBox="1"/>
          <p:nvPr/>
        </p:nvSpPr>
        <p:spPr>
          <a:xfrm>
            <a:off x="365760" y="2880360"/>
            <a:ext cx="3291840" cy="822960"/>
          </a:xfrm>
          <a:prstGeom prst="rect">
            <a:avLst/>
          </a:prstGeom>
          <a:noFill/>
        </p:spPr>
        <p:txBody>
          <a:bodyPr wrap="square" anchor="t" lIns="12700" rIns="12700" tIns="12700" bIns="12700">
            <a:spAutoFit/>
          </a:bodyPr>
          <a:lstStyle/>
          <a:p>
            <a:pPr algn="l">
              <a:lnSpc>
                <a:spcPct val="105000"/>
              </a:lnSpc>
              <a:spcBef>
                <a:spcPts val="0"/>
              </a:spcBef>
              <a:spcAft>
                <a:spcPts val="200"/>
              </a:spcAft>
            </a:pPr>
            <a:r>
              <a:rPr sz="1250" b="0" i="0">
                <a:solidFill>
                  <a:srgbClr val="B0BEC5"/>
                </a:solidFill>
                <a:latin typeface="Calibri"/>
              </a:rPr>
              <a:t>Por qué el código puede producir valor exponencial — y cómo se construye.</a:t>
            </a:r>
          </a:p>
        </p:txBody>
      </p:sp>
      <p:sp>
        <p:nvSpPr>
          <p:cNvPr id="11" name="Rectangle 10"/>
          <p:cNvSpPr/>
          <p:nvPr/>
        </p:nvSpPr>
        <p:spPr>
          <a:xfrm>
            <a:off x="365760" y="3767328"/>
            <a:ext cx="3108960" cy="10972"/>
          </a:xfrm>
          <a:prstGeom prst="rect">
            <a:avLst/>
          </a:prstGeom>
          <a:solidFill>
            <a:srgbClr val="2A4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3858768"/>
            <a:ext cx="3383280" cy="27432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00" b="0" i="0">
                <a:solidFill>
                  <a:srgbClr val="B0BEC5"/>
                </a:solidFill>
                <a:latin typeface="Calibri"/>
              </a:rPr>
              <a:t>Autoría  </a:t>
            </a:r>
            <a:r>
              <a:rPr sz="1000" b="1" i="0">
                <a:solidFill>
                  <a:srgbClr val="FFFFFF"/>
                </a:solidFill>
                <a:latin typeface="Calibri"/>
              </a:rPr>
              <a:t>Federico Monfasani</a:t>
            </a:r>
          </a:p>
        </p:txBody>
      </p:sp>
      <p:sp>
        <p:nvSpPr>
          <p:cNvPr id="13" name="TextBox 12"/>
          <p:cNvSpPr txBox="1"/>
          <p:nvPr/>
        </p:nvSpPr>
        <p:spPr>
          <a:xfrm>
            <a:off x="365760" y="4151376"/>
            <a:ext cx="3383280" cy="27432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00" b="0" i="0">
                <a:solidFill>
                  <a:srgbClr val="B0BEC5"/>
                </a:solidFill>
                <a:latin typeface="Calibri"/>
              </a:rPr>
              <a:t>Fecha  </a:t>
            </a:r>
            <a:r>
              <a:rPr sz="1000" b="1" i="0">
                <a:solidFill>
                  <a:srgbClr val="FFFFFF"/>
                </a:solidFill>
                <a:latin typeface="Calibri"/>
              </a:rPr>
              <a:t>2026</a:t>
            </a:r>
          </a:p>
        </p:txBody>
      </p:sp>
      <p:sp>
        <p:nvSpPr>
          <p:cNvPr id="14" name="TextBox 13"/>
          <p:cNvSpPr txBox="1"/>
          <p:nvPr/>
        </p:nvSpPr>
        <p:spPr>
          <a:xfrm>
            <a:off x="4160520" y="777240"/>
            <a:ext cx="4709160" cy="82296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2500" b="1" i="0">
                <a:solidFill>
                  <a:srgbClr val="1A2B4A"/>
                </a:solidFill>
                <a:latin typeface="Calibri"/>
              </a:rPr>
              <a:t>El código no es código.
Es capital que compone.</a:t>
            </a:r>
          </a:p>
        </p:txBody>
      </p:sp>
      <p:sp>
        <p:nvSpPr>
          <p:cNvPr id="15" name="Rectangle 14"/>
          <p:cNvSpPr/>
          <p:nvPr/>
        </p:nvSpPr>
        <p:spPr>
          <a:xfrm>
            <a:off x="4206240" y="2286000"/>
            <a:ext cx="4480560" cy="27432"/>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60520" y="2468880"/>
            <a:ext cx="4663440" cy="1097280"/>
          </a:xfrm>
          <a:prstGeom prst="rect">
            <a:avLst/>
          </a:prstGeom>
          <a:noFill/>
        </p:spPr>
        <p:txBody>
          <a:bodyPr wrap="square" anchor="t" lIns="12700" rIns="12700" tIns="12700" bIns="12700">
            <a:spAutoFit/>
          </a:bodyPr>
          <a:lstStyle/>
          <a:p>
            <a:pPr algn="l">
              <a:lnSpc>
                <a:spcPct val="115000"/>
              </a:lnSpc>
              <a:spcBef>
                <a:spcPts val="0"/>
              </a:spcBef>
              <a:spcAft>
                <a:spcPts val="200"/>
              </a:spcAft>
            </a:pPr>
            <a:r>
              <a:rPr sz="1300" b="0" i="0">
                <a:solidFill>
                  <a:srgbClr val="6B7A8D"/>
                </a:solidFill>
                <a:latin typeface="Calibri"/>
              </a:rPr>
              <a:t>De Arthur y Romer a la era de la IA: una física económica para ingenieros que quieren construir empresas capaces de cambiar industrias enteras.</a:t>
            </a:r>
          </a:p>
        </p:txBody>
      </p:sp>
      <p:sp>
        <p:nvSpPr>
          <p:cNvPr id="17" name="Rounded Rectangle 16"/>
          <p:cNvSpPr/>
          <p:nvPr/>
        </p:nvSpPr>
        <p:spPr>
          <a:xfrm>
            <a:off x="4206240" y="4160520"/>
            <a:ext cx="1834286" cy="274320"/>
          </a:xfrm>
          <a:prstGeom prst="roundRect">
            <a:avLst>
              <a:gd name="adj" fmla="val 50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06240" y="4187952"/>
            <a:ext cx="1834286" cy="219456"/>
          </a:xfrm>
          <a:prstGeom prst="rect">
            <a:avLst/>
          </a:prstGeom>
          <a:noFill/>
        </p:spPr>
        <p:txBody>
          <a:bodyPr wrap="square" anchor="ctr" lIns="12700" rIns="12700" tIns="12700" bIns="12700">
            <a:spAutoFit/>
          </a:bodyPr>
          <a:lstStyle/>
          <a:p>
            <a:pPr algn="ctr">
              <a:lnSpc>
                <a:spcPct val="100000"/>
              </a:lnSpc>
              <a:spcBef>
                <a:spcPts val="0"/>
              </a:spcBef>
              <a:spcAft>
                <a:spcPts val="200"/>
              </a:spcAft>
            </a:pPr>
            <a:r>
              <a:rPr sz="850" b="1" i="0">
                <a:solidFill>
                  <a:srgbClr val="4A9EFF"/>
                </a:solidFill>
                <a:latin typeface="Calibri"/>
              </a:rPr>
              <a:t>Rendimientos crecientes</a:t>
            </a:r>
          </a:p>
        </p:txBody>
      </p:sp>
      <p:sp>
        <p:nvSpPr>
          <p:cNvPr id="19" name="Rounded Rectangle 18"/>
          <p:cNvSpPr/>
          <p:nvPr/>
        </p:nvSpPr>
        <p:spPr>
          <a:xfrm>
            <a:off x="6150254" y="4160520"/>
            <a:ext cx="1110081" cy="274320"/>
          </a:xfrm>
          <a:prstGeom prst="roundRect">
            <a:avLst>
              <a:gd name="adj" fmla="val 50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50254" y="4187952"/>
            <a:ext cx="1110081" cy="219456"/>
          </a:xfrm>
          <a:prstGeom prst="rect">
            <a:avLst/>
          </a:prstGeom>
          <a:noFill/>
        </p:spPr>
        <p:txBody>
          <a:bodyPr wrap="square" anchor="ctr" lIns="12700" rIns="12700" tIns="12700" bIns="12700">
            <a:spAutoFit/>
          </a:bodyPr>
          <a:lstStyle/>
          <a:p>
            <a:pPr algn="ctr">
              <a:lnSpc>
                <a:spcPct val="100000"/>
              </a:lnSpc>
              <a:spcBef>
                <a:spcPts val="0"/>
              </a:spcBef>
              <a:spcAft>
                <a:spcPts val="200"/>
              </a:spcAft>
            </a:pPr>
            <a:r>
              <a:rPr sz="850" b="1" i="0">
                <a:solidFill>
                  <a:srgbClr val="FF8C42"/>
                </a:solidFill>
                <a:latin typeface="Calibri"/>
              </a:rPr>
              <a:t>No-rivalidad</a:t>
            </a:r>
          </a:p>
        </p:txBody>
      </p:sp>
      <p:sp>
        <p:nvSpPr>
          <p:cNvPr id="21" name="Rounded Rectangle 20"/>
          <p:cNvSpPr/>
          <p:nvPr/>
        </p:nvSpPr>
        <p:spPr>
          <a:xfrm>
            <a:off x="7370063" y="4160520"/>
            <a:ext cx="1307591" cy="274320"/>
          </a:xfrm>
          <a:prstGeom prst="roundRect">
            <a:avLst>
              <a:gd name="adj" fmla="val 50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70063" y="4187952"/>
            <a:ext cx="1307591" cy="219456"/>
          </a:xfrm>
          <a:prstGeom prst="rect">
            <a:avLst/>
          </a:prstGeom>
          <a:noFill/>
        </p:spPr>
        <p:txBody>
          <a:bodyPr wrap="square" anchor="ctr" lIns="12700" rIns="12700" tIns="12700" bIns="12700">
            <a:spAutoFit/>
          </a:bodyPr>
          <a:lstStyle/>
          <a:p>
            <a:pPr algn="ctr">
              <a:lnSpc>
                <a:spcPct val="100000"/>
              </a:lnSpc>
              <a:spcBef>
                <a:spcPts val="0"/>
              </a:spcBef>
              <a:spcAft>
                <a:spcPts val="200"/>
              </a:spcAft>
            </a:pPr>
            <a:r>
              <a:rPr sz="850" b="1" i="0">
                <a:solidFill>
                  <a:srgbClr val="4CAF50"/>
                </a:solidFill>
                <a:latin typeface="Calibri"/>
              </a:rPr>
              <a:t>Network effects</a:t>
            </a:r>
          </a:p>
        </p:txBody>
      </p:sp>
      <p:sp>
        <p:nvSpPr>
          <p:cNvPr id="23" name="Rounded Rectangle 22"/>
          <p:cNvSpPr/>
          <p:nvPr/>
        </p:nvSpPr>
        <p:spPr>
          <a:xfrm>
            <a:off x="4206240" y="4526280"/>
            <a:ext cx="780897" cy="274320"/>
          </a:xfrm>
          <a:prstGeom prst="roundRect">
            <a:avLst>
              <a:gd name="adj" fmla="val 50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06240" y="4553712"/>
            <a:ext cx="780897" cy="219456"/>
          </a:xfrm>
          <a:prstGeom prst="rect">
            <a:avLst/>
          </a:prstGeom>
          <a:noFill/>
        </p:spPr>
        <p:txBody>
          <a:bodyPr wrap="square" anchor="ctr" lIns="12700" rIns="12700" tIns="12700" bIns="12700">
            <a:spAutoFit/>
          </a:bodyPr>
          <a:lstStyle/>
          <a:p>
            <a:pPr algn="ctr">
              <a:lnSpc>
                <a:spcPct val="100000"/>
              </a:lnSpc>
              <a:spcBef>
                <a:spcPts val="0"/>
              </a:spcBef>
              <a:spcAft>
                <a:spcPts val="200"/>
              </a:spcAft>
            </a:pPr>
            <a:r>
              <a:rPr sz="850" b="1" i="0">
                <a:solidFill>
                  <a:srgbClr val="A64D79"/>
                </a:solidFill>
                <a:latin typeface="Calibri"/>
              </a:rPr>
              <a:t>Lock-in</a:t>
            </a:r>
          </a:p>
        </p:txBody>
      </p:sp>
      <p:sp>
        <p:nvSpPr>
          <p:cNvPr id="25" name="Rounded Rectangle 24"/>
          <p:cNvSpPr/>
          <p:nvPr/>
        </p:nvSpPr>
        <p:spPr>
          <a:xfrm>
            <a:off x="5096865" y="4526280"/>
            <a:ext cx="1044244" cy="274320"/>
          </a:xfrm>
          <a:prstGeom prst="roundRect">
            <a:avLst>
              <a:gd name="adj" fmla="val 50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96865" y="4553712"/>
            <a:ext cx="1044244" cy="219456"/>
          </a:xfrm>
          <a:prstGeom prst="rect">
            <a:avLst/>
          </a:prstGeom>
          <a:noFill/>
        </p:spPr>
        <p:txBody>
          <a:bodyPr wrap="square" anchor="ctr" lIns="12700" rIns="12700" tIns="12700" bIns="12700">
            <a:spAutoFit/>
          </a:bodyPr>
          <a:lstStyle/>
          <a:p>
            <a:pPr algn="ctr">
              <a:lnSpc>
                <a:spcPct val="100000"/>
              </a:lnSpc>
              <a:spcBef>
                <a:spcPts val="0"/>
              </a:spcBef>
              <a:spcAft>
                <a:spcPts val="200"/>
              </a:spcAft>
            </a:pPr>
            <a:r>
              <a:rPr sz="850" b="1" i="0">
                <a:solidFill>
                  <a:srgbClr val="4A9EFF"/>
                </a:solidFill>
                <a:latin typeface="Calibri"/>
              </a:rPr>
              <a:t>Plataformas</a:t>
            </a:r>
          </a:p>
        </p:txBody>
      </p:sp>
      <p:sp>
        <p:nvSpPr>
          <p:cNvPr id="27" name="Rounded Rectangle 26"/>
          <p:cNvSpPr/>
          <p:nvPr/>
        </p:nvSpPr>
        <p:spPr>
          <a:xfrm>
            <a:off x="6250838" y="4526280"/>
            <a:ext cx="451713" cy="274320"/>
          </a:xfrm>
          <a:prstGeom prst="roundRect">
            <a:avLst>
              <a:gd name="adj" fmla="val 50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50838" y="4553712"/>
            <a:ext cx="451713" cy="219456"/>
          </a:xfrm>
          <a:prstGeom prst="rect">
            <a:avLst/>
          </a:prstGeom>
          <a:noFill/>
        </p:spPr>
        <p:txBody>
          <a:bodyPr wrap="square" anchor="ctr" lIns="12700" rIns="12700" tIns="12700" bIns="12700">
            <a:spAutoFit/>
          </a:bodyPr>
          <a:lstStyle/>
          <a:p>
            <a:pPr algn="ctr">
              <a:lnSpc>
                <a:spcPct val="100000"/>
              </a:lnSpc>
              <a:spcBef>
                <a:spcPts val="0"/>
              </a:spcBef>
              <a:spcAft>
                <a:spcPts val="200"/>
              </a:spcAft>
            </a:pPr>
            <a:r>
              <a:rPr sz="850" b="1" i="0">
                <a:solidFill>
                  <a:srgbClr val="FF8C42"/>
                </a:solidFill>
                <a:latin typeface="Calibri"/>
              </a:rPr>
              <a:t>IA</a:t>
            </a:r>
          </a:p>
        </p:txBody>
      </p:sp>
      <p:sp>
        <p:nvSpPr>
          <p:cNvPr id="29" name="Rounded Rectangle 28"/>
          <p:cNvSpPr/>
          <p:nvPr/>
        </p:nvSpPr>
        <p:spPr>
          <a:xfrm>
            <a:off x="6812280" y="4526280"/>
            <a:ext cx="1044244" cy="274320"/>
          </a:xfrm>
          <a:prstGeom prst="roundRect">
            <a:avLst>
              <a:gd name="adj" fmla="val 50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12280" y="4553712"/>
            <a:ext cx="1044244" cy="219456"/>
          </a:xfrm>
          <a:prstGeom prst="rect">
            <a:avLst/>
          </a:prstGeom>
          <a:noFill/>
        </p:spPr>
        <p:txBody>
          <a:bodyPr wrap="square" anchor="ctr" lIns="12700" rIns="12700" tIns="12700" bIns="12700">
            <a:spAutoFit/>
          </a:bodyPr>
          <a:lstStyle/>
          <a:p>
            <a:pPr algn="ctr">
              <a:lnSpc>
                <a:spcPct val="100000"/>
              </a:lnSpc>
              <a:spcBef>
                <a:spcPts val="0"/>
              </a:spcBef>
              <a:spcAft>
                <a:spcPts val="200"/>
              </a:spcAft>
            </a:pPr>
            <a:r>
              <a:rPr sz="850" b="1" i="0">
                <a:solidFill>
                  <a:srgbClr val="4CAF50"/>
                </a:solidFill>
                <a:latin typeface="Calibri"/>
              </a:rPr>
              <a:t>Compounding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5143500"/>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22960"/>
            <a:ext cx="7863840" cy="27432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200" b="1" i="0">
                <a:solidFill>
                  <a:srgbClr val="FF8C42"/>
                </a:solidFill>
                <a:latin typeface="Calibri"/>
              </a:rPr>
              <a:t>EL MENSAJE CENTRAL DE ESTA CHARLA</a:t>
            </a:r>
          </a:p>
        </p:txBody>
      </p:sp>
      <p:sp>
        <p:nvSpPr>
          <p:cNvPr id="5" name="TextBox 4"/>
          <p:cNvSpPr txBox="1"/>
          <p:nvPr/>
        </p:nvSpPr>
        <p:spPr>
          <a:xfrm>
            <a:off x="640080" y="1371600"/>
            <a:ext cx="7863840" cy="2651760"/>
          </a:xfrm>
          <a:prstGeom prst="rect">
            <a:avLst/>
          </a:prstGeom>
          <a:noFill/>
        </p:spPr>
        <p:txBody>
          <a:bodyPr wrap="square" anchor="t" lIns="12700" rIns="12700" tIns="12700" bIns="12700">
            <a:spAutoFit/>
          </a:bodyPr>
          <a:lstStyle/>
          <a:p>
            <a:pPr algn="l">
              <a:lnSpc>
                <a:spcPct val="112000"/>
              </a:lnSpc>
              <a:spcBef>
                <a:spcPts val="0"/>
              </a:spcBef>
              <a:spcAft>
                <a:spcPts val="200"/>
              </a:spcAft>
            </a:pPr>
            <a:r>
              <a:rPr sz="2600" b="1" i="0">
                <a:solidFill>
                  <a:srgbClr val="FFFFFF"/>
                </a:solidFill>
                <a:latin typeface="Calibri"/>
              </a:rPr>
              <a:t>El software no vale porque </a:t>
            </a:r>
            <a:r>
              <a:rPr sz="2600" b="1" i="0">
                <a:solidFill>
                  <a:srgbClr val="FF8C42"/>
                </a:solidFill>
                <a:latin typeface="Calibri"/>
              </a:rPr>
              <a:t>automatiza</a:t>
            </a:r>
            <a:r>
              <a:rPr sz="2600" b="1" i="0">
                <a:solidFill>
                  <a:srgbClr val="FFFFFF"/>
                </a:solidFill>
                <a:latin typeface="Calibri"/>
              </a:rPr>
              <a:t>.</a:t>
            </a:r>
          </a:p>
          <a:p>
            <a:pPr algn="l">
              <a:lnSpc>
                <a:spcPct val="112000"/>
              </a:lnSpc>
              <a:spcBef>
                <a:spcPts val="0"/>
              </a:spcBef>
              <a:spcAft>
                <a:spcPts val="200"/>
              </a:spcAft>
            </a:pPr>
            <a:r>
              <a:rPr sz="2600" b="1" i="0">
                <a:solidFill>
                  <a:srgbClr val="FFFFFF"/>
                </a:solidFill>
                <a:latin typeface="Calibri"/>
              </a:rPr>
              <a:t>Vale porque puede producir </a:t>
            </a:r>
            <a:r>
              <a:rPr sz="2600" b="1" i="0">
                <a:solidFill>
                  <a:srgbClr val="4A9EFF"/>
                </a:solidFill>
                <a:latin typeface="Calibri"/>
              </a:rPr>
              <a:t>rendimientos crecientes</a:t>
            </a:r>
          </a:p>
          <a:p>
            <a:pPr algn="l">
              <a:lnSpc>
                <a:spcPct val="112000"/>
              </a:lnSpc>
              <a:spcBef>
                <a:spcPts val="0"/>
              </a:spcBef>
              <a:spcAft>
                <a:spcPts val="200"/>
              </a:spcAft>
            </a:pPr>
            <a:r>
              <a:rPr sz="2600" b="1" i="0">
                <a:solidFill>
                  <a:srgbClr val="FFFFFF"/>
                </a:solidFill>
                <a:latin typeface="Calibri"/>
              </a:rPr>
              <a:t>imposibles para casi toda industria física.</a:t>
            </a:r>
          </a:p>
          <a:p>
            <a:pPr algn="l">
              <a:lnSpc>
                <a:spcPct val="112000"/>
              </a:lnSpc>
              <a:spcBef>
                <a:spcPts val="0"/>
              </a:spcBef>
              <a:spcAft>
                <a:spcPts val="200"/>
              </a:spcAft>
            </a:pPr>
            <a:r>
              <a:rPr sz="2600" b="1" i="0">
                <a:solidFill>
                  <a:srgbClr val="FFFFFF"/>
                </a:solidFill>
                <a:latin typeface="Calibri"/>
              </a:rPr>
              <a:t/>
            </a:r>
          </a:p>
          <a:p>
            <a:pPr algn="l">
              <a:lnSpc>
                <a:spcPct val="112000"/>
              </a:lnSpc>
              <a:spcBef>
                <a:spcPts val="0"/>
              </a:spcBef>
              <a:spcAft>
                <a:spcPts val="200"/>
              </a:spcAft>
            </a:pPr>
            <a:r>
              <a:rPr sz="1800" b="1" i="0">
                <a:solidFill>
                  <a:srgbClr val="B0BEC5"/>
                </a:solidFill>
                <a:latin typeface="Calibri"/>
              </a:rPr>
              <a:t>El activo real no es el código:</a:t>
            </a:r>
          </a:p>
          <a:p>
            <a:pPr algn="l">
              <a:lnSpc>
                <a:spcPct val="112000"/>
              </a:lnSpc>
              <a:spcBef>
                <a:spcPts val="0"/>
              </a:spcBef>
              <a:spcAft>
                <a:spcPts val="200"/>
              </a:spcAft>
            </a:pPr>
            <a:r>
              <a:rPr sz="1800" b="1" i="0">
                <a:solidFill>
                  <a:srgbClr val="B0BEC5"/>
                </a:solidFill>
                <a:latin typeface="Calibri"/>
              </a:rPr>
              <a:t>es el </a:t>
            </a:r>
            <a:r>
              <a:rPr sz="1800" b="1" i="0">
                <a:solidFill>
                  <a:srgbClr val="4CAF50"/>
                </a:solidFill>
                <a:latin typeface="Calibri"/>
              </a:rPr>
              <a:t>conocimiento acumulativo</a:t>
            </a:r>
            <a:r>
              <a:rPr sz="1800" b="1" i="0">
                <a:solidFill>
                  <a:srgbClr val="B0BEC5"/>
                </a:solidFill>
                <a:latin typeface="Calibri"/>
              </a:rPr>
              <a:t> que el código captura, reutiliza y amplía.</a:t>
            </a:r>
          </a:p>
        </p:txBody>
      </p:sp>
      <p:sp>
        <p:nvSpPr>
          <p:cNvPr id="6" name="Rectangle 5"/>
          <p:cNvSpPr/>
          <p:nvPr/>
        </p:nvSpPr>
        <p:spPr>
          <a:xfrm>
            <a:off x="640080" y="4160520"/>
            <a:ext cx="2743200" cy="27432"/>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297680"/>
            <a:ext cx="7863840" cy="640080"/>
          </a:xfrm>
          <a:prstGeom prst="rect">
            <a:avLst/>
          </a:prstGeom>
          <a:noFill/>
        </p:spPr>
        <p:txBody>
          <a:bodyPr wrap="square" anchor="t" lIns="12700" rIns="12700" tIns="12700" bIns="12700">
            <a:spAutoFit/>
          </a:bodyPr>
          <a:lstStyle/>
          <a:p>
            <a:pPr algn="l">
              <a:lnSpc>
                <a:spcPct val="108000"/>
              </a:lnSpc>
              <a:spcBef>
                <a:spcPts val="0"/>
              </a:spcBef>
              <a:spcAft>
                <a:spcPts val="200"/>
              </a:spcAft>
            </a:pPr>
            <a:r>
              <a:rPr sz="1250" b="0" i="1">
                <a:solidFill>
                  <a:srgbClr val="B0BEC5"/>
                </a:solidFill>
                <a:latin typeface="Calibri"/>
              </a:rPr>
              <a:t>Al terminar, nadie debería volver a ver una línea de código como “solo código”.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A9EFF"/>
                </a:solidFill>
                <a:latin typeface="Calibri"/>
              </a:rPr>
              <a:t>MAPA DE LA CHARLA</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Ocho actos, cincuenta ideas, una obsesión</a:t>
            </a:r>
          </a:p>
        </p:txBody>
      </p:sp>
      <p:sp>
        <p:nvSpPr>
          <p:cNvPr id="7" name="Rectangle 6"/>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9" name="TextBox 8"/>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1</a:t>
            </a:r>
          </a:p>
        </p:txBody>
      </p:sp>
      <p:sp>
        <p:nvSpPr>
          <p:cNvPr id="10" name="Rounded Rectangle 9"/>
          <p:cNvSpPr/>
          <p:nvPr/>
        </p:nvSpPr>
        <p:spPr>
          <a:xfrm>
            <a:off x="320040" y="914400"/>
            <a:ext cx="2712720" cy="3794760"/>
          </a:xfrm>
          <a:prstGeom prst="roundRect">
            <a:avLst>
              <a:gd name="adj" fmla="val 5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20040" y="914400"/>
            <a:ext cx="2712720" cy="457200"/>
          </a:xfrm>
          <a:prstGeom prst="roundRect">
            <a:avLst>
              <a:gd name="adj" fmla="val 8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170432"/>
            <a:ext cx="2712720" cy="201168"/>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79" y="914400"/>
            <a:ext cx="2529840" cy="457200"/>
          </a:xfrm>
          <a:prstGeom prst="rect">
            <a:avLst/>
          </a:prstGeom>
          <a:noFill/>
        </p:spPr>
        <p:txBody>
          <a:bodyPr wrap="square" anchor="ctr" lIns="12700" rIns="12700" tIns="12700" bIns="12700">
            <a:spAutoFit/>
          </a:bodyPr>
          <a:lstStyle/>
          <a:p>
            <a:pPr algn="ctr">
              <a:lnSpc>
                <a:spcPct val="100000"/>
              </a:lnSpc>
              <a:spcBef>
                <a:spcPts val="0"/>
              </a:spcBef>
              <a:spcAft>
                <a:spcPts val="200"/>
              </a:spcAft>
            </a:pPr>
            <a:r>
              <a:rPr sz="1100" b="1" i="0">
                <a:solidFill>
                  <a:srgbClr val="FFFFFF"/>
                </a:solidFill>
                <a:latin typeface="Calibri"/>
              </a:rPr>
              <a:t>I–II · Las reglas del juego</a:t>
            </a:r>
          </a:p>
        </p:txBody>
      </p:sp>
      <p:sp>
        <p:nvSpPr>
          <p:cNvPr id="14" name="TextBox 13"/>
          <p:cNvSpPr txBox="1"/>
          <p:nvPr/>
        </p:nvSpPr>
        <p:spPr>
          <a:xfrm>
            <a:off x="466344" y="1481328"/>
            <a:ext cx="2456688" cy="3108960"/>
          </a:xfrm>
          <a:prstGeom prst="rect">
            <a:avLst/>
          </a:prstGeom>
          <a:noFill/>
        </p:spPr>
        <p:txBody>
          <a:bodyPr wrap="square" anchor="t" lIns="12700" rIns="12700" tIns="12700" bIns="12700">
            <a:spAutoFit/>
          </a:bodyPr>
          <a:lstStyle/>
          <a:p>
            <a:pPr algn="l">
              <a:lnSpc>
                <a:spcPct val="105000"/>
              </a:lnSpc>
              <a:spcBef>
                <a:spcPts val="0"/>
              </a:spcBef>
              <a:spcAft>
                <a:spcPts val="400"/>
              </a:spcAft>
            </a:pPr>
            <a:r>
              <a:rPr sz="919" b="0" i="0">
                <a:solidFill>
                  <a:srgbClr val="30435C"/>
                </a:solidFill>
                <a:latin typeface="Calibri"/>
              </a:rPr>
              <a:t>·  Clásica vs conocimiento</a:t>
            </a:r>
          </a:p>
          <a:p>
            <a:pPr algn="l">
              <a:lnSpc>
                <a:spcPct val="105000"/>
              </a:lnSpc>
              <a:spcBef>
                <a:spcPts val="0"/>
              </a:spcBef>
              <a:spcAft>
                <a:spcPts val="400"/>
              </a:spcAft>
            </a:pPr>
            <a:r>
              <a:rPr sz="919" b="0" i="0">
                <a:solidFill>
                  <a:srgbClr val="30435C"/>
                </a:solidFill>
                <a:latin typeface="Calibri"/>
              </a:rPr>
              <a:t>·  Rendimientos: ↓ = →↑</a:t>
            </a:r>
          </a:p>
          <a:p>
            <a:pPr algn="l">
              <a:lnSpc>
                <a:spcPct val="105000"/>
              </a:lnSpc>
              <a:spcBef>
                <a:spcPts val="0"/>
              </a:spcBef>
              <a:spcAft>
                <a:spcPts val="400"/>
              </a:spcAft>
            </a:pPr>
            <a:r>
              <a:rPr sz="919" b="0" i="0">
                <a:solidFill>
                  <a:srgbClr val="30435C"/>
                </a:solidFill>
                <a:latin typeface="Calibri"/>
              </a:rPr>
              <a:t>·  Escala y alcance</a:t>
            </a:r>
          </a:p>
          <a:p>
            <a:pPr algn="l">
              <a:lnSpc>
                <a:spcPct val="105000"/>
              </a:lnSpc>
              <a:spcBef>
                <a:spcPts val="0"/>
              </a:spcBef>
              <a:spcAft>
                <a:spcPts val="400"/>
              </a:spcAft>
            </a:pPr>
            <a:r>
              <a:rPr sz="919" b="0" i="0">
                <a:solidFill>
                  <a:srgbClr val="30435C"/>
                </a:solidFill>
                <a:latin typeface="Calibri"/>
              </a:rPr>
              <a:t>·  Costo marginal ≈ 0</a:t>
            </a:r>
          </a:p>
          <a:p>
            <a:pPr algn="l">
              <a:lnSpc>
                <a:spcPct val="105000"/>
              </a:lnSpc>
              <a:spcBef>
                <a:spcPts val="0"/>
              </a:spcBef>
              <a:spcAft>
                <a:spcPts val="400"/>
              </a:spcAft>
            </a:pPr>
            <a:r>
              <a:rPr sz="919" b="0" i="0">
                <a:solidFill>
                  <a:srgbClr val="30435C"/>
                </a:solidFill>
                <a:latin typeface="Calibri"/>
              </a:rPr>
              <a:t>·  Bienes no-rivales (Romer)</a:t>
            </a:r>
          </a:p>
          <a:p>
            <a:pPr algn="l">
              <a:lnSpc>
                <a:spcPct val="105000"/>
              </a:lnSpc>
              <a:spcBef>
                <a:spcPts val="0"/>
              </a:spcBef>
              <a:spcAft>
                <a:spcPts val="400"/>
              </a:spcAft>
            </a:pPr>
            <a:r>
              <a:rPr sz="919" b="0" i="0">
                <a:solidFill>
                  <a:srgbClr val="30435C"/>
                </a:solidFill>
                <a:latin typeface="Calibri"/>
              </a:rPr>
              <a:t>·  Los 5 capitales</a:t>
            </a:r>
          </a:p>
          <a:p>
            <a:pPr algn="l">
              <a:lnSpc>
                <a:spcPct val="105000"/>
              </a:lnSpc>
              <a:spcBef>
                <a:spcPts val="0"/>
              </a:spcBef>
              <a:spcAft>
                <a:spcPts val="400"/>
              </a:spcAft>
            </a:pPr>
            <a:r>
              <a:rPr sz="919" b="0" i="0">
                <a:solidFill>
                  <a:srgbClr val="30435C"/>
                </a:solidFill>
                <a:latin typeface="Calibri"/>
              </a:rPr>
              <a:t>·  Crecimiento endógeno</a:t>
            </a:r>
          </a:p>
          <a:p>
            <a:pPr algn="l">
              <a:lnSpc>
                <a:spcPct val="105000"/>
              </a:lnSpc>
              <a:spcBef>
                <a:spcPts val="0"/>
              </a:spcBef>
              <a:spcAft>
                <a:spcPts val="400"/>
              </a:spcAft>
            </a:pPr>
            <a:r>
              <a:rPr sz="919" b="0" i="0">
                <a:solidFill>
                  <a:srgbClr val="30435C"/>
                </a:solidFill>
                <a:latin typeface="Calibri"/>
              </a:rPr>
              <a:t>·  Spillovers · combinatoria</a:t>
            </a:r>
          </a:p>
        </p:txBody>
      </p:sp>
      <p:sp>
        <p:nvSpPr>
          <p:cNvPr id="15" name="Rounded Rectangle 14"/>
          <p:cNvSpPr/>
          <p:nvPr/>
        </p:nvSpPr>
        <p:spPr>
          <a:xfrm>
            <a:off x="3215640" y="914400"/>
            <a:ext cx="2712720" cy="3794760"/>
          </a:xfrm>
          <a:prstGeom prst="roundRect">
            <a:avLst>
              <a:gd name="adj" fmla="val 5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215640" y="914400"/>
            <a:ext cx="2712720" cy="457200"/>
          </a:xfrm>
          <a:prstGeom prst="roundRect">
            <a:avLst>
              <a:gd name="adj" fmla="val 8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15640" y="1170432"/>
            <a:ext cx="2712720" cy="201168"/>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07080" y="914400"/>
            <a:ext cx="2529840" cy="457200"/>
          </a:xfrm>
          <a:prstGeom prst="rect">
            <a:avLst/>
          </a:prstGeom>
          <a:noFill/>
        </p:spPr>
        <p:txBody>
          <a:bodyPr wrap="square" anchor="ctr" lIns="12700" rIns="12700" tIns="12700" bIns="12700">
            <a:spAutoFit/>
          </a:bodyPr>
          <a:lstStyle/>
          <a:p>
            <a:pPr algn="ctr">
              <a:lnSpc>
                <a:spcPct val="100000"/>
              </a:lnSpc>
              <a:spcBef>
                <a:spcPts val="0"/>
              </a:spcBef>
              <a:spcAft>
                <a:spcPts val="200"/>
              </a:spcAft>
            </a:pPr>
            <a:r>
              <a:rPr sz="1100" b="1" i="0">
                <a:solidFill>
                  <a:srgbClr val="FFFFFF"/>
                </a:solidFill>
                <a:latin typeface="Calibri"/>
              </a:rPr>
              <a:t>III–IV · Por qué gana el líder</a:t>
            </a:r>
          </a:p>
        </p:txBody>
      </p:sp>
      <p:sp>
        <p:nvSpPr>
          <p:cNvPr id="19" name="TextBox 18"/>
          <p:cNvSpPr txBox="1"/>
          <p:nvPr/>
        </p:nvSpPr>
        <p:spPr>
          <a:xfrm>
            <a:off x="3361944" y="1481328"/>
            <a:ext cx="2456688" cy="3108960"/>
          </a:xfrm>
          <a:prstGeom prst="rect">
            <a:avLst/>
          </a:prstGeom>
          <a:noFill/>
        </p:spPr>
        <p:txBody>
          <a:bodyPr wrap="square" anchor="t" lIns="12700" rIns="12700" tIns="12700" bIns="12700">
            <a:spAutoFit/>
          </a:bodyPr>
          <a:lstStyle/>
          <a:p>
            <a:pPr algn="l">
              <a:lnSpc>
                <a:spcPct val="105000"/>
              </a:lnSpc>
              <a:spcBef>
                <a:spcPts val="0"/>
              </a:spcBef>
              <a:spcAft>
                <a:spcPts val="400"/>
              </a:spcAft>
            </a:pPr>
            <a:r>
              <a:rPr sz="919" b="0" i="0">
                <a:solidFill>
                  <a:srgbClr val="30435C"/>
                </a:solidFill>
                <a:latin typeface="Calibri"/>
              </a:rPr>
              <a:t>·  Path dependence</a:t>
            </a:r>
          </a:p>
          <a:p>
            <a:pPr algn="l">
              <a:lnSpc>
                <a:spcPct val="105000"/>
              </a:lnSpc>
              <a:spcBef>
                <a:spcPts val="0"/>
              </a:spcBef>
              <a:spcAft>
                <a:spcPts val="400"/>
              </a:spcAft>
            </a:pPr>
            <a:r>
              <a:rPr sz="919" b="0" i="0">
                <a:solidFill>
                  <a:srgbClr val="30435C"/>
                </a:solidFill>
                <a:latin typeface="Calibri"/>
              </a:rPr>
              <a:t>·  Lock-in · switching cost</a:t>
            </a:r>
          </a:p>
          <a:p>
            <a:pPr algn="l">
              <a:lnSpc>
                <a:spcPct val="105000"/>
              </a:lnSpc>
              <a:spcBef>
                <a:spcPts val="0"/>
              </a:spcBef>
              <a:spcAft>
                <a:spcPts val="400"/>
              </a:spcAft>
            </a:pPr>
            <a:r>
              <a:rPr sz="919" b="0" i="0">
                <a:solidFill>
                  <a:srgbClr val="30435C"/>
                </a:solidFill>
                <a:latin typeface="Calibri"/>
              </a:rPr>
              <a:t>·  Network effects</a:t>
            </a:r>
          </a:p>
          <a:p>
            <a:pPr algn="l">
              <a:lnSpc>
                <a:spcPct val="105000"/>
              </a:lnSpc>
              <a:spcBef>
                <a:spcPts val="0"/>
              </a:spcBef>
              <a:spcAft>
                <a:spcPts val="400"/>
              </a:spcAft>
            </a:pPr>
            <a:r>
              <a:rPr sz="919" b="0" i="0">
                <a:solidFill>
                  <a:srgbClr val="30435C"/>
                </a:solidFill>
                <a:latin typeface="Calibri"/>
              </a:rPr>
              <a:t>·  Flywheel</a:t>
            </a:r>
          </a:p>
          <a:p>
            <a:pPr algn="l">
              <a:lnSpc>
                <a:spcPct val="105000"/>
              </a:lnSpc>
              <a:spcBef>
                <a:spcPts val="0"/>
              </a:spcBef>
              <a:spcAft>
                <a:spcPts val="400"/>
              </a:spcAft>
            </a:pPr>
            <a:r>
              <a:rPr sz="919" b="0" i="0">
                <a:solidFill>
                  <a:srgbClr val="30435C"/>
                </a:solidFill>
                <a:latin typeface="Calibri"/>
              </a:rPr>
              <a:t>·  Winner-take-most</a:t>
            </a:r>
          </a:p>
          <a:p>
            <a:pPr algn="l">
              <a:lnSpc>
                <a:spcPct val="105000"/>
              </a:lnSpc>
              <a:spcBef>
                <a:spcPts val="0"/>
              </a:spcBef>
              <a:spcAft>
                <a:spcPts val="400"/>
              </a:spcAft>
            </a:pPr>
            <a:r>
              <a:rPr sz="919" b="0" i="0">
                <a:solidFill>
                  <a:srgbClr val="30435C"/>
                </a:solidFill>
                <a:latin typeface="Calibri"/>
              </a:rPr>
              <a:t>·  Monopolios (Thiel)</a:t>
            </a:r>
          </a:p>
          <a:p>
            <a:pPr algn="l">
              <a:lnSpc>
                <a:spcPct val="105000"/>
              </a:lnSpc>
              <a:spcBef>
                <a:spcPts val="0"/>
              </a:spcBef>
              <a:spcAft>
                <a:spcPts val="400"/>
              </a:spcAft>
            </a:pPr>
            <a:r>
              <a:rPr sz="919" b="0" i="0">
                <a:solidFill>
                  <a:srgbClr val="30435C"/>
                </a:solidFill>
                <a:latin typeface="Calibri"/>
              </a:rPr>
              <a:t>·  Plataformas · marketplaces</a:t>
            </a:r>
          </a:p>
          <a:p>
            <a:pPr algn="l">
              <a:lnSpc>
                <a:spcPct val="105000"/>
              </a:lnSpc>
              <a:spcBef>
                <a:spcPts val="0"/>
              </a:spcBef>
              <a:spcAft>
                <a:spcPts val="400"/>
              </a:spcAft>
            </a:pPr>
            <a:r>
              <a:rPr sz="919" b="0" i="0">
                <a:solidFill>
                  <a:srgbClr val="30435C"/>
                </a:solidFill>
                <a:latin typeface="Calibri"/>
              </a:rPr>
              <a:t>·  APIs · ecosistemas · cloud · OSS · SaaS</a:t>
            </a:r>
          </a:p>
        </p:txBody>
      </p:sp>
      <p:sp>
        <p:nvSpPr>
          <p:cNvPr id="20" name="Rounded Rectangle 19"/>
          <p:cNvSpPr/>
          <p:nvPr/>
        </p:nvSpPr>
        <p:spPr>
          <a:xfrm>
            <a:off x="6111240" y="914400"/>
            <a:ext cx="2712720" cy="3794760"/>
          </a:xfrm>
          <a:prstGeom prst="roundRect">
            <a:avLst>
              <a:gd name="adj" fmla="val 5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111240" y="914400"/>
            <a:ext cx="2712720" cy="457200"/>
          </a:xfrm>
          <a:prstGeom prst="roundRect">
            <a:avLst>
              <a:gd name="adj" fmla="val 8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1240" y="1170432"/>
            <a:ext cx="2712720" cy="201168"/>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02680" y="914400"/>
            <a:ext cx="2529840" cy="457200"/>
          </a:xfrm>
          <a:prstGeom prst="rect">
            <a:avLst/>
          </a:prstGeom>
          <a:noFill/>
        </p:spPr>
        <p:txBody>
          <a:bodyPr wrap="square" anchor="ctr" lIns="12700" rIns="12700" tIns="12700" bIns="12700">
            <a:spAutoFit/>
          </a:bodyPr>
          <a:lstStyle/>
          <a:p>
            <a:pPr algn="ctr">
              <a:lnSpc>
                <a:spcPct val="100000"/>
              </a:lnSpc>
              <a:spcBef>
                <a:spcPts val="0"/>
              </a:spcBef>
              <a:spcAft>
                <a:spcPts val="200"/>
              </a:spcAft>
            </a:pPr>
            <a:r>
              <a:rPr sz="1100" b="1" i="0">
                <a:solidFill>
                  <a:srgbClr val="FFFFFF"/>
                </a:solidFill>
                <a:latin typeface="Calibri"/>
              </a:rPr>
              <a:t>V–VIII · IA, dinámica y síntesis</a:t>
            </a:r>
          </a:p>
        </p:txBody>
      </p:sp>
      <p:sp>
        <p:nvSpPr>
          <p:cNvPr id="24" name="TextBox 23"/>
          <p:cNvSpPr txBox="1"/>
          <p:nvPr/>
        </p:nvSpPr>
        <p:spPr>
          <a:xfrm>
            <a:off x="6257544" y="1481328"/>
            <a:ext cx="2456688" cy="3108960"/>
          </a:xfrm>
          <a:prstGeom prst="rect">
            <a:avLst/>
          </a:prstGeom>
          <a:noFill/>
        </p:spPr>
        <p:txBody>
          <a:bodyPr wrap="square" anchor="t" lIns="12700" rIns="12700" tIns="12700" bIns="12700">
            <a:spAutoFit/>
          </a:bodyPr>
          <a:lstStyle/>
          <a:p>
            <a:pPr algn="l">
              <a:lnSpc>
                <a:spcPct val="105000"/>
              </a:lnSpc>
              <a:spcBef>
                <a:spcPts val="0"/>
              </a:spcBef>
              <a:spcAft>
                <a:spcPts val="400"/>
              </a:spcAft>
            </a:pPr>
            <a:r>
              <a:rPr sz="919" b="0" i="0">
                <a:solidFill>
                  <a:srgbClr val="30435C"/>
                </a:solidFill>
                <a:latin typeface="Calibri"/>
              </a:rPr>
              <a:t>·  IA generativa · foundation models</a:t>
            </a:r>
          </a:p>
          <a:p>
            <a:pPr algn="l">
              <a:lnSpc>
                <a:spcPct val="105000"/>
              </a:lnSpc>
              <a:spcBef>
                <a:spcPts val="0"/>
              </a:spcBef>
              <a:spcAft>
                <a:spcPts val="400"/>
              </a:spcAft>
            </a:pPr>
            <a:r>
              <a:rPr sz="919" b="0" i="0">
                <a:solidFill>
                  <a:srgbClr val="30435C"/>
                </a:solidFill>
                <a:latin typeface="Calibri"/>
              </a:rPr>
              <a:t>·  Data network effects</a:t>
            </a:r>
          </a:p>
          <a:p>
            <a:pPr algn="l">
              <a:lnSpc>
                <a:spcPct val="105000"/>
              </a:lnSpc>
              <a:spcBef>
                <a:spcPts val="0"/>
              </a:spcBef>
              <a:spcAft>
                <a:spcPts val="400"/>
              </a:spcAft>
            </a:pPr>
            <a:r>
              <a:rPr sz="919" b="0" i="0">
                <a:solidFill>
                  <a:srgbClr val="30435C"/>
                </a:solidFill>
                <a:latin typeface="Calibri"/>
              </a:rPr>
              <a:t>·  Destrucción creativa</a:t>
            </a:r>
          </a:p>
          <a:p>
            <a:pPr algn="l">
              <a:lnSpc>
                <a:spcPct val="105000"/>
              </a:lnSpc>
              <a:spcBef>
                <a:spcPts val="0"/>
              </a:spcBef>
              <a:spcAft>
                <a:spcPts val="400"/>
              </a:spcAft>
            </a:pPr>
            <a:r>
              <a:rPr sz="919" b="0" i="0">
                <a:solidFill>
                  <a:srgbClr val="30435C"/>
                </a:solidFill>
                <a:latin typeface="Calibri"/>
              </a:rPr>
              <a:t>·  Innovator's dilemma</a:t>
            </a:r>
          </a:p>
          <a:p>
            <a:pPr algn="l">
              <a:lnSpc>
                <a:spcPct val="105000"/>
              </a:lnSpc>
              <a:spcBef>
                <a:spcPts val="0"/>
              </a:spcBef>
              <a:spcAft>
                <a:spcPts val="400"/>
              </a:spcAft>
            </a:pPr>
            <a:r>
              <a:rPr sz="919" b="0" i="0">
                <a:solidFill>
                  <a:srgbClr val="30435C"/>
                </a:solidFill>
                <a:latin typeface="Calibri"/>
              </a:rPr>
              <a:t>·  First-mover · Blitzscaling</a:t>
            </a:r>
          </a:p>
          <a:p>
            <a:pPr algn="l">
              <a:lnSpc>
                <a:spcPct val="105000"/>
              </a:lnSpc>
              <a:spcBef>
                <a:spcPts val="0"/>
              </a:spcBef>
              <a:spcAft>
                <a:spcPts val="400"/>
              </a:spcAft>
            </a:pPr>
            <a:r>
              <a:rPr sz="919" b="0" i="0">
                <a:solidFill>
                  <a:srgbClr val="30435C"/>
                </a:solidFill>
                <a:latin typeface="Calibri"/>
              </a:rPr>
              <a:t>·  Moats acumulativos</a:t>
            </a:r>
          </a:p>
          <a:p>
            <a:pPr algn="l">
              <a:lnSpc>
                <a:spcPct val="105000"/>
              </a:lnSpc>
              <a:spcBef>
                <a:spcPts val="0"/>
              </a:spcBef>
              <a:spcAft>
                <a:spcPts val="400"/>
              </a:spcAft>
            </a:pPr>
            <a:r>
              <a:rPr sz="919" b="0" i="0">
                <a:solidFill>
                  <a:srgbClr val="30435C"/>
                </a:solidFill>
                <a:latin typeface="Calibri"/>
              </a:rPr>
              <a:t>·  El compounding stack (6 capas)</a:t>
            </a:r>
          </a:p>
          <a:p>
            <a:pPr algn="l">
              <a:lnSpc>
                <a:spcPct val="105000"/>
              </a:lnSpc>
              <a:spcBef>
                <a:spcPts val="0"/>
              </a:spcBef>
              <a:spcAft>
                <a:spcPts val="400"/>
              </a:spcAft>
            </a:pPr>
            <a:r>
              <a:rPr sz="919" b="0" i="0">
                <a:solidFill>
                  <a:srgbClr val="30435C"/>
                </a:solidFill>
                <a:latin typeface="Calibri"/>
              </a:rPr>
              <a:t>·  Cómo nace un unicornio de US$1B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82296"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640" y="0"/>
            <a:ext cx="4023360" cy="5143500"/>
          </a:xfrm>
          <a:prstGeom prst="rect">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4206240" cy="182880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1000" b="1" i="0">
                <a:solidFill>
                  <a:srgbClr val="4A9EFF"/>
                </a:solidFill>
                <a:latin typeface="Calibri"/>
              </a:rPr>
              <a:t>01</a:t>
            </a:r>
          </a:p>
        </p:txBody>
      </p:sp>
      <p:sp>
        <p:nvSpPr>
          <p:cNvPr id="7" name="Rectangle 6"/>
          <p:cNvSpPr/>
          <p:nvPr/>
        </p:nvSpPr>
        <p:spPr>
          <a:xfrm>
            <a:off x="685800" y="2743200"/>
            <a:ext cx="2194560" cy="36576"/>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926080"/>
            <a:ext cx="4572000" cy="10972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3000" b="1" i="0">
                <a:solidFill>
                  <a:srgbClr val="FFFFFF"/>
                </a:solidFill>
                <a:latin typeface="Calibri"/>
              </a:rPr>
              <a:t>Las dos físicas económicas</a:t>
            </a:r>
          </a:p>
        </p:txBody>
      </p:sp>
      <p:sp>
        <p:nvSpPr>
          <p:cNvPr id="9" name="TextBox 8"/>
          <p:cNvSpPr txBox="1"/>
          <p:nvPr/>
        </p:nvSpPr>
        <p:spPr>
          <a:xfrm>
            <a:off x="5486400" y="1554480"/>
            <a:ext cx="3291840" cy="2377440"/>
          </a:xfrm>
          <a:prstGeom prst="rect">
            <a:avLst/>
          </a:prstGeom>
          <a:noFill/>
        </p:spPr>
        <p:txBody>
          <a:bodyPr wrap="square" anchor="t" lIns="12700" rIns="12700" tIns="12700" bIns="12700">
            <a:spAutoFit/>
          </a:bodyPr>
          <a:lstStyle/>
          <a:p>
            <a:pPr algn="l">
              <a:lnSpc>
                <a:spcPct val="120000"/>
              </a:lnSpc>
              <a:spcBef>
                <a:spcPts val="0"/>
              </a:spcBef>
              <a:spcAft>
                <a:spcPts val="200"/>
              </a:spcAft>
            </a:pPr>
            <a:r>
              <a:rPr sz="1300" b="0" i="0">
                <a:solidFill>
                  <a:srgbClr val="B0BEC5"/>
                </a:solidFill>
                <a:latin typeface="Calibri"/>
              </a:rPr>
              <a:t>La mayoría de las industrias vive bajo rendimientos decrecientes. El software juega con la física opuesta. Entender la diferencia es entenderlo todo.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A9EFF"/>
                </a:solidFill>
                <a:latin typeface="Calibri"/>
              </a:rPr>
              <a:t>CONCEPTO 01 · ACTO I</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Economía clásica vs. economía del conocimiento</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Romer · Arthur</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marco general</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2</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A9EFF"/>
                </a:solidFill>
                <a:latin typeface="Calibri"/>
              </a:rPr>
              <a:t>QUÉ ES.  </a:t>
            </a:r>
            <a:r>
              <a:rPr sz="1250" b="1" i="0">
                <a:solidFill>
                  <a:srgbClr val="1A2B4A"/>
                </a:solidFill>
                <a:latin typeface="Calibri"/>
              </a:rPr>
              <a:t>Dos mundos con leyes opuestas: el de los átomos (escasez y desgaste) y el de los bits (abundancia y reutilización).</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Adam Smith y Ricardo modelaron tierra, trabajo y capital: recursos que se agotan al usarse. El conocimiento no se agota: se acumula.</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Un SaaS produce una vez y sirve infinitas veces. El costo está en crear la 'receta' (el diseño), no en fabricar cada copia.</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Un modelo se entrena una vez (caro) y responde millones de veces (barato). Pura economía del conocimiento.</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Preguntá de cada componente: ¿es un átomo (se consume) o un bit (se reutiliza)? Invertí desproporcionadamente en los bits: son los que componen.</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Kodak (145.300 empleados) cae; Instagram (13 personas) se vende en US$1.000M. Mismo valor, otra física.</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Gestionar software con la mentalidad de una fábrica: optimizar costo por unidad en vez de maximizar reutilización.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A9EFF"/>
                </a:solidFill>
                <a:latin typeface="Calibri"/>
              </a:rPr>
              <a:t>CONCEPTO 02 · ACTO I</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Rendimientos decrecientes</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Turgot · Ricardo · Marshall</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economía clásica</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3</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A9EFF"/>
                </a:solidFill>
                <a:latin typeface="Calibri"/>
              </a:rPr>
              <a:t>QUÉ ES.  </a:t>
            </a:r>
            <a:r>
              <a:rPr sz="1250" b="1" i="0">
                <a:solidFill>
                  <a:srgbClr val="1A2B4A"/>
                </a:solidFill>
                <a:latin typeface="Calibri"/>
              </a:rPr>
              <a:t>Cada unidad extra de un insumo, con los demás fijos, produce cada vez menos. La ley por defecto del mundo físico.</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Un segundo trabajador en un campo agrega mucho; el centésimo, casi nada. La curva se aplana: crecer se vuelve más caro.</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ingeniería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Aparecen igual en software mal diseñado: agregar ingenieros a un sistema acoplado (ley de Brooks) rinde cada vez menos.</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Entrenar más con los mismos datos satura: las 'scaling laws' muestran rendimientos decrecientes si no crece también el dato/computo.</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Detectá dónde tu arquitectura tiene rendimientos decrecientes (monolito acoplado, on-call que no escala) y desacoplá para escapar de la curva.</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Agricultura, minería, retail físico: por qué ninguna industria de átomos produjo un billón de dólares tan rápido como el software.</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Creer que TODO decrece. La genialidad del software es construir las partes que NO obedecen esta ley.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A9EFF"/>
                </a:solidFill>
                <a:latin typeface="Calibri"/>
              </a:rPr>
              <a:t>CONCEPTO 03 · ACTO I</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Rendimientos constantes</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modelo neoclásico</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Solow (baseline)</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4</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A9EFF"/>
                </a:solidFill>
                <a:latin typeface="Calibri"/>
              </a:rPr>
              <a:t>QUÉ ES.  </a:t>
            </a:r>
            <a:r>
              <a:rPr sz="1250" b="1" i="0">
                <a:solidFill>
                  <a:srgbClr val="1A2B4A"/>
                </a:solidFill>
                <a:latin typeface="Calibri"/>
              </a:rPr>
              <a:t>Duplicás todos los insumos y el output se duplica exactamente. El caso 'neutral', ni ventaja ni desventaja de escala.</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Es la línea de referencia: un servicio de consultoría que factura por hora. Más horas, más ingreso, proporcional. No hay palanca.</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Trampa común</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Muchos negocios 'de software' en realidad son de servicios disfrazados: escalan lineal con headcount. Ojo con confundirlos.</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Inferencia con costo lineal por token: si cobrás por uso y pagás por uso 1:1, estás en rendimientos ~constantes, no crecientes.</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Auditá tu curva coste↔ingreso: si crece lineal con personas o con computo, todavía no construiste la palanca del software.</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Agencias, body-shops, outsourcing: negocios sanos, pero valuados como servicios (2-3x ingresos), no como software (10-20x).</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Vender 'SaaS' que en el fondo es una agencia: el múltiplo de valuación te delata.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A9EFF"/>
                </a:solidFill>
                <a:latin typeface="Calibri"/>
              </a:rPr>
              <a:t>CONCEPTO 04 · RANKING #1</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Rendimientos crecientes</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W. Brian Arthur</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Increasing Returns (1994)</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5</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A9EFF"/>
                </a:solidFill>
                <a:latin typeface="Calibri"/>
              </a:rPr>
              <a:t>QUÉ ES.  </a:t>
            </a:r>
            <a:r>
              <a:rPr sz="1250" b="1" i="0">
                <a:solidFill>
                  <a:srgbClr val="1A2B4A"/>
                </a:solidFill>
                <a:latin typeface="Calibri"/>
              </a:rPr>
              <a:t>Cuanto más grande sos, más fácil te resulta crecer: el que va adelante se despega en vez de frenarse.</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 (Arthur)</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Arthur mostró que la tecnología viola la ley clásica: adopción, aprendizaje y complementos se retroalimentan. El éxito llama al éxito.</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Diseñá para que el uso genere el próximo uso: referidos, plantillas, integraciones. El costo marginal ≈ 0 se reinvierte en adopción.</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Cada interacción entrena el modelo → mejores respuestas → más uso → más datos. El bucle es el activo, no el modelo.</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Instrumentá el bucle: k-factor viral, retención por cohorte, costo marginal por usuario. Si el CAC baja con la escala, tenés la palanca.</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Microsoft (Windows), Google (búsqueda), Nvidia (CUDA): el líder acumula ventaja en lugar de perderla.</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Confundir 'crecer rápido' con rendimientos crecientes. Si tu costo marginal no baja, es solo quemar caja.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A9EFF"/>
                </a:solidFill>
                <a:latin typeface="Calibri"/>
              </a:rPr>
              <a:t>CONCEPTO 05 · RANKING #4</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Economías de escala</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Alfred Marshall</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Principles of Economics</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6</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A9EFF"/>
                </a:solidFill>
                <a:latin typeface="Calibri"/>
              </a:rPr>
              <a:t>QUÉ ES.  </a:t>
            </a:r>
            <a:r>
              <a:rPr sz="1250" b="1" i="0">
                <a:solidFill>
                  <a:srgbClr val="1A2B4A"/>
                </a:solidFill>
                <a:latin typeface="Calibri"/>
              </a:rPr>
              <a:t>El costo por unidad baja a medida que producís más, porque los costos fijos se reparten entre más unidades.</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 (Marshall)</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Marshall distinguió economías internas (de la firma) y externas (del clúster). En software el costo fijo es el desarrollo; el marginal, casi cero.</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Un servidor sirve a 1 o a 10.000 casi igual. Cada cliente nuevo es casi todo margen: por eso el SaaS maduro tiene 80%+ de margen bruto.</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Entrenar un foundation model cuesta cientos de millones (fijo brutal), pero amortiza sobre miles de millones de llamadas.</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Separá costo fijo (build) de variable (serve). Multi-tenancy, caching y arquitectura stateless empujan el marginal hacia cero.</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AWS, Salesforce, Adobe: márgenes brutos que ninguna fábrica alcanza, porque el marginal tiende a 0.</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Escala sin límite es un mito: soporte, complejidad y coordinación reintroducen costos. La escala pura no es un moat.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A9EFF"/>
                </a:solidFill>
                <a:latin typeface="Calibri"/>
              </a:rPr>
              <a:t>CONCEPTO 06 · ACTO I</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Economías de alcance</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Panzar &amp; Willig</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teoría de la firma</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7</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A9EFF"/>
                </a:solidFill>
                <a:latin typeface="Calibri"/>
              </a:rPr>
              <a:t>QUÉ ES.  </a:t>
            </a:r>
            <a:r>
              <a:rPr sz="1250" b="1" i="0">
                <a:solidFill>
                  <a:srgbClr val="1A2B4A"/>
                </a:solidFill>
                <a:latin typeface="Calibri"/>
              </a:rPr>
              <a:t>Sale más barato producir varios productos juntos que por separado, porque comparten un activo común.</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Una imprenta que ya tiene la máquina imprime libros y revistas más barato que dos imprentas. El activo compartido es la clave.</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Tu plataforma de datos/auth/billing es el activo común: cada producto nuevo (módulo, vertical) reutiliza la base. Amazon: retail → AWS → ads.</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Un mismo foundation model sirve chat, código, resumen y visión. El costo de entrenar se reparte entre casos de uso: alcance puro.</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Construí una plataforma interna (datos, identidad, pagos) reutilizable. Cada feature nueva debe montar sobre ella, no reinventarla.</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Amazon (logística → cloud → publicidad), Google (búsqueda → Maps → Workspace): el mismo capital, múltiples negocios.</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'Diworsification': lanzar productos que NO comparten activo. Sin activo común no hay economía de alcance, solo dispersión.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A9EFF"/>
                </a:solidFill>
                <a:latin typeface="Calibri"/>
              </a:rPr>
              <a:t>CONCEPTO 07 · RANKING #9</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Costo marginal ≈ cero</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Shapiro &amp; Varian</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Information Rules (1999)</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8</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A9EFF"/>
                </a:solidFill>
                <a:latin typeface="Calibri"/>
              </a:rPr>
              <a:t>QUÉ ES.  </a:t>
            </a:r>
            <a:r>
              <a:rPr sz="1250" b="1" i="0">
                <a:solidFill>
                  <a:srgbClr val="1A2B4A"/>
                </a:solidFill>
                <a:latin typeface="Calibri"/>
              </a:rPr>
              <a:t>Producir la información cuesta mucho; copiarla cuesta casi nada. Precio por costo = suicidio; hay que preciar por valor.</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 (Shapiro-Varian)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'La información es cara de producir y barata de reproducir'. La primera copia lleva el costo; el resto tiende a cero.</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El pricing NO se basa en costo sino en valor y segmentación: freemium, tiers, versioning, discriminación de precios.</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El costo marginal reaparece con la IA: cada inferencia consume computo real. La IA rompe parcialmente el 'marginal cero' clásico.</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Si el marginal es ~0 (SaaS puro): optimizá adopción, no costo. Si es &gt;0 (IA): diseñá caché, routing a modelos chicos, y pricing por uso.</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Windows, Photoshop, Spotify: el catálogo cuesta lo mismo servirlo a uno o a millones. La IA (OpenAI) reintroduce costo variable.</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Regalar producto asumiendo marginal cero cuando en realidad cada usuario te cuesta GPU. Es el error mortal de muchas apps de IA.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82296" cy="514350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640" y="0"/>
            <a:ext cx="4023360" cy="5143500"/>
          </a:xfrm>
          <a:prstGeom prst="rect">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4206240" cy="182880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1000" b="1" i="0">
                <a:solidFill>
                  <a:srgbClr val="4CAF50"/>
                </a:solidFill>
                <a:latin typeface="Calibri"/>
              </a:rPr>
              <a:t>02</a:t>
            </a:r>
          </a:p>
        </p:txBody>
      </p:sp>
      <p:sp>
        <p:nvSpPr>
          <p:cNvPr id="7" name="Rectangle 6"/>
          <p:cNvSpPr/>
          <p:nvPr/>
        </p:nvSpPr>
        <p:spPr>
          <a:xfrm>
            <a:off x="685800" y="2743200"/>
            <a:ext cx="2194560" cy="36576"/>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926080"/>
            <a:ext cx="4572000" cy="10972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3000" b="1" i="0">
                <a:solidFill>
                  <a:srgbClr val="FFFFFF"/>
                </a:solidFill>
                <a:latin typeface="Calibri"/>
              </a:rPr>
              <a:t>El bien digital y los cinco capitales</a:t>
            </a:r>
          </a:p>
        </p:txBody>
      </p:sp>
      <p:sp>
        <p:nvSpPr>
          <p:cNvPr id="9" name="TextBox 8"/>
          <p:cNvSpPr txBox="1"/>
          <p:nvPr/>
        </p:nvSpPr>
        <p:spPr>
          <a:xfrm>
            <a:off x="5486400" y="1554480"/>
            <a:ext cx="3291840" cy="2377440"/>
          </a:xfrm>
          <a:prstGeom prst="rect">
            <a:avLst/>
          </a:prstGeom>
          <a:noFill/>
        </p:spPr>
        <p:txBody>
          <a:bodyPr wrap="square" anchor="t" lIns="12700" rIns="12700" tIns="12700" bIns="12700">
            <a:spAutoFit/>
          </a:bodyPr>
          <a:lstStyle/>
          <a:p>
            <a:pPr algn="l">
              <a:lnSpc>
                <a:spcPct val="120000"/>
              </a:lnSpc>
              <a:spcBef>
                <a:spcPts val="0"/>
              </a:spcBef>
              <a:spcAft>
                <a:spcPts val="200"/>
              </a:spcAft>
            </a:pPr>
            <a:r>
              <a:rPr sz="1300" b="0" i="0">
                <a:solidFill>
                  <a:srgbClr val="B0BEC5"/>
                </a:solidFill>
                <a:latin typeface="Calibri"/>
              </a:rPr>
              <a:t>Romer ganó el Nobel por una idea simple y explosiva: el conocimiento es no-rival. De ahí nace el crecimiento moderno — y el balance real de una empresa de software.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CAF50"/>
                </a:solidFill>
                <a:latin typeface="Calibri"/>
              </a:rPr>
              <a:t>CONCEPTO 08 · ACTO II</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Bienes rivales</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Samuelson</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teoría de bienes públicos</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9</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CAF50"/>
                </a:solidFill>
                <a:latin typeface="Calibri"/>
              </a:rPr>
              <a:t>QUÉ ES.  </a:t>
            </a:r>
            <a:r>
              <a:rPr sz="1250" b="1" i="0">
                <a:solidFill>
                  <a:srgbClr val="1A2B4A"/>
                </a:solidFill>
                <a:latin typeface="Calibri"/>
              </a:rPr>
              <a:t>Si yo lo uso, vos no podés usarlo al mismo tiempo. La silla, el litro de nafta, la GPU-hora: se consumen.</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La rivalidad es la raíz de la escasez y de los rendimientos decrecientes. Repartir un bien rival es un juego de suma cero.</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ingeniería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En tu stack, lo rival es la infraestructura: CPU, RAM, ancho de banda, cuota de API. Cuesta por unidad y se agota.</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El computo de entrenamiento e inferencia es intensamente rival: por eso Nvidia captura tanto valor. La GPU es el 'petróleo' de la IA.</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Identificá tus insumos rivales (compute, storage) y tratalos como escasos: cuotas, autoscaling, FinOps. Ahí está tu COGS real.</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Nvidia vale billones porque vende el recurso rival crítico de la era IA. La escasez física se paga.</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Olvidar que debajo del bit no-rival hay átomos rivales (datacenters, chips). La nube no elimina la escasez, la esconde.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CAF50"/>
                </a:solidFill>
                <a:latin typeface="Calibri"/>
              </a:rPr>
              <a:t>CONCEPTO 09 · RANKING #6</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Bienes no-rivales</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Paul Romer</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Endogenous Tech. Change (1990)</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10</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CAF50"/>
                </a:solidFill>
                <a:latin typeface="Calibri"/>
              </a:rPr>
              <a:t>QUÉ ES.  </a:t>
            </a:r>
            <a:r>
              <a:rPr sz="1250" b="1" i="0">
                <a:solidFill>
                  <a:srgbClr val="1A2B4A"/>
                </a:solidFill>
                <a:latin typeface="Calibri"/>
              </a:rPr>
              <a:t>El uso simultáneo no lo desgasta. Un teorema, un algoritmo, una línea de código: infinitas personas lo usan a la vez sin quitárselo a nadie.</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 (Romer)</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Es LA propiedad que rompe los rendimientos decrecientes. Duplicar una economía con conocimiento no-rival MÁS que duplica su output.</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Tu código y tu know-how son no-rivales: escribís una función de pricing una vez y corre para cada cliente, gratis, para siempre.</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Los pesos de un modelo son no-rivales: se copian y sirven sin límite. El costo está en crearlos, no en usarlos.</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Maximizá la fracción no-rival de tu producto: convertí trabajo manual (rival) en código/config/modelo (no-rival) siempre que puedas.</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Open source (Linux, Postgres): conocimiento no-rival que sostiene medio internet sin desgastarse.</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Tratar el conocimiento como rival: silos, 'no inventado aquí', reescribir lo que ya existe. Desperdiciás la propiedad más valiosa que tenés.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CAF50"/>
                </a:solidFill>
                <a:latin typeface="Calibri"/>
              </a:rPr>
              <a:t>CONCEPTO 10 · ACTO II</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Bienes parcialmente excluibles</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Paul Romer</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Endogenous Tech. Change (1990)</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11</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CAF50"/>
                </a:solidFill>
                <a:latin typeface="Calibri"/>
              </a:rPr>
              <a:t>QUÉ ES.  </a:t>
            </a:r>
            <a:r>
              <a:rPr sz="1250" b="1" i="0">
                <a:solidFill>
                  <a:srgbClr val="1A2B4A"/>
                </a:solidFill>
                <a:latin typeface="Calibri"/>
              </a:rPr>
              <a:t>No-rival no significa gratis: podés excluir parcialmente con patentes, secreto, copyright o control de acceso. Esa exclusión crea el incentivo a innovar.</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 (Romer)</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Romer: la tecnología es no-rival PERO parcialmente excluible. Esa exclusión imperfecta es lo que hace rentable invertir en I+D.</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Tu exclusión es técnica y legal: auth, API keys, cloud (no envías binario), términos de servicio. Vendés acceso, no la copia.</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Los pesos abiertos vs cerrados son una decisión de excluibilidad. Meta (Llama abierto) vs OpenAI (cerrado): dos estrategias de exclusión.</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Elegí tu mecanismo de exclusión: SaaS (no entregás binario) suele ser mejor moat que licencia on-prem. El servidor ES tu patente.</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Google no patenta PageRank a fondo: lo esconde tras el servicio. Coca-Cola: secreto &gt; patente (la patente expira, el secreto no).</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Exclusión demasiado fuerte (patente-trol, lock legal agresivo) ahoga los spillovers y la adopción. El óptimo es intermedio.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CAF50"/>
                </a:solidFill>
                <a:latin typeface="Calibri"/>
              </a:rPr>
              <a:t>CONCEPTO 11 · LOS 5 CAPITALES</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Capital físico</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economía clásica</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12</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CAF50"/>
                </a:solidFill>
                <a:latin typeface="Calibri"/>
              </a:rPr>
              <a:t>QUÉ ES.  </a:t>
            </a:r>
            <a:r>
              <a:rPr sz="1250" b="1" i="0">
                <a:solidFill>
                  <a:srgbClr val="1A2B4A"/>
                </a:solidFill>
                <a:latin typeface="Calibri"/>
              </a:rPr>
              <a:t>Máquinas, edificios, servidores: se compran, se deprecian, se desgastan. El capital que la contabilidad sabe medir.</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Rival y depreciable. Rinde decreciente: la máquina 100 agrega menos que la 10. Es la base sobre la que se construyó la economía industrial.</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En software es tu infra: datacenters propios o nube. Cada vez más se alquila (opex) en vez de comprarse (capex): la nube volvió variable el capital físico.</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Los clusters de GPU son el nuevo capital físico estratégico. Quien los controla (hyperscalers) tiene poder estructural en la IA.</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Decisión capex vs opex: nube para elasticidad, propio para escala predecible y margen. FinOps es la nueva gestión de capital físico.</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Tesla (gigafactories), Amazon (datacenters): incluso las tech más valiosas necesitan átomos, pero los tratan como palanca, no como fin.</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Sobre-invertir en capital físico propio antes de tener demanda probada: te clava costos fijos que matan la flexibilidad.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CAF50"/>
                </a:solidFill>
                <a:latin typeface="Calibri"/>
              </a:rPr>
              <a:t>CONCEPTO 12 · LOS 5 CAPITALES</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Capital intelectual</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Brynjolfsson · Romer</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Second Machine Age</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13</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CAF50"/>
                </a:solidFill>
                <a:latin typeface="Calibri"/>
              </a:rPr>
              <a:t>QUÉ ES.  </a:t>
            </a:r>
            <a:r>
              <a:rPr sz="1250" b="1" i="0">
                <a:solidFill>
                  <a:srgbClr val="1A2B4A"/>
                </a:solidFill>
                <a:latin typeface="Calibri"/>
              </a:rPr>
              <a:t>Patentes, algoritmos, diseños, know-how: el conocimiento codificado que produce valor sin desgastarse. El primer capital no-rival.</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No aparece en el balance, pero es el activo que más vale. Es el 'diseño' de Romer: la receta que se reutiliza infinitas veces.</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En SaaS es tu arquitectura, tus algoritmos propios, tu comprensión del dominio. Se acumula en la cabeza del equipo y en el código.</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Un método de entrenamiento, una arquitectura (Transformer), un dataset curado: capital intelectual que define quién lidera la IA.</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Codificá el conocimiento: documentación, tests como especificación, ADRs. El conocimiento tácito no escala; el codificado sí.</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ARM (diseños de chips, no fábricas), Qualcomm (patentes): empresas cuyo activo es puro capital intelectual.</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Dejar el capital intelectual solo en las cabezas: si se va la persona, se va el activo. La rotación destruye capital no medido.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CAF50"/>
                </a:solidFill>
                <a:latin typeface="Calibri"/>
              </a:rPr>
              <a:t>CONCEPTO 13 · LOS 5 CAPITALES</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Capital de software</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capital digital</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14</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CAF50"/>
                </a:solidFill>
                <a:latin typeface="Calibri"/>
              </a:rPr>
              <a:t>QUÉ ES.  </a:t>
            </a:r>
            <a:r>
              <a:rPr sz="1250" b="1" i="0">
                <a:solidFill>
                  <a:srgbClr val="1A2B4A"/>
                </a:solidFill>
                <a:latin typeface="Calibri"/>
              </a:rPr>
              <a:t>El código en producción es un activo vivo: se escribe una vez y trabaja para siempre, 24/7, sin sueldo. Un empleado no-rival que nunca duerme.</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Cada línea útil es capital que compone: automatiza una tarea hoy y todos los días siguientes. Pero también se deprecia (deuda técnica).</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Tu codebase es el activo central del SaaS. Cada abstracción reutilizable multiplica la productividad futura del equipo.</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Los agentes de IA convierten intención en software: bajan el costo de crear capital de software, y suben el valor de saber QUÉ construir.</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Tratá el código como capital: invertí en reutilización y paga la deuda técnica (depreciación). Un legacy no mantenido es capital que se oxida.</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Stripe, Shopify: su codebase es un activo que procesa miles de millones sin intervención humana proporcional.</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Acumular código como pasivo, no como activo: features que nadie usa son capital muerto que igual hay que mantener.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CAF50"/>
                </a:solidFill>
                <a:latin typeface="Calibri"/>
              </a:rPr>
              <a:t>CONCEPTO 14 · LOS 5 CAPITALES</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Capital de datos</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data as capital</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15</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CAF50"/>
                </a:solidFill>
                <a:latin typeface="Calibri"/>
              </a:rPr>
              <a:t>QUÉ ES.  </a:t>
            </a:r>
            <a:r>
              <a:rPr sz="1250" b="1" i="0">
                <a:solidFill>
                  <a:srgbClr val="1A2B4A"/>
                </a:solidFill>
                <a:latin typeface="Calibri"/>
              </a:rPr>
              <a:t>Los datos que capturás hoy son el insumo de la inteligencia de mañana. El único capital que un competidor no puede comprar retroactivamente.</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A diferencia del código (copiable), tus datos propietarios son únicos e históricos. Nadie puede rehacer 5 años de comportamiento de tus usuarios.</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Instrumentá TODO desde el día uno: cada evento es capital que se acumula. El dato no capturado se pierde para siempre.</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El dato es el combustible del modelo. Data network effects: más uso → más datos → mejor modelo → más uso. El flywheel definitivo.</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Diseñá el esquema de eventos antes que las features: logging, event sourcing, data lake. La arquitectura de datos ES la estrategia.</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Google (búsquedas), Tesla (millones de km de conducción), Bloomberg (décadas de datos financieros): moats de datos irreplicables.</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No versionar ni archivar el histórico: si sobreescribís, no acumulás capital de datos, solo tenés una foto. El compounding se pierde.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CAF50"/>
                </a:solidFill>
                <a:latin typeface="Calibri"/>
              </a:rPr>
              <a:t>CONCEPTO 15 · LOS 5 CAPITALES</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Capital organizacional</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Brynjolfsson</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Second Machine Age</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16</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CAF50"/>
                </a:solidFill>
                <a:latin typeface="Calibri"/>
              </a:rPr>
              <a:t>QUÉ ES.  </a:t>
            </a:r>
            <a:r>
              <a:rPr sz="1250" b="1" i="0">
                <a:solidFill>
                  <a:srgbClr val="1A2B4A"/>
                </a:solidFill>
                <a:latin typeface="Calibri"/>
              </a:rPr>
              <a:t>Procesos, cultura, coordinación: la capacidad de la empresa para ejecutar. El capital más difícil de copiar porque es tácito y sistémico.</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Brynjolfsson: el software rinde solo si se combina con capital organizacional (procesos rediseñados). La tecnología sin organización no productiviza.</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Tu velocidad de deploy, tu on-call, tu manera de tomar decisiones: eso es capital organizacional. Compone o se degrada con cada contratación.</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La IA amplifica organizaciones buenas y destruye las malas: automatiza el proceso que ya tenés. Basura entra, basura sale, más rápido.</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Codificá la organización: CI/CD, runbooks, IaC, on-call rotations. El proceso repetible es capital; el heroísmo individual, no.</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Toyota (sistema de producción), Amazon (mecanismos, '2-pizza teams'): su ventaja es organizacional, no tecnológica.</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Comprar tecnología esperando resultados sin rediseñar procesos: el capital organizacional viejo neutraliza el software nuevo.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CAF50"/>
                </a:solidFill>
                <a:latin typeface="Calibri"/>
              </a:rPr>
              <a:t>CONCEPTO 16 · RANKING #2</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Crecimiento endógeno</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Paul Romer</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Endogenous Tech. Change (1990)</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17</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CAF50"/>
                </a:solidFill>
                <a:latin typeface="Calibri"/>
              </a:rPr>
              <a:t>QUÉ ES.  </a:t>
            </a:r>
            <a:r>
              <a:rPr sz="1250" b="1" i="0">
                <a:solidFill>
                  <a:srgbClr val="1A2B4A"/>
                </a:solidFill>
                <a:latin typeface="Calibri"/>
              </a:rPr>
              <a:t>El crecimiento no cae del cielo: lo generan decisiones deliberadas de invertir en conocimiento. El motor está DENTRO del modelo.</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 (Romer)</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Solow dejaba la tecnología como 'maná' exógeno. Romer la endogenizó: firmas maximizadoras invierten en I+D porque la exclusión parcial lo hace rentable.</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Tu I+D no es un costo: es la inversión que crea el activo no-rival que compone. El presupuesto de R&amp;D es la tasa de crecimiento futura.</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Los labs de IA son crecimiento endógeno puro: reinvierten para producir el próximo modelo, que baja el costo de producir el siguiente.</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Presupuestá el conocimiento como inversión, no como gasto. La proporción de tu equipo en 'crear capability' vs 'mantener' define tu techo.</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EE.UU. produce 10x más output/hora que hace un siglo: acumulación deliberada de conocimiento, no más tierra ni más gente.</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Recortar I+D en la crisis para 'salvar margen': matás el motor endógeno y quedás en rendimientos decrecientes.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CAF50"/>
                </a:solidFill>
                <a:latin typeface="Calibri"/>
              </a:rPr>
              <a:t>CONCEPTO 17 · ACTO II</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Conocimiento acumulativo</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Romer · Arthur</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18</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CAF50"/>
                </a:solidFill>
                <a:latin typeface="Calibri"/>
              </a:rPr>
              <a:t>QUÉ ES.  </a:t>
            </a:r>
            <a:r>
              <a:rPr sz="1250" b="1" i="0">
                <a:solidFill>
                  <a:srgbClr val="1A2B4A"/>
                </a:solidFill>
                <a:latin typeface="Calibri"/>
              </a:rPr>
              <a:t>Cada idea nueva se para sobre las anteriores. El stock de conocimiento crece y hace MÁS productivo a quien investiga después. Compone.</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'Estamos parados sobre hombros de gigantes' es economía, no poesía: el conocimiento previo es insumo gratuito del conocimiento nuevo.</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Tu librería interna, tus componentes, tus playbooks: cada proyecto arranca desde un piso más alto. La organización que documenta, compone.</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Cada modelo se entrena sobre técnicas, datasets y arquitecturas previas. El conocimiento acumulado acelera el próximo salto (GPT→…).</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Construí abstracciones reutilizables en vez de resolver el mismo problema dos veces. El monorepo bien diseñado es conocimiento acumulativo.</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Ciencia abierta, arXiv, GitHub: infraestructura de acumulación que acelera todo el sector a la vez.</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Reinventar la rueda por ego o por silos: cada reescritura desde cero tira a la basura conocimiento acumulado.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CAF50"/>
                </a:solidFill>
                <a:latin typeface="Calibri"/>
              </a:rPr>
              <a:t>CONCEPTO 18 · RANKING #12</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Spillovers de conocimiento</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Paul Romer</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Endogenous Tech. Change (1990)</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19</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CAF50"/>
                </a:solidFill>
                <a:latin typeface="Calibri"/>
              </a:rPr>
              <a:t>QUÉ ES.  </a:t>
            </a:r>
            <a:r>
              <a:rPr sz="1250" b="1" i="0">
                <a:solidFill>
                  <a:srgbClr val="1A2B4A"/>
                </a:solidFill>
                <a:latin typeface="Calibri"/>
              </a:rPr>
              <a:t>El conocimiento se derrama: no podés contener del todo lo que sabés. Tu innovación beneficia a otros — y las de ellos, a vos.</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 (Romer)</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Romer: los spillovers hacen que, en equilibrio, se invierta MENOS en I+D de lo socialmente óptimo. Pero para el ecosistema, aceleran todo.</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Por qué existe Silicon Valley</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Trabajar cerca de otros que saben te hace mejor gratis. Por eso existen los clústers y por qué el talento se concentra.</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Papers abiertos, pesos liberados, benchmarks públicos: la IA avanza por spillovers masivos. Publicar acelera a todos, incluido vos.</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Aprovechá spillovers: open source, conferencias, contratar de empresas líderes. Y decidí qué NO derramar (tu dato, tu distribución).</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Silicon Valley vs Route 128: Saxenian mostró que la región abierta (spillovers) ganó a la cerrada. La porosidad es ventaja.</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Intentar capturar el 100% del conocimiento (cero spillover): te aislás del ecosistema que te haría avanzar más rápido.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CAF50"/>
                </a:solidFill>
                <a:latin typeface="Calibri"/>
              </a:rPr>
              <a:t>CONCEPTO 19 · RANKING #11</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Innovación combinatoria</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W. Brian Arthur</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The Nature of Technology</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20</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CAF50"/>
                </a:solidFill>
                <a:latin typeface="Calibri"/>
              </a:rPr>
              <a:t>QUÉ ES.  </a:t>
            </a:r>
            <a:r>
              <a:rPr sz="1250" b="1" i="0">
                <a:solidFill>
                  <a:srgbClr val="1A2B4A"/>
                </a:solidFill>
                <a:latin typeface="Calibri"/>
              </a:rPr>
              <a:t>Las tecnologías nuevas son combinaciones de las existentes. Cuantas más piezas hay, más combinaciones posibles: la innovación se acelera sola.</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 (Arthur)</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Arthur: la tecnología evoluciona como un lenguaje. El iPhone = teléfono + iPod + navegador + GPS + cámara. Nada nuevo; todo recombinado.</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Las APIs son piezas combinables. Stripe + Twilio + Auth0 + AWS = un producto en semanas que antes tomaba años. Componés, no construís.</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La IA es la pieza combinable definitiva: se enchufa a todo. Cada API de modelo multiplica las combinaciones posibles del ecosistema.</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Diseñá para ser combinable (APIs limpias, webhooks, SDKs) y para combinar (no construyas lo que podés integrar). Componibilidad = velocidad.</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El ecosistema de APIs (Stripe, Plaid, Twilio): innovación combinatoria industrializada. Brynjolfsson lo llama el motor del crecimiento digital.</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Construir todo in-house 'para controlar': perdés la velocidad combinatoria. El que combina llega primero.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CAF50"/>
                </a:solidFill>
                <a:latin typeface="Calibri"/>
              </a:rPr>
              <a:t>SÍNTESIS ACTO II</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El balance real de una empresa de software</a:t>
            </a:r>
          </a:p>
        </p:txBody>
      </p:sp>
      <p:sp>
        <p:nvSpPr>
          <p:cNvPr id="7" name="Rectangle 6"/>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9" name="TextBox 8"/>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21</a:t>
            </a:r>
          </a:p>
        </p:txBody>
      </p:sp>
      <p:sp>
        <p:nvSpPr>
          <p:cNvPr id="10" name="Rounded Rectangle 9"/>
          <p:cNvSpPr/>
          <p:nvPr/>
        </p:nvSpPr>
        <p:spPr>
          <a:xfrm>
            <a:off x="320040" y="960120"/>
            <a:ext cx="4206240" cy="3749039"/>
          </a:xfrm>
          <a:prstGeom prst="roundRect">
            <a:avLst>
              <a:gd name="adj" fmla="val 4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20040" y="960120"/>
            <a:ext cx="4206240" cy="420624"/>
          </a:xfrm>
          <a:prstGeom prst="roundRect">
            <a:avLst>
              <a:gd name="adj" fmla="val 8000"/>
            </a:avLst>
          </a:prstGeom>
          <a:solidFill>
            <a:srgbClr val="6B7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170432"/>
            <a:ext cx="4206240" cy="210312"/>
          </a:xfrm>
          <a:prstGeom prst="rect">
            <a:avLst/>
          </a:prstGeom>
          <a:solidFill>
            <a:srgbClr val="6B7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 y="960120"/>
            <a:ext cx="3931920" cy="420624"/>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150" b="1" i="0">
                <a:solidFill>
                  <a:srgbClr val="FFFFFF"/>
                </a:solidFill>
                <a:latin typeface="Calibri"/>
              </a:rPr>
              <a:t>Lo que la contabilidad mide</a:t>
            </a:r>
          </a:p>
        </p:txBody>
      </p:sp>
      <p:sp>
        <p:nvSpPr>
          <p:cNvPr id="14" name="TextBox 13"/>
          <p:cNvSpPr txBox="1"/>
          <p:nvPr/>
        </p:nvSpPr>
        <p:spPr>
          <a:xfrm>
            <a:off x="484632" y="1481328"/>
            <a:ext cx="3886200" cy="3108960"/>
          </a:xfrm>
          <a:prstGeom prst="rect">
            <a:avLst/>
          </a:prstGeom>
          <a:noFill/>
        </p:spPr>
        <p:txBody>
          <a:bodyPr wrap="square" anchor="t" lIns="12700" rIns="12700" tIns="12700" bIns="12700">
            <a:spAutoFit/>
          </a:bodyPr>
          <a:lstStyle/>
          <a:p>
            <a:pPr algn="l">
              <a:lnSpc>
                <a:spcPct val="106000"/>
              </a:lnSpc>
              <a:spcBef>
                <a:spcPts val="0"/>
              </a:spcBef>
              <a:spcAft>
                <a:spcPts val="500"/>
              </a:spcAft>
            </a:pPr>
            <a:r>
              <a:rPr sz="940" b="1" i="0">
                <a:solidFill>
                  <a:srgbClr val="6B7A8D"/>
                </a:solidFill>
                <a:latin typeface="Calibri"/>
              </a:rPr>
              <a:t>Capital físico  </a:t>
            </a:r>
            <a:r>
              <a:rPr sz="940" b="0" i="0">
                <a:solidFill>
                  <a:srgbClr val="30435C"/>
                </a:solidFill>
                <a:latin typeface="Calibri"/>
              </a:rPr>
              <a:t>servidores, oficinas — rival, deprecia, rinde decreciente</a:t>
            </a:r>
          </a:p>
          <a:p>
            <a:pPr algn="l">
              <a:lnSpc>
                <a:spcPct val="106000"/>
              </a:lnSpc>
              <a:spcBef>
                <a:spcPts val="0"/>
              </a:spcBef>
              <a:spcAft>
                <a:spcPts val="500"/>
              </a:spcAft>
            </a:pPr>
            <a:r>
              <a:rPr sz="940" b="1" i="0">
                <a:solidFill>
                  <a:srgbClr val="6B7A8D"/>
                </a:solidFill>
                <a:latin typeface="Calibri"/>
              </a:rPr>
              <a:t>Caja y activos  </a:t>
            </a:r>
            <a:r>
              <a:rPr sz="940" b="0" i="0">
                <a:solidFill>
                  <a:srgbClr val="30435C"/>
                </a:solidFill>
                <a:latin typeface="Calibri"/>
              </a:rPr>
              <a:t>lo único que el balance refleja bien</a:t>
            </a:r>
          </a:p>
          <a:p>
            <a:pPr algn="l">
              <a:lnSpc>
                <a:spcPct val="106000"/>
              </a:lnSpc>
              <a:spcBef>
                <a:spcPts val="0"/>
              </a:spcBef>
              <a:spcAft>
                <a:spcPts val="500"/>
              </a:spcAft>
            </a:pPr>
            <a:r>
              <a:rPr sz="940" b="1" i="0">
                <a:solidFill>
                  <a:srgbClr val="6B7A8D"/>
                </a:solidFill>
                <a:latin typeface="Calibri"/>
              </a:rPr>
              <a:t>Resultado  </a:t>
            </a:r>
            <a:r>
              <a:rPr sz="940" b="0" i="0">
                <a:solidFill>
                  <a:srgbClr val="30435C"/>
                </a:solidFill>
                <a:latin typeface="Calibri"/>
              </a:rPr>
              <a:t>subvalúa masivamente a las tech (Brynjolfsson)</a:t>
            </a:r>
          </a:p>
        </p:txBody>
      </p:sp>
      <p:sp>
        <p:nvSpPr>
          <p:cNvPr id="15" name="Rounded Rectangle 14"/>
          <p:cNvSpPr/>
          <p:nvPr/>
        </p:nvSpPr>
        <p:spPr>
          <a:xfrm>
            <a:off x="4617720" y="960120"/>
            <a:ext cx="4206240" cy="3749039"/>
          </a:xfrm>
          <a:prstGeom prst="roundRect">
            <a:avLst>
              <a:gd name="adj" fmla="val 4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17720" y="960120"/>
            <a:ext cx="4206240" cy="420624"/>
          </a:xfrm>
          <a:prstGeom prst="roundRect">
            <a:avLst>
              <a:gd name="adj" fmla="val 8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170432"/>
            <a:ext cx="4206240" cy="21031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45736" y="960120"/>
            <a:ext cx="3931920" cy="420624"/>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150" b="1" i="0">
                <a:solidFill>
                  <a:srgbClr val="FFFFFF"/>
                </a:solidFill>
                <a:latin typeface="Calibri"/>
              </a:rPr>
              <a:t>Lo que crea el valor (intangible)</a:t>
            </a:r>
          </a:p>
        </p:txBody>
      </p:sp>
      <p:sp>
        <p:nvSpPr>
          <p:cNvPr id="19" name="TextBox 18"/>
          <p:cNvSpPr txBox="1"/>
          <p:nvPr/>
        </p:nvSpPr>
        <p:spPr>
          <a:xfrm>
            <a:off x="4782312" y="1481328"/>
            <a:ext cx="3886200" cy="3108960"/>
          </a:xfrm>
          <a:prstGeom prst="rect">
            <a:avLst/>
          </a:prstGeom>
          <a:noFill/>
        </p:spPr>
        <p:txBody>
          <a:bodyPr wrap="square" anchor="t" lIns="12700" rIns="12700" tIns="12700" bIns="12700">
            <a:spAutoFit/>
          </a:bodyPr>
          <a:lstStyle/>
          <a:p>
            <a:pPr algn="l">
              <a:lnSpc>
                <a:spcPct val="106000"/>
              </a:lnSpc>
              <a:spcBef>
                <a:spcPts val="0"/>
              </a:spcBef>
              <a:spcAft>
                <a:spcPts val="500"/>
              </a:spcAft>
            </a:pPr>
            <a:r>
              <a:rPr sz="940" b="1" i="0">
                <a:solidFill>
                  <a:srgbClr val="4CAF50"/>
                </a:solidFill>
                <a:latin typeface="Calibri"/>
              </a:rPr>
              <a:t>Intelectual  </a:t>
            </a:r>
            <a:r>
              <a:rPr sz="940" b="0" i="0">
                <a:solidFill>
                  <a:srgbClr val="30435C"/>
                </a:solidFill>
                <a:latin typeface="Calibri"/>
              </a:rPr>
              <a:t>algoritmos, know-how — no-rival, compone</a:t>
            </a:r>
          </a:p>
          <a:p>
            <a:pPr algn="l">
              <a:lnSpc>
                <a:spcPct val="106000"/>
              </a:lnSpc>
              <a:spcBef>
                <a:spcPts val="0"/>
              </a:spcBef>
              <a:spcAft>
                <a:spcPts val="500"/>
              </a:spcAft>
            </a:pPr>
            <a:r>
              <a:rPr sz="940" b="1" i="0">
                <a:solidFill>
                  <a:srgbClr val="4CAF50"/>
                </a:solidFill>
                <a:latin typeface="Calibri"/>
              </a:rPr>
              <a:t>Software  </a:t>
            </a:r>
            <a:r>
              <a:rPr sz="940" b="0" i="0">
                <a:solidFill>
                  <a:srgbClr val="30435C"/>
                </a:solidFill>
                <a:latin typeface="Calibri"/>
              </a:rPr>
              <a:t>código en producción — trabaja 24/7 sin sueldo</a:t>
            </a:r>
          </a:p>
          <a:p>
            <a:pPr algn="l">
              <a:lnSpc>
                <a:spcPct val="106000"/>
              </a:lnSpc>
              <a:spcBef>
                <a:spcPts val="0"/>
              </a:spcBef>
              <a:spcAft>
                <a:spcPts val="500"/>
              </a:spcAft>
            </a:pPr>
            <a:r>
              <a:rPr sz="940" b="1" i="0">
                <a:solidFill>
                  <a:srgbClr val="4CAF50"/>
                </a:solidFill>
                <a:latin typeface="Calibri"/>
              </a:rPr>
              <a:t>Datos  </a:t>
            </a:r>
            <a:r>
              <a:rPr sz="940" b="0" i="0">
                <a:solidFill>
                  <a:srgbClr val="30435C"/>
                </a:solidFill>
                <a:latin typeface="Calibri"/>
              </a:rPr>
              <a:t>histórico propietario — irreplicable</a:t>
            </a:r>
          </a:p>
          <a:p>
            <a:pPr algn="l">
              <a:lnSpc>
                <a:spcPct val="106000"/>
              </a:lnSpc>
              <a:spcBef>
                <a:spcPts val="0"/>
              </a:spcBef>
              <a:spcAft>
                <a:spcPts val="500"/>
              </a:spcAft>
            </a:pPr>
            <a:r>
              <a:rPr sz="940" b="1" i="0">
                <a:solidFill>
                  <a:srgbClr val="4CAF50"/>
                </a:solidFill>
                <a:latin typeface="Calibri"/>
              </a:rPr>
              <a:t>Organizacional  </a:t>
            </a:r>
            <a:r>
              <a:rPr sz="940" b="0" i="0">
                <a:solidFill>
                  <a:srgbClr val="30435C"/>
                </a:solidFill>
                <a:latin typeface="Calibri"/>
              </a:rPr>
              <a:t>procesos y cultura — el más difícil de copiar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82296" cy="5143500"/>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640" y="0"/>
            <a:ext cx="4023360" cy="5143500"/>
          </a:xfrm>
          <a:prstGeom prst="rect">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4206240" cy="182880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1000" b="1" i="0">
                <a:solidFill>
                  <a:srgbClr val="FF8C42"/>
                </a:solidFill>
                <a:latin typeface="Calibri"/>
              </a:rPr>
              <a:t>03</a:t>
            </a:r>
          </a:p>
        </p:txBody>
      </p:sp>
      <p:sp>
        <p:nvSpPr>
          <p:cNvPr id="7" name="Rectangle 6"/>
          <p:cNvSpPr/>
          <p:nvPr/>
        </p:nvSpPr>
        <p:spPr>
          <a:xfrm>
            <a:off x="685800" y="2743200"/>
            <a:ext cx="2194560" cy="36576"/>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926080"/>
            <a:ext cx="4572000" cy="10972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3000" b="1" i="0">
                <a:solidFill>
                  <a:srgbClr val="FFFFFF"/>
                </a:solidFill>
                <a:latin typeface="Calibri"/>
              </a:rPr>
              <a:t>Por qué el ganador se queda con (casi) todo</a:t>
            </a:r>
          </a:p>
        </p:txBody>
      </p:sp>
      <p:sp>
        <p:nvSpPr>
          <p:cNvPr id="9" name="TextBox 8"/>
          <p:cNvSpPr txBox="1"/>
          <p:nvPr/>
        </p:nvSpPr>
        <p:spPr>
          <a:xfrm>
            <a:off x="5486400" y="1554480"/>
            <a:ext cx="3291840" cy="2377440"/>
          </a:xfrm>
          <a:prstGeom prst="rect">
            <a:avLst/>
          </a:prstGeom>
          <a:noFill/>
        </p:spPr>
        <p:txBody>
          <a:bodyPr wrap="square" anchor="t" lIns="12700" rIns="12700" tIns="12700" bIns="12700">
            <a:spAutoFit/>
          </a:bodyPr>
          <a:lstStyle/>
          <a:p>
            <a:pPr algn="l">
              <a:lnSpc>
                <a:spcPct val="120000"/>
              </a:lnSpc>
              <a:spcBef>
                <a:spcPts val="0"/>
              </a:spcBef>
              <a:spcAft>
                <a:spcPts val="200"/>
              </a:spcAft>
            </a:pPr>
            <a:r>
              <a:rPr sz="1300" b="0" i="0">
                <a:solidFill>
                  <a:srgbClr val="B0BEC5"/>
                </a:solidFill>
                <a:latin typeface="Calibri"/>
              </a:rPr>
              <a:t>Rendimientos crecientes + retroalimentación positiva = mercados que tienden al monopolio. Aquí viven los moats más poderosos del software.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FF8C42"/>
                </a:solidFill>
                <a:latin typeface="Calibri"/>
              </a:rPr>
              <a:t>CONCEPTO 20 · RANKING #8</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Path dependence (dependencia de la trayectoria)</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W. Brian Arthur</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Increasing Returns (1994)</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22</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FF8C42"/>
                </a:solidFill>
                <a:latin typeface="Calibri"/>
              </a:rPr>
              <a:t>QUÉ ES.  </a:t>
            </a:r>
            <a:r>
              <a:rPr sz="1250" b="1" i="0">
                <a:solidFill>
                  <a:srgbClr val="1A2B4A"/>
                </a:solidFill>
                <a:latin typeface="Calibri"/>
              </a:rPr>
              <a:t>La historia importa: pequeños eventos tempranos, amplificados por feedback, deciden qué tecnología gana — no necesariamente la mejor.</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 (Arthur)</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Arthur con el proceso de Pólya: los primeros adoptantes inclinan la balanza y el sistema se 'bloquea' en un equilibrio. QWERTY ganó por accidente histórico.</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ingeniería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Las decisiones de arquitectura temprana te encierran: tu elección de DB, lenguaje o cloud en el año 1 condiciona la década siguiente.</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El formato de datos, el tokenizer, el estándar de prompt que se adopte primero puede quedar 'bloqueado' aunque no sea óptimo.</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Sé deliberado en decisiones irreversibles tempranas (datos, API pública, formato). Y aprovechá path dependence: llegá primero al estándar.</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QWERTY, VHS vs Betamax, x86, JavaScript en el browser: ganadores por trayectoria, no por superioridad técnica.</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Creer que 'el mejor producto gana'. Ignorar la ventana temporal donde la trayectoria se define es un error estratégico caro.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FF8C42"/>
                </a:solidFill>
                <a:latin typeface="Calibri"/>
              </a:rPr>
              <a:t>CONCEPTO 21 · RANKING #7</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Lock-in tecnológico</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Arthur · Shapiro-Varian</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Information Rules</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23</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FF8C42"/>
                </a:solidFill>
                <a:latin typeface="Calibri"/>
              </a:rPr>
              <a:t>QUÉ ES.  </a:t>
            </a:r>
            <a:r>
              <a:rPr sz="1250" b="1" i="0">
                <a:solidFill>
                  <a:srgbClr val="1A2B4A"/>
                </a:solidFill>
                <a:latin typeface="Calibri"/>
              </a:rPr>
              <a:t>Una vez adentro, salir cuesta caro. El cliente queda 'atrapado' no por contrato sino por el costo real de migrar.</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Shapiro-Varian: el lock-in viene de aprendizaje, datos, complementos y contratos. No es trampa; es fricción estructural de cambiar.</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Datos del cliente en tu esquema, integraciones, workflows aprendidos, automatizaciones: cada uno sube el costo de irse. Ese es tu moat de retención.</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Un asistente de IA que aprendió el contexto de TU empresa (memoria, tono, datos) es carísimo de reemplazar: lock-in por personalización acumulada.</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Construí lock-in legítimo: profundizá integraciones, acumulá configuración y datos del cliente, hacé que el producto se amolde con el uso.</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SAP (migrar un ERP tarda años), AWS (egress + servicios propietarios), iOS (ecosistema): lock-in que sostiene décadas de ingresos.</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Lock-in abusivo (rehén, no valor) genera odio y regulación. El lock-in sano viene de valor acumulado, no de rejas.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FF8C42"/>
                </a:solidFill>
                <a:latin typeface="Calibri"/>
              </a:rPr>
              <a:t>CONCEPTO 22 · ACTO III</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Switching cost (costo de cambio)</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Shapiro &amp; Varian</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Information Rules (1999)</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24</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FF8C42"/>
                </a:solidFill>
                <a:latin typeface="Calibri"/>
              </a:rPr>
              <a:t>QUÉ ES.  </a:t>
            </a:r>
            <a:r>
              <a:rPr sz="1250" b="1" i="0">
                <a:solidFill>
                  <a:srgbClr val="1A2B4A"/>
                </a:solidFill>
                <a:latin typeface="Calibri"/>
              </a:rPr>
              <a:t>La medida concreta del lock-in: todo lo que el cliente debe pagar (dinero, tiempo, riesgo) para cambiar de proveedor.</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Incluye lo obvio (migrar datos) y lo invisible (reentrenar al equipo, rehacer integraciones, riesgo de que algo se rompa).</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Regla de Shapiro-Varian: el valor de un cliente ≈ su switching cost + el margen. Subir el switching cost (con valor) sube el LTV.</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Fine-tuning sobre tus datos, embeddings de tu histórico, memoria del agente: switching costs nuevos que la IA crea.</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Medí el switching cost de tus clientes. Facilitá la ENTRADA (import fácil) y hacé valiosa la PERMANENCIA (acumulación), sin trabar la salida.</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Bloomberg Terminal: US$24k/año y nadie se va — los traders tienen el switching cost (hábito + datos + red) internalizado.</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Confundir switching cost alto con producto bueno: si retenés solo por fricción, un competidor 10x con buen importador te vacía.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FF8C42"/>
                </a:solidFill>
                <a:latin typeface="Calibri"/>
              </a:rPr>
              <a:t>CONCEPTO 23 · RANKING #5</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Efectos de red (network effects)</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Katz &amp; Shapiro · Arthur</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25</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FF8C42"/>
                </a:solidFill>
                <a:latin typeface="Calibri"/>
              </a:rPr>
              <a:t>QUÉ ES.  </a:t>
            </a:r>
            <a:r>
              <a:rPr sz="1250" b="1" i="0">
                <a:solidFill>
                  <a:srgbClr val="1A2B4A"/>
                </a:solidFill>
                <a:latin typeface="Calibri"/>
              </a:rPr>
              <a:t>El producto vale más cuantos más lo usan. Cada usuario nuevo aumenta el valor para todos los demás. La fuente del moat más poderoso.</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Metcalfe: el valor crece con el cuadrado de los usuarios. 4 tipos: directos (mismo lado), indirectos y cruzados (dos lados), locales y globales.</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Directos (WhatsApp: sirve si están tus contactos) o indirectos (más devs → más apps → más usuarios). Identificá cuál tenés y alimentalo.</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Data network effects: más usuarios → más datos → mejor modelo → más usuarios. El efecto de red mediado por aprendizaje (concepto 36).</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Diseñá la 'core interaction' que dispara el efecto. Resolvé el problema huevo-gallina (subsidiar un lado, seed data, single-player value primero).</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Facebook, WhatsApp (US$19.000M, 55 empleados), Visa, Ethereum: valor puro de red. El 2º lugar muchas veces no existe.</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Reclamar 'efectos de red' cuando solo tenés economías de escala. Muchos 'network effects' de pitch son en realidad efectos de marca.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FF8C42"/>
                </a:solidFill>
                <a:latin typeface="Calibri"/>
              </a:rPr>
              <a:t>CONCEPTO 24 · ACTO III</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Flywheel (el volante de inercia)</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Bezos · Jim Collins</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Good to Great</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26</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FF8C42"/>
                </a:solidFill>
                <a:latin typeface="Calibri"/>
              </a:rPr>
              <a:t>QUÉ ES.  </a:t>
            </a:r>
            <a:r>
              <a:rPr sz="1250" b="1" i="0">
                <a:solidFill>
                  <a:srgbClr val="1A2B4A"/>
                </a:solidFill>
                <a:latin typeface="Calibri"/>
              </a:rPr>
              <a:t>Un bucle donde cada parte alimenta la siguiente: al principio cuesta girarlo, pero la inercia acumulada lo vuelve imparable.</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 (Bezos)</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El flywheel de Amazon: precios bajos → más clientes → más vendedores → más selección → mejor experiencia → más clientes. Se retroalimenta.</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Dibujá tu flywheel explícito: ¿qué métrica alimenta a la siguiente? Cada release debería empujar el volante, no ser una feature suelta.</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El flywheel de IA: más uso → más datos → mejor modelo → mejor producto → más uso. El bucle que hace a los líderes inalcanzables.</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Elegí las 3-5 variables del flywheel e instrumentalas. Tu roadmap = 'qué empuja el volante más fuerte'. Todo lo demás es distracción.</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Amazon, Tesla (más autos → más datos → mejor autopilot → más ventas), Uber (densidad → menos espera → más demanda → más conductores).</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Tener features sin flywheel: crecés por fuerza bruta (marketing) en vez de por inercia acumulada. Sin volante, cada mes empezás de cero.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FF8C42"/>
                </a:solidFill>
                <a:latin typeface="Calibri"/>
              </a:rPr>
              <a:t>CONCEPTO 25 · RANKING #14</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Winner-take-most (el ganador se lleva casi todo)</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Arthur · Frank &amp; Cook</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The Winner-Take-All Society</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27</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FF8C42"/>
                </a:solidFill>
                <a:latin typeface="Calibri"/>
              </a:rPr>
              <a:t>QUÉ ES.  </a:t>
            </a:r>
            <a:r>
              <a:rPr sz="1250" b="1" i="0">
                <a:solidFill>
                  <a:srgbClr val="1A2B4A"/>
                </a:solidFill>
                <a:latin typeface="Calibri"/>
              </a:rPr>
              <a:t>En mercados con efectos de red y costo marginal cero, uno o dos jugadores capturan la mayoría del valor. El 3º al 10º se reparten migajas.</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Frank &amp; Cook: la tecnología amplifica pequeñas diferencias de calidad en enormes diferencias de recompensa. 'Casi el mejor' pierde casi todo.</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Implica que tu meta no es 'ser rentable', es 'ser #1 en una categoría definible'. En un mercado winner-take-most, el 2º puesto no financia una empresa.</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En foundation models parece haber lugar para pocos (costo de entrenamiento brutal + efectos de escala), pero la capa de aplicación se fragmenta.</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Elegí un mercado lo bastante chico para dominarlo (Thiel) y con dinámica winner-take-most para que dominarlo valga. Definí la categoría vos.</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Búsqueda (Google ~90%), móvil (iOS/Android), CDN, cloud (3 jugadores): categorías donde el líder captura la mayoría de la renta.</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Entrar a un mercado winner-take-most ya definido, sin un ángulo 10x: te espera el destino del segundo puesto (irrelevancia).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FF8C42"/>
                </a:solidFill>
                <a:latin typeface="Calibri"/>
              </a:rPr>
              <a:t>CONCEPTO 26 · ACTO III</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Monopolios tecnológicos</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Peter Thiel · Schumpeter</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Zero to One</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28</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FF8C42"/>
                </a:solidFill>
                <a:latin typeface="Calibri"/>
              </a:rPr>
              <a:t>QUÉ ES.  </a:t>
            </a:r>
            <a:r>
              <a:rPr sz="1250" b="1" i="0">
                <a:solidFill>
                  <a:srgbClr val="1A2B4A"/>
                </a:solidFill>
                <a:latin typeface="Calibri"/>
              </a:rPr>
              <a:t>Thiel: 'la competencia es para perdedores'. El objetivo no es competir mejor, es construir algo tan único que no tengas competencia.</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 (Thiel)</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Todo negocio genial es un monopolio creativo: resuelve un problema único. La competencia perfecta destruye el margen; el monopolio lo sostiene.</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Las 4 fuentes de monopolio de Thiel: tecnología propietaria (10x mejor), efectos de red, economías de escala y marca. Buscá tener las cuatro.</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La IA abre monopolios de 0→1: capacidades que antes no existían. Pero también comoditiza: si tu único activo es 'llamamos a un LLM', no hay moat.</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No optimices contra competidores; construí lo que ellos no pueden. Empezá monopolizando un nicho chico y expandí (Amazon: libros → todo).</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Google (búsqueda), Windows en su era: monopolios que financiaron décadas de I+D — el argumento de Schumpeter a favor del monopolio innovador.</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Describir tu mercado como enorme para parecer atractivo: te volvés 1% de un océano. Thiel: dominá el 100% de un charco primero.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FF8C42"/>
                </a:solidFill>
                <a:latin typeface="Calibri"/>
              </a:rPr>
              <a:t>PROFUNDIZACIÓN · CONCEPTO 23</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Los cuatro tipos de efecto de red (y cómo se rompe el huevo-gallina)</a:t>
            </a:r>
          </a:p>
        </p:txBody>
      </p:sp>
      <p:sp>
        <p:nvSpPr>
          <p:cNvPr id="7" name="Rectangle 6"/>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9" name="TextBox 8"/>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29</a:t>
            </a:r>
          </a:p>
        </p:txBody>
      </p:sp>
      <p:sp>
        <p:nvSpPr>
          <p:cNvPr id="10" name="Rounded Rectangle 9"/>
          <p:cNvSpPr/>
          <p:nvPr/>
        </p:nvSpPr>
        <p:spPr>
          <a:xfrm>
            <a:off x="320040" y="960120"/>
            <a:ext cx="4206240" cy="3749039"/>
          </a:xfrm>
          <a:prstGeom prst="roundRect">
            <a:avLst>
              <a:gd name="adj" fmla="val 4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20040" y="960120"/>
            <a:ext cx="4206240" cy="420624"/>
          </a:xfrm>
          <a:prstGeom prst="roundRect">
            <a:avLst>
              <a:gd name="adj" fmla="val 8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170432"/>
            <a:ext cx="4206240" cy="210312"/>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 y="960120"/>
            <a:ext cx="3931920" cy="420624"/>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150" b="1" i="0">
                <a:solidFill>
                  <a:srgbClr val="FFFFFF"/>
                </a:solidFill>
                <a:latin typeface="Calibri"/>
              </a:rPr>
              <a:t>Los 4 tipos</a:t>
            </a:r>
          </a:p>
        </p:txBody>
      </p:sp>
      <p:sp>
        <p:nvSpPr>
          <p:cNvPr id="14" name="TextBox 13"/>
          <p:cNvSpPr txBox="1"/>
          <p:nvPr/>
        </p:nvSpPr>
        <p:spPr>
          <a:xfrm>
            <a:off x="484632" y="1481328"/>
            <a:ext cx="3886200" cy="3108960"/>
          </a:xfrm>
          <a:prstGeom prst="rect">
            <a:avLst/>
          </a:prstGeom>
          <a:noFill/>
        </p:spPr>
        <p:txBody>
          <a:bodyPr wrap="square" anchor="t" lIns="12700" rIns="12700" tIns="12700" bIns="12700">
            <a:spAutoFit/>
          </a:bodyPr>
          <a:lstStyle/>
          <a:p>
            <a:pPr algn="l">
              <a:lnSpc>
                <a:spcPct val="106000"/>
              </a:lnSpc>
              <a:spcBef>
                <a:spcPts val="0"/>
              </a:spcBef>
              <a:spcAft>
                <a:spcPts val="500"/>
              </a:spcAft>
            </a:pPr>
            <a:r>
              <a:rPr sz="940" b="1" i="0">
                <a:solidFill>
                  <a:srgbClr val="FF8C42"/>
                </a:solidFill>
                <a:latin typeface="Calibri"/>
              </a:rPr>
              <a:t>Directo mismo-lado  </a:t>
            </a:r>
            <a:r>
              <a:rPr sz="940" b="0" i="0">
                <a:solidFill>
                  <a:srgbClr val="30435C"/>
                </a:solidFill>
                <a:latin typeface="Calibri"/>
              </a:rPr>
              <a:t>más usuarios del mismo tipo suman valor (teléfono, WhatsApp)</a:t>
            </a:r>
          </a:p>
          <a:p>
            <a:pPr algn="l">
              <a:lnSpc>
                <a:spcPct val="106000"/>
              </a:lnSpc>
              <a:spcBef>
                <a:spcPts val="0"/>
              </a:spcBef>
              <a:spcAft>
                <a:spcPts val="500"/>
              </a:spcAft>
            </a:pPr>
            <a:r>
              <a:rPr sz="940" b="1" i="0">
                <a:solidFill>
                  <a:srgbClr val="FF8C42"/>
                </a:solidFill>
                <a:latin typeface="Calibri"/>
              </a:rPr>
              <a:t>Indirecto (cruzado)  </a:t>
            </a:r>
            <a:r>
              <a:rPr sz="940" b="0" i="0">
                <a:solidFill>
                  <a:srgbClr val="30435C"/>
                </a:solidFill>
                <a:latin typeface="Calibri"/>
              </a:rPr>
              <a:t>un lado atrae al otro (iOS: usuarios ↔ devs)</a:t>
            </a:r>
          </a:p>
          <a:p>
            <a:pPr algn="l">
              <a:lnSpc>
                <a:spcPct val="106000"/>
              </a:lnSpc>
              <a:spcBef>
                <a:spcPts val="0"/>
              </a:spcBef>
              <a:spcAft>
                <a:spcPts val="500"/>
              </a:spcAft>
            </a:pPr>
            <a:r>
              <a:rPr sz="940" b="1" i="0">
                <a:solidFill>
                  <a:srgbClr val="FF8C42"/>
                </a:solidFill>
                <a:latin typeface="Calibri"/>
              </a:rPr>
              <a:t>De datos  </a:t>
            </a:r>
            <a:r>
              <a:rPr sz="940" b="0" i="0">
                <a:solidFill>
                  <a:srgbClr val="30435C"/>
                </a:solidFill>
                <a:latin typeface="Calibri"/>
              </a:rPr>
              <a:t>más uso → más datos → mejor producto (concepto 36)</a:t>
            </a:r>
          </a:p>
          <a:p>
            <a:pPr algn="l">
              <a:lnSpc>
                <a:spcPct val="106000"/>
              </a:lnSpc>
              <a:spcBef>
                <a:spcPts val="0"/>
              </a:spcBef>
              <a:spcAft>
                <a:spcPts val="500"/>
              </a:spcAft>
            </a:pPr>
            <a:r>
              <a:rPr sz="940" b="1" i="0">
                <a:solidFill>
                  <a:srgbClr val="FF8C42"/>
                </a:solidFill>
                <a:latin typeface="Calibri"/>
              </a:rPr>
              <a:t>Local vs global  </a:t>
            </a:r>
            <a:r>
              <a:rPr sz="940" b="0" i="0">
                <a:solidFill>
                  <a:srgbClr val="30435C"/>
                </a:solidFill>
                <a:latin typeface="Calibri"/>
              </a:rPr>
              <a:t>Uber es local (por ciudad); Facebook, global</a:t>
            </a:r>
          </a:p>
        </p:txBody>
      </p:sp>
      <p:sp>
        <p:nvSpPr>
          <p:cNvPr id="15" name="Rounded Rectangle 14"/>
          <p:cNvSpPr/>
          <p:nvPr/>
        </p:nvSpPr>
        <p:spPr>
          <a:xfrm>
            <a:off x="4617720" y="960120"/>
            <a:ext cx="4206240" cy="3749039"/>
          </a:xfrm>
          <a:prstGeom prst="roundRect">
            <a:avLst>
              <a:gd name="adj" fmla="val 4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17720" y="960120"/>
            <a:ext cx="4206240" cy="420624"/>
          </a:xfrm>
          <a:prstGeom prst="roundRect">
            <a:avLst>
              <a:gd name="adj" fmla="val 8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170432"/>
            <a:ext cx="4206240" cy="210312"/>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45736" y="960120"/>
            <a:ext cx="3931920" cy="420624"/>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150" b="1" i="0">
                <a:solidFill>
                  <a:srgbClr val="FFFFFF"/>
                </a:solidFill>
                <a:latin typeface="Calibri"/>
              </a:rPr>
              <a:t>Romper el problema huevo-gallina</a:t>
            </a:r>
          </a:p>
        </p:txBody>
      </p:sp>
      <p:sp>
        <p:nvSpPr>
          <p:cNvPr id="19" name="TextBox 18"/>
          <p:cNvSpPr txBox="1"/>
          <p:nvPr/>
        </p:nvSpPr>
        <p:spPr>
          <a:xfrm>
            <a:off x="4782312" y="1481328"/>
            <a:ext cx="3886200" cy="3108960"/>
          </a:xfrm>
          <a:prstGeom prst="rect">
            <a:avLst/>
          </a:prstGeom>
          <a:noFill/>
        </p:spPr>
        <p:txBody>
          <a:bodyPr wrap="square" anchor="t" lIns="12700" rIns="12700" tIns="12700" bIns="12700">
            <a:spAutoFit/>
          </a:bodyPr>
          <a:lstStyle/>
          <a:p>
            <a:pPr algn="l">
              <a:lnSpc>
                <a:spcPct val="106000"/>
              </a:lnSpc>
              <a:spcBef>
                <a:spcPts val="0"/>
              </a:spcBef>
              <a:spcAft>
                <a:spcPts val="500"/>
              </a:spcAft>
            </a:pPr>
            <a:r>
              <a:rPr sz="940" b="1" i="0">
                <a:solidFill>
                  <a:srgbClr val="4A9EFF"/>
                </a:solidFill>
                <a:latin typeface="Calibri"/>
              </a:rPr>
              <a:t>Single-player value  </a:t>
            </a:r>
            <a:r>
              <a:rPr sz="940" b="0" i="0">
                <a:solidFill>
                  <a:srgbClr val="30435C"/>
                </a:solidFill>
                <a:latin typeface="Calibri"/>
              </a:rPr>
              <a:t>que sea útil con 1 usuario (Figma edita solo, colabora después)</a:t>
            </a:r>
          </a:p>
          <a:p>
            <a:pPr algn="l">
              <a:lnSpc>
                <a:spcPct val="106000"/>
              </a:lnSpc>
              <a:spcBef>
                <a:spcPts val="0"/>
              </a:spcBef>
              <a:spcAft>
                <a:spcPts val="500"/>
              </a:spcAft>
            </a:pPr>
            <a:r>
              <a:rPr sz="940" b="1" i="0">
                <a:solidFill>
                  <a:srgbClr val="4A9EFF"/>
                </a:solidFill>
                <a:latin typeface="Calibri"/>
              </a:rPr>
              <a:t>Subsidiar un lado  </a:t>
            </a:r>
            <a:r>
              <a:rPr sz="940" b="0" i="0">
                <a:solidFill>
                  <a:srgbClr val="30435C"/>
                </a:solidFill>
                <a:latin typeface="Calibri"/>
              </a:rPr>
              <a:t>PayPal pagaba US$10 por registrarse</a:t>
            </a:r>
          </a:p>
          <a:p>
            <a:pPr algn="l">
              <a:lnSpc>
                <a:spcPct val="106000"/>
              </a:lnSpc>
              <a:spcBef>
                <a:spcPts val="0"/>
              </a:spcBef>
              <a:spcAft>
                <a:spcPts val="500"/>
              </a:spcAft>
            </a:pPr>
            <a:r>
              <a:rPr sz="940" b="1" i="0">
                <a:solidFill>
                  <a:srgbClr val="4A9EFF"/>
                </a:solidFill>
                <a:latin typeface="Calibri"/>
              </a:rPr>
              <a:t>Seed la oferta  </a:t>
            </a:r>
            <a:r>
              <a:rPr sz="940" b="0" i="0">
                <a:solidFill>
                  <a:srgbClr val="30435C"/>
                </a:solidFill>
                <a:latin typeface="Calibri"/>
              </a:rPr>
              <a:t>Reddit sembró contenido con cuentas propias</a:t>
            </a:r>
          </a:p>
          <a:p>
            <a:pPr algn="l">
              <a:lnSpc>
                <a:spcPct val="106000"/>
              </a:lnSpc>
              <a:spcBef>
                <a:spcPts val="0"/>
              </a:spcBef>
              <a:spcAft>
                <a:spcPts val="500"/>
              </a:spcAft>
            </a:pPr>
            <a:r>
              <a:rPr sz="940" b="1" i="0">
                <a:solidFill>
                  <a:srgbClr val="4A9EFF"/>
                </a:solidFill>
                <a:latin typeface="Calibri"/>
              </a:rPr>
              <a:t>Nicho denso primero  </a:t>
            </a:r>
            <a:r>
              <a:rPr sz="940" b="0" i="0">
                <a:solidFill>
                  <a:srgbClr val="30435C"/>
                </a:solidFill>
                <a:latin typeface="Calibri"/>
              </a:rPr>
              <a:t>Facebook: una universidad entera antes que el mundo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82296"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640" y="0"/>
            <a:ext cx="4023360" cy="5143500"/>
          </a:xfrm>
          <a:prstGeom prst="rect">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4206240" cy="182880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1000" b="1" i="0">
                <a:solidFill>
                  <a:srgbClr val="4A9EFF"/>
                </a:solidFill>
                <a:latin typeface="Calibri"/>
              </a:rPr>
              <a:t>04</a:t>
            </a:r>
          </a:p>
        </p:txBody>
      </p:sp>
      <p:sp>
        <p:nvSpPr>
          <p:cNvPr id="7" name="Rectangle 6"/>
          <p:cNvSpPr/>
          <p:nvPr/>
        </p:nvSpPr>
        <p:spPr>
          <a:xfrm>
            <a:off x="685800" y="2743200"/>
            <a:ext cx="2194560" cy="36576"/>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926080"/>
            <a:ext cx="4572000" cy="10972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3000" b="1" i="0">
                <a:solidFill>
                  <a:srgbClr val="FFFFFF"/>
                </a:solidFill>
                <a:latin typeface="Calibri"/>
              </a:rPr>
              <a:t>Plataformas, APIs, cloud y open source</a:t>
            </a:r>
          </a:p>
        </p:txBody>
      </p:sp>
      <p:sp>
        <p:nvSpPr>
          <p:cNvPr id="9" name="TextBox 8"/>
          <p:cNvSpPr txBox="1"/>
          <p:nvPr/>
        </p:nvSpPr>
        <p:spPr>
          <a:xfrm>
            <a:off x="5486400" y="1554480"/>
            <a:ext cx="3291840" cy="2377440"/>
          </a:xfrm>
          <a:prstGeom prst="rect">
            <a:avLst/>
          </a:prstGeom>
          <a:noFill/>
        </p:spPr>
        <p:txBody>
          <a:bodyPr wrap="square" anchor="t" lIns="12700" rIns="12700" tIns="12700" bIns="12700">
            <a:spAutoFit/>
          </a:bodyPr>
          <a:lstStyle/>
          <a:p>
            <a:pPr algn="l">
              <a:lnSpc>
                <a:spcPct val="120000"/>
              </a:lnSpc>
              <a:spcBef>
                <a:spcPts val="0"/>
              </a:spcBef>
              <a:spcAft>
                <a:spcPts val="200"/>
              </a:spcAft>
            </a:pPr>
            <a:r>
              <a:rPr sz="1300" b="0" i="0">
                <a:solidFill>
                  <a:srgbClr val="B0BEC5"/>
                </a:solidFill>
                <a:latin typeface="Calibri"/>
              </a:rPr>
              <a:t>Cómo el software dejó de ser un producto y se volvió infraestructura: capas sobre las que otros construyen — y de las que vos cobrás renta.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A9EFF"/>
                </a:solidFill>
                <a:latin typeface="Calibri"/>
              </a:rPr>
              <a:t>CONCEPTO 27 · RANKING #10</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Economía de plataformas</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Parker · Van Alstyne · Choudary</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Platform Revolution</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30</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A9EFF"/>
                </a:solidFill>
                <a:latin typeface="Calibri"/>
              </a:rPr>
              <a:t>QUÉ ES.  </a:t>
            </a:r>
            <a:r>
              <a:rPr sz="1250" b="1" i="0">
                <a:solidFill>
                  <a:srgbClr val="1A2B4A"/>
                </a:solidFill>
                <a:latin typeface="Calibri"/>
              </a:rPr>
              <a:t>Una plataforma no produce el valor: conecta a quienes lo producen con quienes lo consumen. El negocio es la interacción, no el inventario.</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Pipeline (lineal: diseño→fábrica→venta) vs plataforma (orquesta a terceros). La plataforma escala sin poseer los activos que ofrece.</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Diseñá la 'core interaction' (productor + unidad de valor + consumidor + filtro). Tu trabajo es reducir fricción y curar calidad, no producir.</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La IA es el mejor 'filtro' de la historia: matching y curación a escala. Potencia el corazón de toda plataforma.</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Decidí pipeline o plataforma temprano: cambia todo (APIs abiertas, gobernanza, herramientas para terceros, moderación).</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Airbnb (0 hoteles), Uber (0 autos), Alibaba (0 inventario): capturaron industrias sin poseer los activos físicos.</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Lanzar plataforma sin resolver la masa crítica de AMBOS lados: una plataforma vacía no tiene valor para nadie (huevo-gallina).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A9EFF"/>
                </a:solidFill>
                <a:latin typeface="Calibri"/>
              </a:rPr>
              <a:t>CONCEPTO 28 · ACTO IV</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Marketplaces</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Platform Revolution</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31</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A9EFF"/>
                </a:solidFill>
                <a:latin typeface="Calibri"/>
              </a:rPr>
              <a:t>QUÉ ES.  </a:t>
            </a:r>
            <a:r>
              <a:rPr sz="1250" b="1" i="0">
                <a:solidFill>
                  <a:srgbClr val="1A2B4A"/>
                </a:solidFill>
                <a:latin typeface="Calibri"/>
              </a:rPr>
              <a:t>La plataforma de transacción: pone de acuerdo oferta y demanda y cobra por facilitar el intercambio. La forma más monetizable de red.</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Un marketplace vive de tres cosas: liquidez (que haya con quién transar), confianza (reputación, garantías) y take rate (su comisión).</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La métrica reina es la liquidez: probabilidad de que un listado se convierta. Un marketplace sin liquidez es un cementerio de listings.</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La IA mejora matching, pricing dinámico, detección de fraude y confianza: sube la liquidez, que es la vida del marketplace.</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Empezá angosto y denso (una ciudad, una categoría) para lograr liquidez. Construí confianza (reviews, escrow) como infraestructura, no como feature.</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Mercado Libre (LatAm), Amazon Marketplace (&gt;50% de sus ventas), eBay, Airbnb: take rate sobre GMV que compone con el volumen.</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Perseguir GMV vanidoso subsidiando transacciones sin margen: crecés en un mercado que colapsa cuando cortás el subsidio.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A9EFF"/>
                </a:solidFill>
                <a:latin typeface="Calibri"/>
              </a:rPr>
              <a:t>CONCEPTO 29 · ACTO IV</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APIs como activos económicos</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Bezos (API mandate) · Stripe</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32</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A9EFF"/>
                </a:solidFill>
                <a:latin typeface="Calibri"/>
              </a:rPr>
              <a:t>QUÉ ES.  </a:t>
            </a:r>
            <a:r>
              <a:rPr sz="1250" b="1" i="0">
                <a:solidFill>
                  <a:srgbClr val="1A2B4A"/>
                </a:solidFill>
                <a:latin typeface="Calibri"/>
              </a:rPr>
              <a:t>Una API convierte una capacidad interna en un producto que otros consumen programáticamente. Es distribución, moat y modelo de negocio a la vez.</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La API es la unidad de composición de la economía digital: empaqueta una competencia difícil (pagos, envíos de SMS) en una llamada trivial.</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Vender por API es vender un insumo no-rival con costo marginal ~0 y lock-in por integración. El cliente incrusta tu API en su código: no se va.</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Las APIs de modelos (OpenAI, Anthropic) volvieron la inteligencia un insumo combinable. Tu producto es tan bueno como las APIs que orquesta.</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El 'API mandate' de Bezos (2002): todo equipo expone su función como API, sin excepción. Fuerza modularidad y crea productos vendibles.</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Stripe, Twilio, Plaid, AWS: empresas cuyo producto ES una API. Valen decenas de miles de millones por vender llamadas.</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API como 'accesorio' del producto real: mal versionada, mal documentada. Si la API es el activo, tratala como el producto principal.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A9EFF"/>
                </a:solidFill>
                <a:latin typeface="Calibri"/>
              </a:rPr>
              <a:t>CONCEPTO 30 · ACTO IV</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Ecosistemas tecnológicos</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Moore · Iansiti</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The Keystone Advantage</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33</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A9EFF"/>
                </a:solidFill>
                <a:latin typeface="Calibri"/>
              </a:rPr>
              <a:t>QUÉ ES.  </a:t>
            </a:r>
            <a:r>
              <a:rPr sz="1250" b="1" i="0">
                <a:solidFill>
                  <a:srgbClr val="1A2B4A"/>
                </a:solidFill>
                <a:latin typeface="Calibri"/>
              </a:rPr>
              <a:t>Alrededor de una plataforma exitosa crece un ecosistema de terceros que agregan valor. La salud del ecosistema es el moat definitivo.</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Moore: las empresas compiten como 'ecosistemas de negocios', no solas. El 'keystone' (Iansiti) prospera haciendo prosperar a los demás.</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Cada integración, plugin, app o partner que construye SOBRE vos aumenta tu valor sin costo tuyo. Es economía de alcance externalizada.</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Ecosistemas de tools/agents alrededor de un modelo (plugins, MCP, fine-tunes) multiplican su utilidad y suben el switching cost.</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Invertí en developer experience: SDKs, docs, marketplace de extensiones, rev-share. Cada dev externo es I+D gratis que te hace más pegajoso.</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Salesforce AppExchange, iOS App Store, SAP partners, Shopify apps: ecosistemas que valen más que el producto central.</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Competir con tu propio ecosistema (canibalizar a los partners que te hicieron grande): destruís la confianza y el ecosistema emigra.</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A9EFF"/>
                </a:solidFill>
                <a:latin typeface="Calibri"/>
              </a:rPr>
              <a:t>CONCEPTO 31 · ACTO IV</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Open source</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Yochai Benkler</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The Wealth of Networks</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34</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A9EFF"/>
                </a:solidFill>
                <a:latin typeface="Calibri"/>
              </a:rPr>
              <a:t>QUÉ ES.  </a:t>
            </a:r>
            <a:r>
              <a:rPr sz="1250" b="1" i="0">
                <a:solidFill>
                  <a:srgbClr val="1A2B4A"/>
                </a:solidFill>
                <a:latin typeface="Calibri"/>
              </a:rPr>
              <a:t>Producción entre pares: miles cooperan sin mercado ni jefe para crear bienes no-rivales que sostienen la economía digital entera.</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 (Benkler)</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Benkler: el 'commons-based peer production' produce bienes de información con motivaciones diversas. Linux y Wikipedia superan a rivales comerciales.</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Open source es estrategia: comoditizás tu complemento (bajás su precio a cero) para capturar valor en tu capa. Regalás A para vender B.</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Modelos abiertos (Llama, Mistral) comoditizan la capa de modelo y trasladan el valor a datos, fine-tuning y distribución.</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Decidí qué liberar (para adopción y spillovers) y qué cerrar (tu moat). Open-core, servicio gestionado (Red Hat), o cloud sobre OSS.</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Linux, Kubernetes, PostgreSQL, Git: infraestructura no-rival que corre el mundo. Red Hat, Databricks, MongoDB: negocios de miles de millones sobre OSS.</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Liberar el core sin modelo de captura, o cerrar lo que debía ser abierto para lograr adopción. La frontera abierto/cerrado ES la estrategia.</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A9EFF"/>
                </a:solidFill>
                <a:latin typeface="Calibri"/>
              </a:rPr>
              <a:t>CONCEPTO 32 · ACTO IV</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Cloud computing</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Coase · AWS</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The Nature of the Firm</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35</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A9EFF"/>
                </a:solidFill>
                <a:latin typeface="Calibri"/>
              </a:rPr>
              <a:t>QUÉ ES.  </a:t>
            </a:r>
            <a:r>
              <a:rPr sz="1250" b="1" i="0">
                <a:solidFill>
                  <a:srgbClr val="1A2B4A"/>
                </a:solidFill>
                <a:latin typeface="Calibri"/>
              </a:rPr>
              <a:t>Convirtió el capital físico (servidores) en un servicio variable y elástico. Alquilás computo por segundo en vez de comprar datacenters.</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 (Coase)</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Coase explica la firma por costos de transacción. La nube bajó tanto esos costos que hoy conviene 'alquilar' casi todo: infra, IA, pagos.</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Capex→opex: arrancás sin comprar servidores, escalás con la demanda. Bajó la barrera de entrada a casi cero: un pibe con una laptop compite global.</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La nube es donde vive la IA: entrenar e inferir requiere clusters que solo los hyperscalers proveen. El cloud es el nuevo cuello de botella.</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Diseñá cloud-native (stateless, autoscaling, managed services) para heredar sus economías de escala. Pero vigilá el lock-in de servicios propietarios.</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AWS (nació del exceso de capacidad de Amazon), Azure, GCP: la infraestructura sobre la que corre casi todo el software moderno.</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No gobernar el gasto (sin FinOps) o encadenarte a servicios propietarios: la elasticidad que te salvó al inicio te ahorca en la escala.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A9EFF"/>
                </a:solidFill>
                <a:latin typeface="Calibri"/>
              </a:rPr>
              <a:t>CONCEPTO 33 · ACTO IV</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SaaS (Software as a Service)</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modelo dominante</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36</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A9EFF"/>
                </a:solidFill>
                <a:latin typeface="Calibri"/>
              </a:rPr>
              <a:t>QUÉ ES.  </a:t>
            </a:r>
            <a:r>
              <a:rPr sz="1250" b="1" i="0">
                <a:solidFill>
                  <a:srgbClr val="1A2B4A"/>
                </a:solidFill>
                <a:latin typeface="Calibri"/>
              </a:rPr>
              <a:t>El software dejó de venderse como producto (licencia única) para alquilarse como servicio (suscripción). Cambió el software y cambió el negocio.</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SaaS alinea el ingreso con el valor entregado en el tiempo: no vendés una caja, vendés una relación que se renueva si seguís aportando valor.</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Métricas propias: MRR/ARR, churn, NRR (net revenue retention), CAC payback, LTV/CAC. Un SaaS con NRR&gt;100% crece aunque no sume clientes.</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AI-as-a-Service extiende el modelo: cobrás por inteligencia consumida. Pero el COGS sube (inferencia), así que el margen SaaS clásico se comprime.</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Multi-tenancy, aislamiento por tenant, deploy continuo, observabilidad por cliente: la arquitectura SaaS es la que hace posible el modelo.</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Salesforce (pionero), Adobe (de licencia a Creative Cloud: se multiplicó su valor), ServiceNow, Snowflake (consumo puro).</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Vender 'SaaS' con costo marginal alto sin controlar el consumo: cada cliente que crece te destruye el margen. La IA reintrodujo este riesgo.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82296" cy="514350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640" y="0"/>
            <a:ext cx="4023360" cy="5143500"/>
          </a:xfrm>
          <a:prstGeom prst="rect">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4206240" cy="182880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1000" b="1" i="0">
                <a:solidFill>
                  <a:srgbClr val="4CAF50"/>
                </a:solidFill>
                <a:latin typeface="Calibri"/>
              </a:rPr>
              <a:t>05</a:t>
            </a:r>
          </a:p>
        </p:txBody>
      </p:sp>
      <p:sp>
        <p:nvSpPr>
          <p:cNvPr id="7" name="Rectangle 6"/>
          <p:cNvSpPr/>
          <p:nvPr/>
        </p:nvSpPr>
        <p:spPr>
          <a:xfrm>
            <a:off x="685800" y="2743200"/>
            <a:ext cx="2194560" cy="36576"/>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926080"/>
            <a:ext cx="4572000" cy="10972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3000" b="1" i="0">
                <a:solidFill>
                  <a:srgbClr val="FFFFFF"/>
                </a:solidFill>
                <a:latin typeface="Calibri"/>
              </a:rPr>
              <a:t>La era de la IA</a:t>
            </a:r>
          </a:p>
        </p:txBody>
      </p:sp>
      <p:sp>
        <p:nvSpPr>
          <p:cNvPr id="9" name="TextBox 8"/>
          <p:cNvSpPr txBox="1"/>
          <p:nvPr/>
        </p:nvSpPr>
        <p:spPr>
          <a:xfrm>
            <a:off x="5486400" y="1554480"/>
            <a:ext cx="3291840" cy="2377440"/>
          </a:xfrm>
          <a:prstGeom prst="rect">
            <a:avLst/>
          </a:prstGeom>
          <a:noFill/>
        </p:spPr>
        <p:txBody>
          <a:bodyPr wrap="square" anchor="t" lIns="12700" rIns="12700" tIns="12700" bIns="12700">
            <a:spAutoFit/>
          </a:bodyPr>
          <a:lstStyle/>
          <a:p>
            <a:pPr algn="l">
              <a:lnSpc>
                <a:spcPct val="120000"/>
              </a:lnSpc>
              <a:spcBef>
                <a:spcPts val="0"/>
              </a:spcBef>
              <a:spcAft>
                <a:spcPts val="200"/>
              </a:spcAft>
            </a:pPr>
            <a:r>
              <a:rPr sz="1300" b="0" i="0">
                <a:solidFill>
                  <a:srgbClr val="B0BEC5"/>
                </a:solidFill>
                <a:latin typeface="Calibri"/>
              </a:rPr>
              <a:t>Todo lo anterior se acelera y se tuerce. La IA es no-rival como el software, pero rival en su computo; comoditiza capacidades y crea moats de datos nuevos.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CAF50"/>
                </a:solidFill>
                <a:latin typeface="Calibri"/>
              </a:rPr>
              <a:t>CONCEPTO 34 · ACTO V</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IA generativa</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37</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CAF50"/>
                </a:solidFill>
                <a:latin typeface="Calibri"/>
              </a:rPr>
              <a:t>QUÉ ES.  </a:t>
            </a:r>
            <a:r>
              <a:rPr sz="1250" b="1" i="0">
                <a:solidFill>
                  <a:srgbClr val="1A2B4A"/>
                </a:solidFill>
                <a:latin typeface="Calibri"/>
              </a:rPr>
              <a:t>Software que produce contenido nuevo (texto, código, imagen) en vez de solo procesarlo. Baja a ~cero el costo marginal de producir cognición.</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Si el software automatizó tareas mecánicas, la IA generativa automatiza tareas cognitivas. Es una nueva capa de 'trabajo no-rival'.</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Reduce el costo de features que antes eran imposibles (redacción, soporte, generación de código). Pero también comoditiza a quien solo 'envuelve' un LLM.</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Cada llamada tiene costo real (tokens): el marginal deja de ser cero. El pricing y la arquitectura de costos vuelven al centro.</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Ruteá inteligentemente: modelo chico/caché para lo fácil, modelo grande para lo difícil. El margen de una app de IA se gana en arquitectura de costos.</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ChatGPT (100M usuarios en 2 meses, la adopción más rápida de la historia), Copilot, Midjourney: nuevas categorías de la nada.</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'Wrapper' sin moat: si tu producto es solo un prompt sobre un modelo ajeno, tu ventaja es copiable en un fin de semana. El moat está en datos/distribución/workflow.</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CAF50"/>
                </a:solidFill>
                <a:latin typeface="Calibri"/>
              </a:rPr>
              <a:t>CONCEPTO 35 · ACTO V</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Modelos fundacionales</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Bommasani et al. · Sutton</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Foundation Models · Bitter Lesson</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38</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CAF50"/>
                </a:solidFill>
                <a:latin typeface="Calibri"/>
              </a:rPr>
              <a:t>QUÉ ES.  </a:t>
            </a:r>
            <a:r>
              <a:rPr sz="1250" b="1" i="0">
                <a:solidFill>
                  <a:srgbClr val="1A2B4A"/>
                </a:solidFill>
                <a:latin typeface="Calibri"/>
              </a:rPr>
              <a:t>Modelos gigantes entrenados una vez sobre datos masivos, adaptables a mil tareas. Concentran costo fijo brutal y economías de escala extremas.</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 (Sutton)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Richard Sutton (The Bitter Lesson): los métodos que escalan con computo y datos generales le ganan a los que codifican conocimiento humano. La escala vence.</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Es un ejemplo perfecto de economías de escala (5) y alcance (6): un modelo, infinitas aplicaciones. Pocos pueden pagar el costo fijo → oligopolio de modelos.</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Sobre el foundation model se construye TODA la capa de aplicación. Definir si sos capa-modelo o capa-aplicación es la decisión estratégica de la década.</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Rara vez conviene entrenar el tuyo: construí SOBRE los foundation models (RAG, fine-tune, tools) y capturá valor en datos y workflow propios.</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GPT, Claude, Gemini, Llama: costos de entrenamiento de cientos de millones que amortizan sobre miles de millones de llamadas.</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Pelear con los labs entrenando tu propio modelo genérico sin su capital ni su dato: quemás caja compitiendo en su terreno de escala.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CAF50"/>
                </a:solidFill>
                <a:latin typeface="Calibri"/>
              </a:rPr>
              <a:t>CONCEPTO 36 · ACTO V</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Data network effects</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39</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CAF50"/>
                </a:solidFill>
                <a:latin typeface="Calibri"/>
              </a:rPr>
              <a:t>QUÉ ES.  </a:t>
            </a:r>
            <a:r>
              <a:rPr sz="1250" b="1" i="0">
                <a:solidFill>
                  <a:srgbClr val="1A2B4A"/>
                </a:solidFill>
                <a:latin typeface="Calibri"/>
              </a:rPr>
              <a:t>El producto mejora con el uso porque el uso genera datos que mejoran el modelo. El efecto de red mediado por aprendizaje: el flywheel definitivo.</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Más usuarios → más datos → mejor modelo → mejor producto → más usuarios. A diferencia del efecto de red clásico, mejora la CALIDAD, no solo la conexión.</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Tu ventaja no es el algoritmo (copiable) sino el dato propietario que lo alimenta. El dato histórico es el moat que un competidor no compra.</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Es el moat central de la era IA. Pero ojo: satura (rendimientos decrecientes en datos) y puede ser intra-cliente, no global. No todo dato compone igual.</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Diseñá el bucle de captura: cada interacción debe volver como señal etiquetada (feedback implícito/explícito). Sin pipeline de datos, no hay flywheel.</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Google (cada búsqueda mejora la siguiente), Tesla (flota que etiqueta datos de manejo), sistemas de recomendación de Netflix/Spotify.</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Asumir que 'tenemos datos' = moat. Si el dato no es propietario, no está limpio, o no realimenta el modelo, no hay data network effect real.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CAF50"/>
                </a:solidFill>
                <a:latin typeface="Calibri"/>
              </a:rPr>
              <a:t>CONCEPTO 37 · ACTO V</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Economías impulsadas por IA</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Huang · Altman · Brynjolfsson</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40</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4CAF50"/>
                </a:solidFill>
                <a:latin typeface="Calibri"/>
              </a:rPr>
              <a:t>QUÉ ES.  </a:t>
            </a:r>
            <a:r>
              <a:rPr sz="1250" b="1" i="0">
                <a:solidFill>
                  <a:srgbClr val="1A2B4A"/>
                </a:solidFill>
                <a:latin typeface="Calibri"/>
              </a:rPr>
              <a:t>Cuando el costo de la cognición tiende a cero, se reorganiza toda la economía — como pasó cuando cayó el costo de la energía o del computo.</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 (Huang)</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Jensen Huang: 'computing is not getting cheaper, it's getting bigger' — el costo por unidad de inteligencia se desploma y la demanda explota (paradoja de Jevons).</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Repensá tu producto asumiendo cognición casi gratis: ¿qué construirías si tuvieras un experto infinito por US$0,01? Ahí está la próxima categoría.</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Altman: el costo de la inteligencia converge al costo de la energía y el computo. Las apps que hoy no cierran números, mañana sí.</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Construí para la curva, no para el precio de hoy: el costo de inferencia cae ~10x/año. Diseñá pensando en el modelo del año que viene, no el de este.</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Nvidia (proveedor del recurso rival), OpenAI/Anthropic (inteligencia como servicio), la ola de apps que la comoditización habilita.</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Descartar una idea porque 'hoy el LLM es caro/tonto'. Brynjolfsson: subestimamos la curva exponencial. Lo que no cierra hoy, cierra en 18 meses.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82296" cy="5143500"/>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640" y="0"/>
            <a:ext cx="4023360" cy="5143500"/>
          </a:xfrm>
          <a:prstGeom prst="rect">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4206240" cy="182880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1000" b="1" i="0">
                <a:solidFill>
                  <a:srgbClr val="FF8C42"/>
                </a:solidFill>
                <a:latin typeface="Calibri"/>
              </a:rPr>
              <a:t>06</a:t>
            </a:r>
          </a:p>
        </p:txBody>
      </p:sp>
      <p:sp>
        <p:nvSpPr>
          <p:cNvPr id="7" name="Rectangle 6"/>
          <p:cNvSpPr/>
          <p:nvPr/>
        </p:nvSpPr>
        <p:spPr>
          <a:xfrm>
            <a:off x="685800" y="2743200"/>
            <a:ext cx="2194560" cy="36576"/>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926080"/>
            <a:ext cx="4572000" cy="10972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3000" b="1" i="0">
                <a:solidFill>
                  <a:srgbClr val="FFFFFF"/>
                </a:solidFill>
                <a:latin typeface="Calibri"/>
              </a:rPr>
              <a:t>Dinámica competitiva: crear y destruir</a:t>
            </a:r>
          </a:p>
        </p:txBody>
      </p:sp>
      <p:sp>
        <p:nvSpPr>
          <p:cNvPr id="9" name="TextBox 8"/>
          <p:cNvSpPr txBox="1"/>
          <p:nvPr/>
        </p:nvSpPr>
        <p:spPr>
          <a:xfrm>
            <a:off x="5486400" y="1554480"/>
            <a:ext cx="3291840" cy="2377440"/>
          </a:xfrm>
          <a:prstGeom prst="rect">
            <a:avLst/>
          </a:prstGeom>
          <a:noFill/>
        </p:spPr>
        <p:txBody>
          <a:bodyPr wrap="square" anchor="t" lIns="12700" rIns="12700" tIns="12700" bIns="12700">
            <a:spAutoFit/>
          </a:bodyPr>
          <a:lstStyle/>
          <a:p>
            <a:pPr algn="l">
              <a:lnSpc>
                <a:spcPct val="120000"/>
              </a:lnSpc>
              <a:spcBef>
                <a:spcPts val="0"/>
              </a:spcBef>
              <a:spcAft>
                <a:spcPts val="200"/>
              </a:spcAft>
            </a:pPr>
            <a:r>
              <a:rPr sz="1300" b="0" i="0">
                <a:solidFill>
                  <a:srgbClr val="B0BEC5"/>
                </a:solidFill>
                <a:latin typeface="Calibri"/>
              </a:rPr>
              <a:t>Schumpeter, Christensen, Thiel y Hoffman: cómo lo nuevo destruye lo viejo, por qué los líderes mueren, y cómo se corre para ganar el mercado.</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FF8C42"/>
                </a:solidFill>
                <a:latin typeface="Calibri"/>
              </a:rPr>
              <a:t>CONCEPTO 38 · RANKING #3</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Destrucción creativa</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Joseph Schumpeter</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Capitalism, Socialism &amp; Democracy</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41</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FF8C42"/>
                </a:solidFill>
                <a:latin typeface="Calibri"/>
              </a:rPr>
              <a:t>QUÉ ES.  </a:t>
            </a:r>
            <a:r>
              <a:rPr sz="1250" b="1" i="0">
                <a:solidFill>
                  <a:srgbClr val="1A2B4A"/>
                </a:solidFill>
                <a:latin typeface="Calibri"/>
              </a:rPr>
              <a:t>El capitalismo es un vendaval permanente que destruye lo viejo para crear lo nuevo. No es un defecto del sistema: es su motor.</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 (Schumpeter)</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Schumpeter: 'el proceso de mutación industrial que revoluciona la estructura económica desde dentro, destruyendo la vieja, creando la nueva'. Incesante.</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El software es la destrucción creativa industrializada: Netflix destruye Blockbuster, SaaS destruye el on-premise, la IA reescribe categorías enteras.</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La IA es la ola de destrucción creativa más rápida jamás vista: comprime en años lo que antes tomaba décadas. Ninguna renta está segura.</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Construí para destruir, incluido a vos mismo: si tu producto no canibaliza tu propia renta, alguien más lo hará. Preferí autodestruirte con control.</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Kodak, Blockbuster, Nokia, taxis, medios impresos: rentas 'seguras' evaporadas por olas de innovación. Nadie está exento.</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Proteger la renta actual en vez de crear la próxima: es exactamente cómo mueren los líderes (ver innovator's dilemma).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FF8C42"/>
                </a:solidFill>
                <a:latin typeface="Calibri"/>
              </a:rPr>
              <a:t>CONCEPTO 39 · ACTO VI</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El dilema del innovador</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Clayton Christensen</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The Innovator's Dilemma</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42</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FF8C42"/>
                </a:solidFill>
                <a:latin typeface="Calibri"/>
              </a:rPr>
              <a:t>QUÉ ES.  </a:t>
            </a:r>
            <a:r>
              <a:rPr sz="1250" b="1" i="0">
                <a:solidFill>
                  <a:srgbClr val="1A2B4A"/>
                </a:solidFill>
                <a:latin typeface="Calibri"/>
              </a:rPr>
              <a:t>Las empresas líderes fracasan HACIENDO TODO BIEN: escuchan a sus mejores clientes y mejoran su producto — justo mientras una tecnología inferior las come por abajo.</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 (Christensen)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Christensen: la innovación disruptiva entra por el segmento bajo (peor pero más barata/simple), mejora, y desplaza al líder que la ignoró por 'poco rentable'.</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Tu mayor riesgo no es el competidor que hace lo mismo mejor (sostenedor), sino el que hace algo 'peor' que tus clientes premium desprecian... por ahora.</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La IA es clásicamente disruptiva: hoy 'comete errores' y los expertos la desdeñan, mientras mejora exponencial y sube por la cadena de valor.</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Creá una unidad autónoma para lo disruptivo, protegida de la lógica de márgenes del negocio central. El core siempre matará a la cría disruptiva.</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Disqueras vs mainframes, acerías integradas vs mini-mills, Kodak vs digital, Nokia vs smartphone: líderes racionales que perdieron por escuchar al cliente.</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Evaluar lo disruptivo con las métricas del negocio maduro (margen, TAM hoy): siempre parecerá mala idea hasta que te destruye.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FF8C42"/>
                </a:solidFill>
                <a:latin typeface="Calibri"/>
              </a:rPr>
              <a:t>CONCEPTO 40 · RANKING #13</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Ventaja del primer entrante</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Arthur · literatura estratégica</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43</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FF8C42"/>
                </a:solidFill>
                <a:latin typeface="Calibri"/>
              </a:rPr>
              <a:t>QUÉ ES.  </a:t>
            </a:r>
            <a:r>
              <a:rPr sz="1250" b="1" i="0">
                <a:solidFill>
                  <a:srgbClr val="1A2B4A"/>
                </a:solidFill>
                <a:latin typeface="Calibri"/>
              </a:rPr>
              <a:t>Llegar primero puede ser decisivo — cuando hay rendimientos crecientes que 'bloquean' el mercado alrededor del pionero. Pero no siempre.</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En mercados con efectos de red y path dependence, el first mover captura la trayectoria. En mercados sin ellos, el first mover solo paga la educación del mercado.</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No es 'ser primero' sino 'ser primero en escalar' (Hoffman: first-scaler). Muchos pioneros pierden ante un 'fast follower' que ejecuta la escala mejor.</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En IA, el timing es todo: la ventana entre 'imposible' y 'commodity' es angosta. Entrar en el momento justo de la curva es la ventaja real.</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Si tu mercado tiene efectos de red, corré por llegar primero a masa crítica. Si no los tiene, no pagues la 'maldición del pionero': dejá que otro eduque.</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A favor: Amazon, Google. En contra: Friendster→Facebook, AltaVista→Google, Netscape→Chrome. El first mover ganó solo cuando había lock-in.</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Fetichizar 'ser primero'. Thiel prefiere el LAST mover (el último gran avance en una categoría). Primero sin escala ni moat = mártir del mercado.</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FF8C42"/>
                </a:solidFill>
                <a:latin typeface="Calibri"/>
              </a:rPr>
              <a:t>CONCEPTO 41 · RANKING #15</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Blitzscaling</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Reid Hoffman</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Blitzscaling (2018)</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44</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FF8C42"/>
                </a:solidFill>
                <a:latin typeface="Calibri"/>
              </a:rPr>
              <a:t>QUÉ ES.  </a:t>
            </a:r>
            <a:r>
              <a:rPr sz="1250" b="1" i="0">
                <a:solidFill>
                  <a:srgbClr val="1A2B4A"/>
                </a:solidFill>
                <a:latin typeface="Calibri"/>
              </a:rPr>
              <a:t>Priorizar velocidad sobre eficiencia en condiciones de incertidumbre para ser el primero en alcanzar escala en un mercado winner-take-most.</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 (Hoffman)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Hoffman: cuando el premio es el mercado entero y hay efectos de red, la eficiencia es secundaria. 'Si te movés lento, estás muerto'.</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Se justifica SOLO si concurren: mercado grande, distribución rápida, efectos de red y alto margen bruto. Sin esos 4 factores, blitzscaling es suicidio.</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La carrera de la IA es blitzscaling puro: capital, computo y talento a máxima velocidad para capturar la trayectoria antes de que se bloquee.</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Aceptá ineficiencia deliberada (deuda técnica controlada, 'hacé cosas que no escalan') para ganar tiempo. Pero sabé cuándo volver a la eficiencia.</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PayPal, Airbnb (vs los clones Samwer), LinkedIn, Uber, Tencent/WeChat (100M usuarios en 16 meses): escala antes que rentabilidad.</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Blitzscalear sin los 4 factores o sin product/market fit: acelerás hacia el abismo. WeWork y muchos 'unicornios' murieron de escala prematura.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FF8C42"/>
                </a:solidFill>
                <a:latin typeface="Calibri"/>
              </a:rPr>
              <a:t>CONCEPTO 42 · ACTO VI</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Moats tecnológicos</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Thiel · Buffett</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Zero to One</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45</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FF8C42"/>
                </a:solidFill>
                <a:latin typeface="Calibri"/>
              </a:rPr>
              <a:t>QUÉ ES.  </a:t>
            </a:r>
            <a:r>
              <a:rPr sz="1250" b="1" i="0">
                <a:solidFill>
                  <a:srgbClr val="1A2B4A"/>
                </a:solidFill>
                <a:latin typeface="Calibri"/>
              </a:rPr>
              <a:t>El 'foso' que protege tu castillo: lo que impide que un competidor con dinero y talento te copie y te quite la renta. Sin moat, el margen se evapora.</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Buffett busca 'fosos económicos'; Thiel enumera 4: tecnología propietaria (10x), efectos de red, economías de escala y marca. El software puede tener las cuatro.</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Un moat real es acumulativo: se AHONDA con el tiempo y el uso (datos, red, integraciones). Un moat que no se profundiza es un charco que se seca.</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En IA, el modelo NO es moat (se comoditiza). El moat es lo que lo rodea: datos propietarios, distribución, workflow integrado, confianza.</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Preguntá de cada feature: ¿esto ahonda algún moat (datos, red, switching cost) o solo iguala al competidor? Priorizá lo que compone.</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Google (datos+marca+escala), Apple (marca+ecosistema), AWS (escala+switching cost), Bloomberg (datos+red+hábito).</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Confundir un feature bueno con un moat. Los features se copian; los moats (red, datos, escala, marca) se ACUMULAN y por eso defienden.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FF8C42"/>
                </a:solidFill>
                <a:latin typeface="Calibri"/>
              </a:rPr>
              <a:t>CONCEPTO 43 · ACTO VI</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Ventajas competitivas acumulativas</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Porter + compounding</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Competitive Strategy</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46</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FF8C42"/>
                </a:solidFill>
                <a:latin typeface="Calibri"/>
              </a:rPr>
              <a:t>QUÉ ES.  </a:t>
            </a:r>
            <a:r>
              <a:rPr sz="1250" b="1" i="0">
                <a:solidFill>
                  <a:srgbClr val="1A2B4A"/>
                </a:solidFill>
                <a:latin typeface="Calibri"/>
              </a:rPr>
              <a:t>La ventaja que crece con el tiempo en vez de erosionarse. No es 'estar adelante hoy', es 'alejarse más cada día'. El interés compuesto de la estrategia.</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Intuición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Porter describió ventajas competitivas (costo, diferenciación); la era digital agrega la dimensión temporal: las mejores ventajas COMPONEN, no se defienden.</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Una ventaja acumulativa hace que la brecha con el 2º se ensanche automáticamente: más datos, más red, más integraciones cada mes que pasa.</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El líder de IA con más uso obtiene más datos y mejor modelo: la ventaja se auto-amplifica. Alcanzarlo requiere no igualarlo, sino cambiar el juego.</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Distinguí ventajas que se defienden (cuestan energía mantener) de las que componen (crecen solas con el uso). Invertí en las segundas.</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Amazon (30 años componiendo logística+cloud+datos), TSMC (liderazgo de proceso que se auto-refuerza), Google.</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Perseguir ventajas que hay que 'defender' constantemente (precio, features) en vez de construir las que se acumulan solas. Agota y no compone.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82296" cy="5143500"/>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640" y="0"/>
            <a:ext cx="4023360" cy="5143500"/>
          </a:xfrm>
          <a:prstGeom prst="rect">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4206240" cy="182880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1000" b="1" i="0">
                <a:solidFill>
                  <a:srgbClr val="A64D79"/>
                </a:solidFill>
                <a:latin typeface="Calibri"/>
              </a:rPr>
              <a:t>07</a:t>
            </a:r>
          </a:p>
        </p:txBody>
      </p:sp>
      <p:sp>
        <p:nvSpPr>
          <p:cNvPr id="7" name="Rectangle 6"/>
          <p:cNvSpPr/>
          <p:nvPr/>
        </p:nvSpPr>
        <p:spPr>
          <a:xfrm>
            <a:off x="685800" y="2743200"/>
            <a:ext cx="2194560" cy="36576"/>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926080"/>
            <a:ext cx="4572000" cy="10972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3000" b="1" i="0">
                <a:solidFill>
                  <a:srgbClr val="FFFFFF"/>
                </a:solidFill>
                <a:latin typeface="Calibri"/>
              </a:rPr>
              <a:t>El compounding stack</a:t>
            </a:r>
          </a:p>
        </p:txBody>
      </p:sp>
      <p:sp>
        <p:nvSpPr>
          <p:cNvPr id="9" name="TextBox 8"/>
          <p:cNvSpPr txBox="1"/>
          <p:nvPr/>
        </p:nvSpPr>
        <p:spPr>
          <a:xfrm>
            <a:off x="5486400" y="1554480"/>
            <a:ext cx="3291840" cy="2377440"/>
          </a:xfrm>
          <a:prstGeom prst="rect">
            <a:avLst/>
          </a:prstGeom>
          <a:noFill/>
        </p:spPr>
        <p:txBody>
          <a:bodyPr wrap="square" anchor="t" lIns="12700" rIns="12700" tIns="12700" bIns="12700">
            <a:spAutoFit/>
          </a:bodyPr>
          <a:lstStyle/>
          <a:p>
            <a:pPr algn="l">
              <a:lnSpc>
                <a:spcPct val="120000"/>
              </a:lnSpc>
              <a:spcBef>
                <a:spcPts val="0"/>
              </a:spcBef>
              <a:spcAft>
                <a:spcPts val="200"/>
              </a:spcAft>
            </a:pPr>
            <a:r>
              <a:rPr sz="1300" b="0" i="0">
                <a:solidFill>
                  <a:srgbClr val="B0BEC5"/>
                </a:solidFill>
                <a:latin typeface="Calibri"/>
              </a:rPr>
              <a:t>La síntesis para builders. Seis capas que, bien diseñadas, componen valor unas sobre otras — y una fórmula de cómo nace una empresa de un billón de dólares.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A64D79"/>
                </a:solidFill>
                <a:latin typeface="Calibri"/>
              </a:rPr>
              <a:t>CONCEPTO 44 · EL COMPOUNDING STACK</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Compound knowledge (conocimiento)</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Síntesis</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compounding</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47</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A64D79"/>
                </a:solidFill>
                <a:latin typeface="Calibri"/>
              </a:rPr>
              <a:t>QUÉ ES.  </a:t>
            </a:r>
            <a:r>
              <a:rPr sz="1250" b="1" i="0">
                <a:solidFill>
                  <a:srgbClr val="1A2B4A"/>
                </a:solidFill>
                <a:latin typeface="Calibri"/>
              </a:rPr>
              <a:t>Cada cosa que tu organización aprende y CODIFICA se vuelve piso para lo siguiente. El conocimiento tácito se evapora; el codificado compone.</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Cómo compone</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Docs, ADRs, post-mortems y tests-como-especificación convierten experiencia en activo reutilizable que no se va con la persona.</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producto / SaaS</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Onboarding más rápido, menos errores repetidos y decisiones trazables: el equipo arranca cada proyecto desde un piso más alto.</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Tu conocimiento de dominio + datos curados es lo que un modelo genérico no tiene: es tu ventaja real sobre el 'wrapper'.</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Instituí rituales de codificación: escribir las decisiones, no solo tomarlas. La wiki viva vale más que el 10x dev que no documenta.</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Stripe (docs legendarias) y toda empresa con engineering blog fuerte: el conocimiento codificado atrae talento y compone.</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Dejar el saber en cabezas y en Slack: cada renuncia es un incendio de biblioteca. Capital que no se codifica, no compone.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A64D79"/>
                </a:solidFill>
                <a:latin typeface="Calibri"/>
              </a:rPr>
              <a:t>CONCEPTO 45 · EL COMPOUNDING STACK</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Compound software (código)</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Síntesis</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compounding</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48</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A64D79"/>
                </a:solidFill>
                <a:latin typeface="Calibri"/>
              </a:rPr>
              <a:t>QUÉ ES.  </a:t>
            </a:r>
            <a:r>
              <a:rPr sz="1250" b="1" i="0">
                <a:solidFill>
                  <a:srgbClr val="1A2B4A"/>
                </a:solidFill>
                <a:latin typeface="Calibri"/>
              </a:rPr>
              <a:t>Cada abstracción reutilizable multiplica la productividad de TODO el código futuro. El buen software abarata el próximo software.</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Cómo compone</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Componentes, librerías internas y plataformas son multiplicadores; la deuda técnica es la depreciación que hay que pagar.</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producto / SaaS</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Una base modular deja lanzar features en días; un legacy acoplado hace que cada cambio cueste más que el anterior.</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Los agentes de IA rinden 10x sobre una base limpia y modular, y multiplican el caos sobre un legacy acoplado.</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Invertí en la plataforma interna y pagá deuda: el interés compuesto del software es positivo (abstracciones) o negativo (deuda).</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Google (Borg→Kubernetes) y Amazon (todo API): plataformas internas que volvieron trivial construir el próximo producto.</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'Movete rápido y rompé cosas' sin pagar deuda: el interés compuesto negativo te alcanza y cada feature cuesta más.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A64D79"/>
                </a:solidFill>
                <a:latin typeface="Calibri"/>
              </a:rPr>
              <a:t>CONCEPTO 46 · EL COMPOUNDING STACK</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Compound data (datos)</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Síntesis</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compounding</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49</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A64D79"/>
                </a:solidFill>
                <a:latin typeface="Calibri"/>
              </a:rPr>
              <a:t>QUÉ ES.  </a:t>
            </a:r>
            <a:r>
              <a:rPr sz="1250" b="1" i="0">
                <a:solidFill>
                  <a:srgbClr val="1A2B4A"/>
                </a:solidFill>
                <a:latin typeface="Calibri"/>
              </a:rPr>
              <a:t>Cada dato capturado hoy hace más inteligente tu producto mañana. Es el capital que un competidor no puede comprar hacia atrás.</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Cómo compone</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El histórico se acumula y no se puede rehacer: cuanto antes captures y versiones, más profundo el moat dentro de 3 años.</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producto / SaaS</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Mejores defaults, personalización y detección de anomalías: el producto mejora solo a medida que junta uso.</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Es el combustible del flywheel (36): más uso → más datos → mejor modelo. El moat central de la era IA, si el dato es propietario.</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Diseñá el esquema de eventos ANTES que las features. Versioná y archivá: el dato sobreescrito es compounding tirado a la basura.</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Google, Tesla y Bloomberg: décadas de datos propietarios que ningún competidor con capital puede clonar hacia atrás.</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Capturar sin estrategia (data swamp) o no versionar: 'muchos datos' sucios no componen. La disciplina de datos ES la ventaja.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A64D79"/>
                </a:solidFill>
                <a:latin typeface="Calibri"/>
              </a:rPr>
              <a:t>CONCEPTO 47 · EL COMPOUNDING STACK</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Compound organization (organización)</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Síntesis</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compounding</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50</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A64D79"/>
                </a:solidFill>
                <a:latin typeface="Calibri"/>
              </a:rPr>
              <a:t>QUÉ ES.  </a:t>
            </a:r>
            <a:r>
              <a:rPr sz="1250" b="1" i="0">
                <a:solidFill>
                  <a:srgbClr val="1A2B4A"/>
                </a:solidFill>
                <a:latin typeface="Calibri"/>
              </a:rPr>
              <a:t>Cada proceso repetible y cada buena contratación suben la capacidad de ejecutar todo lo que viene. La organización compone o se degrada.</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Cómo compone</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CI/CD, runbooks y mecanismos de decisión convierten heroísmo en sistema: cada proyecto sale mejor que el anterior.</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producto / SaaS</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Velocidad de deploy, calidad y previsibilidad mejoran con el sistema, no con horas heroicas que no escalan.</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La IA amplifica la organización que ya tenés: procesos buenos se automatizan y escalan; malos, se automatizan y se multiplican.</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Codificá la cultura en mecanismos (Amazon), no en pósters. El capital organizacional se construye con sistemas repetibles.</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Amazon (mecanismos, 2-pizza teams) y Toyota (TPS): ventaja organizacional que sobrevive a cualquier producto individual.</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Escalar headcount sin escalar procesos: la coordinación colapsa (ley de Brooks). Más gente rinde cada vez menos.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A64D79"/>
                </a:solidFill>
                <a:latin typeface="Calibri"/>
              </a:rPr>
              <a:t>CONCEPTO 48 · EL COMPOUNDING STACK</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Compound distribution (distribución)</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Síntesis</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compounding</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51</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A64D79"/>
                </a:solidFill>
                <a:latin typeface="Calibri"/>
              </a:rPr>
              <a:t>QUÉ ES.  </a:t>
            </a:r>
            <a:r>
              <a:rPr sz="1250" b="1" i="0">
                <a:solidFill>
                  <a:srgbClr val="1A2B4A"/>
                </a:solidFill>
                <a:latin typeface="Calibri"/>
              </a:rPr>
              <a:t>Cada usuario y cada canal ganado baja el costo de ganar el próximo. La distribución que se auto-alimenta vale tanto como el producto.</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Cómo compone</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Viralidad (k-factor), SEO que rankea para siempre, comunidad y marca: canales que componen en vez de alquilarse cada mes.</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producto / SaaS</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PLG (product-led growth): el producto es el canal. Cada usuario invita al siguiente y el CAC baja con la escala.</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La IA abarata producir contenido y personalizar a escala: potencia los canales que componen (SEO, personalización).</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Priorizá canales que acumulan (comunidad, marca, viralidad, SEO) sobre los que alquilás (ads que se apagan al cortar el gasto).</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Slack, Dropbox, Figma y Notion: crecimiento por producto y comunidad, con CAC que baja al escalar en vez de subir.</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Depender solo de ads: distribución que NO compone; parás de pagar y parás de crecer. (Thiel: el eslabón más subestimado.)</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A64D79"/>
                </a:solidFill>
                <a:latin typeface="Calibri"/>
              </a:rPr>
              <a:t>CONCEPTO 49 · EL COMPOUNDING STACK</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Compound ecosystem (ecosistema)</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Síntesis</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compounding</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52</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A64D79"/>
                </a:solidFill>
                <a:latin typeface="Calibri"/>
              </a:rPr>
              <a:t>QUÉ ES.  </a:t>
            </a:r>
            <a:r>
              <a:rPr sz="1250" b="1" i="0">
                <a:solidFill>
                  <a:srgbClr val="1A2B4A"/>
                </a:solidFill>
                <a:latin typeface="Calibri"/>
              </a:rPr>
              <a:t>Cada tercero que construye SOBRE vos aumenta tu valor sin costo tuyo — y sube el costo de reemplazarte. El moat que otros construyen por vos.</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Cómo compone</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Integraciones, plugins, apps y partners son I+D externo gratis que te hace más útil y más pegajoso con cada incorporación.</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producto / SaaS</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Un marketplace de extensiones convierte tu producto en plataforma: economías de alcance (6) externalizadas + lock-in (21) creciente.</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Ecosistemas de tools/agents alrededor de tu API o modelo multiplican utilidad y switching cost. La IA facilita construir sobre vos.</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Invertí en developer experience y rev-share: cada dev externo profundiza tu moat. Es el moat compuesto por excelencia.</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Salesforce (AppExchange), Apple (App Store), Shopify y SAP: ecosistemas que valen más que el producto que los originó.</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Competir con tu propio ecosistema o cerrarlo demasiado: matás la I+D gratis que te fortalecía cada día.</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A64D79"/>
                </a:solidFill>
                <a:latin typeface="Calibri"/>
              </a:rPr>
              <a:t>SÍNTESIS ACTO VII</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El compounding stack: seis capas que se apilan</a:t>
            </a:r>
          </a:p>
        </p:txBody>
      </p:sp>
      <p:sp>
        <p:nvSpPr>
          <p:cNvPr id="7" name="Rectangle 6"/>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9" name="TextBox 8"/>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53</a:t>
            </a:r>
          </a:p>
        </p:txBody>
      </p:sp>
      <p:sp>
        <p:nvSpPr>
          <p:cNvPr id="10" name="Rounded Rectangle 9"/>
          <p:cNvSpPr/>
          <p:nvPr/>
        </p:nvSpPr>
        <p:spPr>
          <a:xfrm>
            <a:off x="320040" y="960120"/>
            <a:ext cx="4206240" cy="3749039"/>
          </a:xfrm>
          <a:prstGeom prst="roundRect">
            <a:avLst>
              <a:gd name="adj" fmla="val 4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20040" y="960120"/>
            <a:ext cx="4206240" cy="420624"/>
          </a:xfrm>
          <a:prstGeom prst="roundRect">
            <a:avLst>
              <a:gd name="adj" fmla="val 8000"/>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170432"/>
            <a:ext cx="4206240" cy="210312"/>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 y="960120"/>
            <a:ext cx="3931920" cy="420624"/>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150" b="1" i="0">
                <a:solidFill>
                  <a:srgbClr val="FFFFFF"/>
                </a:solidFill>
                <a:latin typeface="Calibri"/>
              </a:rPr>
              <a:t>De abajo hacia arriba (cada una habilita la siguiente)</a:t>
            </a:r>
          </a:p>
        </p:txBody>
      </p:sp>
      <p:sp>
        <p:nvSpPr>
          <p:cNvPr id="14" name="TextBox 13"/>
          <p:cNvSpPr txBox="1"/>
          <p:nvPr/>
        </p:nvSpPr>
        <p:spPr>
          <a:xfrm>
            <a:off x="484632" y="1481328"/>
            <a:ext cx="3886200" cy="3108960"/>
          </a:xfrm>
          <a:prstGeom prst="rect">
            <a:avLst/>
          </a:prstGeom>
          <a:noFill/>
        </p:spPr>
        <p:txBody>
          <a:bodyPr wrap="square" anchor="t" lIns="12700" rIns="12700" tIns="12700" bIns="12700">
            <a:spAutoFit/>
          </a:bodyPr>
          <a:lstStyle/>
          <a:p>
            <a:pPr algn="l">
              <a:lnSpc>
                <a:spcPct val="106000"/>
              </a:lnSpc>
              <a:spcBef>
                <a:spcPts val="0"/>
              </a:spcBef>
              <a:spcAft>
                <a:spcPts val="500"/>
              </a:spcAft>
            </a:pPr>
            <a:r>
              <a:rPr sz="940" b="1" i="0">
                <a:solidFill>
                  <a:srgbClr val="A64D79"/>
                </a:solidFill>
                <a:latin typeface="Calibri"/>
              </a:rPr>
              <a:t>1 · Conocimiento  </a:t>
            </a:r>
            <a:r>
              <a:rPr sz="940" b="0" i="0">
                <a:solidFill>
                  <a:srgbClr val="30435C"/>
                </a:solidFill>
                <a:latin typeface="Calibri"/>
              </a:rPr>
              <a:t>codificado, no en cabezas → base de todo</a:t>
            </a:r>
          </a:p>
          <a:p>
            <a:pPr algn="l">
              <a:lnSpc>
                <a:spcPct val="106000"/>
              </a:lnSpc>
              <a:spcBef>
                <a:spcPts val="0"/>
              </a:spcBef>
              <a:spcAft>
                <a:spcPts val="500"/>
              </a:spcAft>
            </a:pPr>
            <a:r>
              <a:rPr sz="940" b="1" i="0">
                <a:solidFill>
                  <a:srgbClr val="A64D79"/>
                </a:solidFill>
                <a:latin typeface="Calibri"/>
              </a:rPr>
              <a:t>2 · Software  </a:t>
            </a:r>
            <a:r>
              <a:rPr sz="940" b="0" i="0">
                <a:solidFill>
                  <a:srgbClr val="30435C"/>
                </a:solidFill>
                <a:latin typeface="Calibri"/>
              </a:rPr>
              <a:t>abstracciones reutilizables sobre ese conocimiento</a:t>
            </a:r>
          </a:p>
          <a:p>
            <a:pPr algn="l">
              <a:lnSpc>
                <a:spcPct val="106000"/>
              </a:lnSpc>
              <a:spcBef>
                <a:spcPts val="0"/>
              </a:spcBef>
              <a:spcAft>
                <a:spcPts val="500"/>
              </a:spcAft>
            </a:pPr>
            <a:r>
              <a:rPr sz="940" b="1" i="0">
                <a:solidFill>
                  <a:srgbClr val="A64D79"/>
                </a:solidFill>
                <a:latin typeface="Calibri"/>
              </a:rPr>
              <a:t>3 · Datos  </a:t>
            </a:r>
            <a:r>
              <a:rPr sz="940" b="0" i="0">
                <a:solidFill>
                  <a:srgbClr val="30435C"/>
                </a:solidFill>
                <a:latin typeface="Calibri"/>
              </a:rPr>
              <a:t>que el software captura y versiona</a:t>
            </a:r>
          </a:p>
          <a:p>
            <a:pPr algn="l">
              <a:lnSpc>
                <a:spcPct val="106000"/>
              </a:lnSpc>
              <a:spcBef>
                <a:spcPts val="0"/>
              </a:spcBef>
              <a:spcAft>
                <a:spcPts val="500"/>
              </a:spcAft>
            </a:pPr>
            <a:r>
              <a:rPr sz="940" b="1" i="0">
                <a:solidFill>
                  <a:srgbClr val="A64D79"/>
                </a:solidFill>
                <a:latin typeface="Calibri"/>
              </a:rPr>
              <a:t>4 · Organización  </a:t>
            </a:r>
            <a:r>
              <a:rPr sz="940" b="0" i="0">
                <a:solidFill>
                  <a:srgbClr val="30435C"/>
                </a:solidFill>
                <a:latin typeface="Calibri"/>
              </a:rPr>
              <a:t>procesos que ejecutan sobre datos+software</a:t>
            </a:r>
          </a:p>
          <a:p>
            <a:pPr algn="l">
              <a:lnSpc>
                <a:spcPct val="106000"/>
              </a:lnSpc>
              <a:spcBef>
                <a:spcPts val="0"/>
              </a:spcBef>
              <a:spcAft>
                <a:spcPts val="500"/>
              </a:spcAft>
            </a:pPr>
            <a:r>
              <a:rPr sz="940" b="1" i="0">
                <a:solidFill>
                  <a:srgbClr val="A64D79"/>
                </a:solidFill>
                <a:latin typeface="Calibri"/>
              </a:rPr>
              <a:t>5 · Distribución  </a:t>
            </a:r>
            <a:r>
              <a:rPr sz="940" b="0" i="0">
                <a:solidFill>
                  <a:srgbClr val="30435C"/>
                </a:solidFill>
                <a:latin typeface="Calibri"/>
              </a:rPr>
              <a:t>que la organización acumula (no alquila)</a:t>
            </a:r>
          </a:p>
          <a:p>
            <a:pPr algn="l">
              <a:lnSpc>
                <a:spcPct val="106000"/>
              </a:lnSpc>
              <a:spcBef>
                <a:spcPts val="0"/>
              </a:spcBef>
              <a:spcAft>
                <a:spcPts val="500"/>
              </a:spcAft>
            </a:pPr>
            <a:r>
              <a:rPr sz="940" b="1" i="0">
                <a:solidFill>
                  <a:srgbClr val="A64D79"/>
                </a:solidFill>
                <a:latin typeface="Calibri"/>
              </a:rPr>
              <a:t>6 · Ecosistema  </a:t>
            </a:r>
            <a:r>
              <a:rPr sz="940" b="0" i="0">
                <a:solidFill>
                  <a:srgbClr val="30435C"/>
                </a:solidFill>
                <a:latin typeface="Calibri"/>
              </a:rPr>
              <a:t>terceros que construyen sobre las 5 capas</a:t>
            </a:r>
          </a:p>
        </p:txBody>
      </p:sp>
      <p:sp>
        <p:nvSpPr>
          <p:cNvPr id="15" name="Rounded Rectangle 14"/>
          <p:cNvSpPr/>
          <p:nvPr/>
        </p:nvSpPr>
        <p:spPr>
          <a:xfrm>
            <a:off x="4617720" y="960120"/>
            <a:ext cx="4206240" cy="3749039"/>
          </a:xfrm>
          <a:prstGeom prst="roundRect">
            <a:avLst>
              <a:gd name="adj" fmla="val 4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17720" y="960120"/>
            <a:ext cx="4206240" cy="420624"/>
          </a:xfrm>
          <a:prstGeom prst="roundRect">
            <a:avLst>
              <a:gd name="adj" fmla="val 8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170432"/>
            <a:ext cx="4206240" cy="21031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45736" y="960120"/>
            <a:ext cx="3931920" cy="420624"/>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150" b="1" i="0">
                <a:solidFill>
                  <a:srgbClr val="FFFFFF"/>
                </a:solidFill>
                <a:latin typeface="Calibri"/>
              </a:rPr>
              <a:t>La regla del builder</a:t>
            </a:r>
          </a:p>
        </p:txBody>
      </p:sp>
      <p:sp>
        <p:nvSpPr>
          <p:cNvPr id="19" name="TextBox 18"/>
          <p:cNvSpPr txBox="1"/>
          <p:nvPr/>
        </p:nvSpPr>
        <p:spPr>
          <a:xfrm>
            <a:off x="4782312" y="1481328"/>
            <a:ext cx="3886200" cy="3108960"/>
          </a:xfrm>
          <a:prstGeom prst="rect">
            <a:avLst/>
          </a:prstGeom>
          <a:noFill/>
        </p:spPr>
        <p:txBody>
          <a:bodyPr wrap="square" anchor="t" lIns="12700" rIns="12700" tIns="12700" bIns="12700">
            <a:spAutoFit/>
          </a:bodyPr>
          <a:lstStyle/>
          <a:p>
            <a:pPr algn="l">
              <a:lnSpc>
                <a:spcPct val="106000"/>
              </a:lnSpc>
              <a:spcBef>
                <a:spcPts val="0"/>
              </a:spcBef>
              <a:spcAft>
                <a:spcPts val="500"/>
              </a:spcAft>
            </a:pPr>
            <a:r>
              <a:rPr sz="940" b="1" i="0">
                <a:solidFill>
                  <a:srgbClr val="4CAF50"/>
                </a:solidFill>
                <a:latin typeface="Calibri"/>
              </a:rPr>
              <a:t>Componen juntas  </a:t>
            </a:r>
            <a:r>
              <a:rPr sz="940" b="0" i="0">
                <a:solidFill>
                  <a:srgbClr val="30435C"/>
                </a:solidFill>
                <a:latin typeface="Calibri"/>
              </a:rPr>
              <a:t>una capa débil limita a las de arriba</a:t>
            </a:r>
          </a:p>
          <a:p>
            <a:pPr algn="l">
              <a:lnSpc>
                <a:spcPct val="106000"/>
              </a:lnSpc>
              <a:spcBef>
                <a:spcPts val="0"/>
              </a:spcBef>
              <a:spcAft>
                <a:spcPts val="500"/>
              </a:spcAft>
            </a:pPr>
            <a:r>
              <a:rPr sz="940" b="1" i="0">
                <a:solidFill>
                  <a:srgbClr val="4CAF50"/>
                </a:solidFill>
                <a:latin typeface="Calibri"/>
              </a:rPr>
              <a:t>Se diseñan, no se esperan  </a:t>
            </a:r>
            <a:r>
              <a:rPr sz="940" b="0" i="0">
                <a:solidFill>
                  <a:srgbClr val="30435C"/>
                </a:solidFill>
                <a:latin typeface="Calibri"/>
              </a:rPr>
              <a:t>cada una nace de una decisión técnica deliberada</a:t>
            </a:r>
          </a:p>
          <a:p>
            <a:pPr algn="l">
              <a:lnSpc>
                <a:spcPct val="106000"/>
              </a:lnSpc>
              <a:spcBef>
                <a:spcPts val="0"/>
              </a:spcBef>
              <a:spcAft>
                <a:spcPts val="500"/>
              </a:spcAft>
            </a:pPr>
            <a:r>
              <a:rPr sz="940" b="1" i="0">
                <a:solidFill>
                  <a:srgbClr val="4CAF50"/>
                </a:solidFill>
                <a:latin typeface="Calibri"/>
              </a:rPr>
              <a:t>Acumulan, no se defienden  </a:t>
            </a:r>
            <a:r>
              <a:rPr sz="940" b="0" i="0">
                <a:solidFill>
                  <a:srgbClr val="30435C"/>
                </a:solidFill>
                <a:latin typeface="Calibri"/>
              </a:rPr>
              <a:t>crecen solas con el uso y el tiempo</a:t>
            </a:r>
          </a:p>
          <a:p>
            <a:pPr algn="l">
              <a:lnSpc>
                <a:spcPct val="106000"/>
              </a:lnSpc>
              <a:spcBef>
                <a:spcPts val="0"/>
              </a:spcBef>
              <a:spcAft>
                <a:spcPts val="500"/>
              </a:spcAft>
            </a:pPr>
            <a:r>
              <a:rPr sz="940" b="1" i="0">
                <a:solidFill>
                  <a:srgbClr val="4CAF50"/>
                </a:solidFill>
                <a:latin typeface="Calibri"/>
              </a:rPr>
              <a:t>El valor no es el código  </a:t>
            </a:r>
            <a:r>
              <a:rPr sz="940" b="0" i="0">
                <a:solidFill>
                  <a:srgbClr val="30435C"/>
                </a:solidFill>
                <a:latin typeface="Calibri"/>
              </a:rPr>
              <a:t>es lo que las seis capas capturan y amplían</a:t>
            </a:r>
          </a:p>
          <a:p>
            <a:pPr algn="l">
              <a:lnSpc>
                <a:spcPct val="106000"/>
              </a:lnSpc>
              <a:spcBef>
                <a:spcPts val="0"/>
              </a:spcBef>
              <a:spcAft>
                <a:spcPts val="500"/>
              </a:spcAft>
            </a:pPr>
            <a:r>
              <a:rPr sz="940" b="1" i="0">
                <a:solidFill>
                  <a:srgbClr val="4CAF50"/>
                </a:solidFill>
                <a:latin typeface="Calibri"/>
              </a:rPr>
              <a:t>Preguntá siempre  </a:t>
            </a:r>
            <a:r>
              <a:rPr sz="940" b="0" i="0">
                <a:solidFill>
                  <a:srgbClr val="30435C"/>
                </a:solidFill>
                <a:latin typeface="Calibri"/>
              </a:rPr>
              <a:t>¿esta decisión ahonda alguna capa, o solo cierra un ticket?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A64D79"/>
                </a:solidFill>
                <a:latin typeface="Calibri"/>
              </a:rPr>
              <a:t>CONCEPTO 50 · EL OBJETIVO</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Cómo nace una empresa de un billón de dólares</a:t>
            </a:r>
          </a:p>
        </p:txBody>
      </p:sp>
      <p:sp>
        <p:nvSpPr>
          <p:cNvPr id="7" name="Rounded Rectangle 6"/>
          <p:cNvSpPr/>
          <p:nvPr/>
        </p:nvSpPr>
        <p:spPr>
          <a:xfrm>
            <a:off x="6903720" y="201168"/>
            <a:ext cx="1920240" cy="347472"/>
          </a:xfrm>
          <a:prstGeom prst="roundRect">
            <a:avLst>
              <a:gd name="adj" fmla="val 50000"/>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01168"/>
            <a:ext cx="45720" cy="347472"/>
          </a:xfrm>
          <a:prstGeom prst="rect">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4" y="214884"/>
            <a:ext cx="1783080" cy="1828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50" b="1" i="0">
                <a:solidFill>
                  <a:srgbClr val="FFFFFF"/>
                </a:solidFill>
                <a:latin typeface="Calibri"/>
              </a:rPr>
              <a:t>Síntesis de la charla</a:t>
            </a:r>
          </a:p>
        </p:txBody>
      </p:sp>
      <p:sp>
        <p:nvSpPr>
          <p:cNvPr id="10" name="TextBox 9"/>
          <p:cNvSpPr txBox="1"/>
          <p:nvPr/>
        </p:nvSpPr>
        <p:spPr>
          <a:xfrm>
            <a:off x="7004304" y="379476"/>
            <a:ext cx="1783080" cy="15544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700" b="0" i="1">
                <a:solidFill>
                  <a:srgbClr val="B0BEC5"/>
                </a:solidFill>
                <a:latin typeface="Calibri"/>
              </a:rPr>
              <a:t>—</a:t>
            </a:r>
          </a:p>
        </p:txBody>
      </p:sp>
      <p:sp>
        <p:nvSpPr>
          <p:cNvPr id="11" name="Rectangle 10"/>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13" name="TextBox 12"/>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54</a:t>
            </a:r>
          </a:p>
        </p:txBody>
      </p:sp>
      <p:sp>
        <p:nvSpPr>
          <p:cNvPr id="14" name="Rounded Rectangle 13"/>
          <p:cNvSpPr/>
          <p:nvPr/>
        </p:nvSpPr>
        <p:spPr>
          <a:xfrm>
            <a:off x="320040" y="896112"/>
            <a:ext cx="8503920" cy="566928"/>
          </a:xfrm>
          <a:prstGeom prst="roundRect">
            <a:avLst>
              <a:gd name="adj" fmla="val 8000"/>
            </a:avLst>
          </a:prstGeom>
          <a:solidFill>
            <a:srgbClr val="E8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 y="896112"/>
            <a:ext cx="54864" cy="566928"/>
          </a:xfrm>
          <a:prstGeom prst="roundRect">
            <a:avLst>
              <a:gd name="adj" fmla="val 50000"/>
            </a:avLst>
          </a:prstGeom>
          <a:solidFill>
            <a:srgbClr val="A6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896112"/>
            <a:ext cx="822960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000" b="1" i="0">
                <a:solidFill>
                  <a:srgbClr val="A64D79"/>
                </a:solidFill>
                <a:latin typeface="Calibri"/>
              </a:rPr>
              <a:t>QUÉ ES.  </a:t>
            </a:r>
            <a:r>
              <a:rPr sz="1250" b="1" i="0">
                <a:solidFill>
                  <a:srgbClr val="1A2B4A"/>
                </a:solidFill>
                <a:latin typeface="Calibri"/>
              </a:rPr>
              <a:t>No por escribir mejor código, sino por ensamblar un sistema económico donde conocimiento, software, datos, red y ecosistema componen a la vez.</a:t>
            </a:r>
          </a:p>
        </p:txBody>
      </p:sp>
      <p:sp>
        <p:nvSpPr>
          <p:cNvPr id="17" name="Rounded Rectangle 16"/>
          <p:cNvSpPr/>
          <p:nvPr/>
        </p:nvSpPr>
        <p:spPr>
          <a:xfrm>
            <a:off x="32004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1572768"/>
            <a:ext cx="54864" cy="1444752"/>
          </a:xfrm>
          <a:prstGeom prst="roundRect">
            <a:avLst>
              <a:gd name="adj" fmla="val 50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A9EFF"/>
                </a:solidFill>
                <a:latin typeface="Calibri"/>
              </a:rPr>
              <a:t>El patrón común</a:t>
            </a:r>
          </a:p>
        </p:txBody>
      </p:sp>
      <p:sp>
        <p:nvSpPr>
          <p:cNvPr id="20" name="TextBox 19"/>
          <p:cNvSpPr txBox="1"/>
          <p:nvPr/>
        </p:nvSpPr>
        <p:spPr>
          <a:xfrm>
            <a:off x="46634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La receta recurrente: un mercado winner-take-most + un producto 10x + un flywheel de datos/red + costo marginal decreciente + distribución que compone.</a:t>
            </a:r>
          </a:p>
        </p:txBody>
      </p:sp>
      <p:sp>
        <p:nvSpPr>
          <p:cNvPr id="21" name="Rounded Rectangle 20"/>
          <p:cNvSpPr/>
          <p:nvPr/>
        </p:nvSpPr>
        <p:spPr>
          <a:xfrm>
            <a:off x="320040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0400" y="1572768"/>
            <a:ext cx="54864" cy="1444752"/>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FF8C42"/>
                </a:solidFill>
                <a:latin typeface="Calibri"/>
              </a:rPr>
              <a:t>En SaaS / plataforma</a:t>
            </a:r>
          </a:p>
        </p:txBody>
      </p:sp>
      <p:sp>
        <p:nvSpPr>
          <p:cNvPr id="24" name="TextBox 23"/>
          <p:cNvSpPr txBox="1"/>
          <p:nvPr/>
        </p:nvSpPr>
        <p:spPr>
          <a:xfrm>
            <a:off x="334670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Empezá monopolizando un nicho chico (Thiel), llegá primero a escala si hay red (Hoffman), y ahondá moats que se acumulan (no que se defienden).</a:t>
            </a:r>
          </a:p>
        </p:txBody>
      </p:sp>
      <p:sp>
        <p:nvSpPr>
          <p:cNvPr id="25" name="Rounded Rectangle 24"/>
          <p:cNvSpPr/>
          <p:nvPr/>
        </p:nvSpPr>
        <p:spPr>
          <a:xfrm>
            <a:off x="6080760" y="1572768"/>
            <a:ext cx="2743200" cy="144475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60" y="1572768"/>
            <a:ext cx="54864" cy="1444752"/>
          </a:xfrm>
          <a:prstGeom prst="roundRect">
            <a:avLst>
              <a:gd name="adj" fmla="val 50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1636776"/>
            <a:ext cx="24871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4CAF50"/>
                </a:solidFill>
                <a:latin typeface="Calibri"/>
              </a:rPr>
              <a:t>En IA</a:t>
            </a:r>
          </a:p>
        </p:txBody>
      </p:sp>
      <p:sp>
        <p:nvSpPr>
          <p:cNvPr id="28" name="TextBox 27"/>
          <p:cNvSpPr txBox="1"/>
          <p:nvPr/>
        </p:nvSpPr>
        <p:spPr>
          <a:xfrm>
            <a:off x="6227064" y="1947672"/>
            <a:ext cx="2468880" cy="987552"/>
          </a:xfrm>
          <a:prstGeom prst="rect">
            <a:avLst/>
          </a:prstGeom>
          <a:noFill/>
        </p:spPr>
        <p:txBody>
          <a:bodyPr wrap="square" anchor="t" lIns="12700" rIns="12700" tIns="12700" bIns="12700">
            <a:spAutoFit/>
          </a:bodyPr>
          <a:lstStyle/>
          <a:p>
            <a:pPr algn="l">
              <a:lnSpc>
                <a:spcPct val="102000"/>
              </a:lnSpc>
              <a:spcBef>
                <a:spcPts val="0"/>
              </a:spcBef>
              <a:spcAft>
                <a:spcPts val="300"/>
              </a:spcAft>
            </a:pPr>
            <a:r>
              <a:rPr sz="919" b="0" i="0">
                <a:solidFill>
                  <a:srgbClr val="30435C"/>
                </a:solidFill>
                <a:latin typeface="Calibri"/>
              </a:rPr>
              <a:t>La IA reabrió el tablero: capacidades 0→1 nuevas cada trimestre. La ventana de fundar categorías está más abierta que nunca en la historia.</a:t>
            </a:r>
          </a:p>
        </p:txBody>
      </p:sp>
      <p:sp>
        <p:nvSpPr>
          <p:cNvPr id="29" name="Rounded Rectangle 28"/>
          <p:cNvSpPr/>
          <p:nvPr/>
        </p:nvSpPr>
        <p:spPr>
          <a:xfrm>
            <a:off x="320040" y="3145536"/>
            <a:ext cx="8503920" cy="658368"/>
          </a:xfrm>
          <a:prstGeom prst="roundRect">
            <a:avLst>
              <a:gd name="adj" fmla="val 6000"/>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145536"/>
            <a:ext cx="54864" cy="658368"/>
          </a:xfrm>
          <a:prstGeom prst="roundRect">
            <a:avLst>
              <a:gd name="adj" fmla="val 50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200400"/>
            <a:ext cx="201168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50" b="1" i="0">
                <a:solidFill>
                  <a:srgbClr val="FF8C42"/>
                </a:solidFill>
                <a:latin typeface="Calibri"/>
              </a:rPr>
              <a:t>⚙  DECISIÓN DE</a:t>
            </a:r>
          </a:p>
          <a:p>
            <a:pPr algn="l">
              <a:lnSpc>
                <a:spcPct val="100000"/>
              </a:lnSpc>
              <a:spcBef>
                <a:spcPts val="0"/>
              </a:spcBef>
              <a:spcAft>
                <a:spcPts val="200"/>
              </a:spcAft>
            </a:pPr>
            <a:r>
              <a:rPr sz="950" b="1" i="0">
                <a:solidFill>
                  <a:srgbClr val="FF8C42"/>
                </a:solidFill>
                <a:latin typeface="Calibri"/>
              </a:rPr>
              <a:t>INGENIERÍA</a:t>
            </a:r>
          </a:p>
        </p:txBody>
      </p:sp>
      <p:sp>
        <p:nvSpPr>
          <p:cNvPr id="32" name="TextBox 31"/>
          <p:cNvSpPr txBox="1"/>
          <p:nvPr/>
        </p:nvSpPr>
        <p:spPr>
          <a:xfrm>
            <a:off x="2468880" y="3200400"/>
            <a:ext cx="6263640" cy="566928"/>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960" b="0" i="0">
                <a:solidFill>
                  <a:srgbClr val="E8F1FB"/>
                </a:solidFill>
                <a:latin typeface="Calibri"/>
              </a:rPr>
              <a:t>Cada decisión técnica es una decisión económica: elegí las que hacen bajar tu costo marginal y subir tus efectos de red. Ahí se fabrican los billones.</a:t>
            </a:r>
          </a:p>
        </p:txBody>
      </p:sp>
      <p:sp>
        <p:nvSpPr>
          <p:cNvPr id="33" name="Rounded Rectangle 32"/>
          <p:cNvSpPr/>
          <p:nvPr/>
        </p:nvSpPr>
        <p:spPr>
          <a:xfrm>
            <a:off x="320040" y="3913632"/>
            <a:ext cx="5257800" cy="896112"/>
          </a:xfrm>
          <a:prstGeom prst="roundRect">
            <a:avLst>
              <a:gd name="adj" fmla="val 6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040" y="3913632"/>
            <a:ext cx="54864" cy="896112"/>
          </a:xfrm>
          <a:prstGeom prst="roundRect">
            <a:avLst>
              <a:gd name="adj" fmla="val 50000"/>
            </a:avLst>
          </a:prstGeom>
          <a:solidFill>
            <a:srgbClr val="2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 y="3977640"/>
            <a:ext cx="500176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2A5A8A"/>
                </a:solidFill>
                <a:latin typeface="Calibri"/>
              </a:rPr>
              <a:t>Evidencia · empresas</a:t>
            </a:r>
          </a:p>
        </p:txBody>
      </p:sp>
      <p:sp>
        <p:nvSpPr>
          <p:cNvPr id="36" name="TextBox 35"/>
          <p:cNvSpPr txBox="1"/>
          <p:nvPr/>
        </p:nvSpPr>
        <p:spPr>
          <a:xfrm>
            <a:off x="466344" y="4288536"/>
            <a:ext cx="498348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30435C"/>
                </a:solidFill>
                <a:latin typeface="Calibri"/>
              </a:rPr>
              <a:t>Microsoft, Apple, Google, Amazon, Meta, Nvidia: ninguna ganó solo por código. Ganaron por construir sistemas de rendimientos crecientes.</a:t>
            </a:r>
          </a:p>
        </p:txBody>
      </p:sp>
      <p:sp>
        <p:nvSpPr>
          <p:cNvPr id="37" name="Rounded Rectangle 36"/>
          <p:cNvSpPr/>
          <p:nvPr/>
        </p:nvSpPr>
        <p:spPr>
          <a:xfrm>
            <a:off x="5715000" y="3913632"/>
            <a:ext cx="3108960" cy="896112"/>
          </a:xfrm>
          <a:prstGeom prst="roundRect">
            <a:avLst>
              <a:gd name="adj" fmla="val 6000"/>
            </a:avLst>
          </a:prstGeom>
          <a:solidFill>
            <a:srgbClr val="FCEEE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715000" y="3913632"/>
            <a:ext cx="54864" cy="896112"/>
          </a:xfrm>
          <a:prstGeom prst="roundRect">
            <a:avLst>
              <a:gd name="adj" fmla="val 50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4" y="3977640"/>
            <a:ext cx="2852928" cy="31089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050" b="1" i="0">
                <a:solidFill>
                  <a:srgbClr val="E05252"/>
                </a:solidFill>
                <a:latin typeface="Calibri"/>
              </a:rPr>
              <a:t>Error común / límite</a:t>
            </a:r>
          </a:p>
        </p:txBody>
      </p:sp>
      <p:sp>
        <p:nvSpPr>
          <p:cNvPr id="40" name="TextBox 39"/>
          <p:cNvSpPr txBox="1"/>
          <p:nvPr/>
        </p:nvSpPr>
        <p:spPr>
          <a:xfrm>
            <a:off x="5861304" y="4288536"/>
            <a:ext cx="2834640" cy="438911"/>
          </a:xfrm>
          <a:prstGeom prst="rect">
            <a:avLst/>
          </a:prstGeom>
          <a:noFill/>
        </p:spPr>
        <p:txBody>
          <a:bodyPr wrap="square" anchor="t" lIns="12700" rIns="12700" tIns="12700" bIns="12700">
            <a:spAutoFit/>
          </a:bodyPr>
          <a:lstStyle/>
          <a:p>
            <a:pPr algn="l">
              <a:lnSpc>
                <a:spcPct val="100000"/>
              </a:lnSpc>
              <a:spcBef>
                <a:spcPts val="0"/>
              </a:spcBef>
              <a:spcAft>
                <a:spcPts val="300"/>
              </a:spcAft>
            </a:pPr>
            <a:r>
              <a:rPr sz="880" b="0" i="0">
                <a:solidFill>
                  <a:srgbClr val="7A3030"/>
                </a:solidFill>
                <a:latin typeface="Calibri"/>
              </a:rPr>
              <a:t>Enamorarse de la proeza técnica y olvidar el sistema económico. El código es el medio; el moat compuesto es el fin.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82296"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640" y="0"/>
            <a:ext cx="4023360" cy="5143500"/>
          </a:xfrm>
          <a:prstGeom prst="rect">
            <a:avLst/>
          </a:prstGeom>
          <a:solidFill>
            <a:srgbClr val="0D1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4206240" cy="182880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1000" b="1" i="0">
                <a:solidFill>
                  <a:srgbClr val="4A9EFF"/>
                </a:solidFill>
                <a:latin typeface="Calibri"/>
              </a:rPr>
              <a:t>08</a:t>
            </a:r>
          </a:p>
        </p:txBody>
      </p:sp>
      <p:sp>
        <p:nvSpPr>
          <p:cNvPr id="7" name="Rectangle 6"/>
          <p:cNvSpPr/>
          <p:nvPr/>
        </p:nvSpPr>
        <p:spPr>
          <a:xfrm>
            <a:off x="685800" y="2743200"/>
            <a:ext cx="2194560" cy="36576"/>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926080"/>
            <a:ext cx="4572000" cy="109728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3000" b="1" i="0">
                <a:solidFill>
                  <a:srgbClr val="FFFFFF"/>
                </a:solidFill>
                <a:latin typeface="Calibri"/>
              </a:rPr>
              <a:t>Síntesis y cierre</a:t>
            </a:r>
          </a:p>
        </p:txBody>
      </p:sp>
      <p:sp>
        <p:nvSpPr>
          <p:cNvPr id="9" name="TextBox 8"/>
          <p:cNvSpPr txBox="1"/>
          <p:nvPr/>
        </p:nvSpPr>
        <p:spPr>
          <a:xfrm>
            <a:off x="5486400" y="1554480"/>
            <a:ext cx="3291840" cy="2377440"/>
          </a:xfrm>
          <a:prstGeom prst="rect">
            <a:avLst/>
          </a:prstGeom>
          <a:noFill/>
        </p:spPr>
        <p:txBody>
          <a:bodyPr wrap="square" anchor="t" lIns="12700" rIns="12700" tIns="12700" bIns="12700">
            <a:spAutoFit/>
          </a:bodyPr>
          <a:lstStyle/>
          <a:p>
            <a:pPr algn="l">
              <a:lnSpc>
                <a:spcPct val="120000"/>
              </a:lnSpc>
              <a:spcBef>
                <a:spcPts val="0"/>
              </a:spcBef>
              <a:spcAft>
                <a:spcPts val="200"/>
              </a:spcAft>
            </a:pPr>
            <a:r>
              <a:rPr sz="1300" b="0" i="0">
                <a:solidFill>
                  <a:srgbClr val="B0BEC5"/>
                </a:solidFill>
                <a:latin typeface="Calibri"/>
              </a:rPr>
              <a:t>El ranking, el mapa de conexiones, los errores a evitar, las métricas a vigilar — y una idea para llevarse a casa.</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A9EFF"/>
                </a:solidFill>
                <a:latin typeface="Calibri"/>
              </a:rPr>
              <a:t>REFERENCIA</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Las 15 teorías, ordenadas por impacto</a:t>
            </a:r>
          </a:p>
        </p:txBody>
      </p:sp>
      <p:sp>
        <p:nvSpPr>
          <p:cNvPr id="7" name="Rectangle 6"/>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9" name="TextBox 8"/>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55</a:t>
            </a:r>
          </a:p>
        </p:txBody>
      </p:sp>
      <p:sp>
        <p:nvSpPr>
          <p:cNvPr id="10" name="Rectangle 9"/>
          <p:cNvSpPr/>
          <p:nvPr/>
        </p:nvSpPr>
        <p:spPr>
          <a:xfrm>
            <a:off x="320040" y="960120"/>
            <a:ext cx="506185" cy="38404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4904" y="960120"/>
            <a:ext cx="414745" cy="38404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910" b="1" i="0">
                <a:solidFill>
                  <a:srgbClr val="FFFFFF"/>
                </a:solidFill>
                <a:latin typeface="Calibri"/>
              </a:rPr>
              <a:t>#</a:t>
            </a:r>
          </a:p>
        </p:txBody>
      </p:sp>
      <p:sp>
        <p:nvSpPr>
          <p:cNvPr id="12" name="Rectangle 11"/>
          <p:cNvSpPr/>
          <p:nvPr/>
        </p:nvSpPr>
        <p:spPr>
          <a:xfrm>
            <a:off x="826225" y="960120"/>
            <a:ext cx="3239588" cy="38404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1089" y="960120"/>
            <a:ext cx="3148148" cy="38404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910" b="1" i="0">
                <a:solidFill>
                  <a:srgbClr val="FFFFFF"/>
                </a:solidFill>
                <a:latin typeface="Calibri"/>
              </a:rPr>
              <a:t>Teoría / hipótesis</a:t>
            </a:r>
          </a:p>
        </p:txBody>
      </p:sp>
      <p:sp>
        <p:nvSpPr>
          <p:cNvPr id="14" name="Rectangle 13"/>
          <p:cNvSpPr/>
          <p:nvPr/>
        </p:nvSpPr>
        <p:spPr>
          <a:xfrm>
            <a:off x="4065814" y="960120"/>
            <a:ext cx="2834640" cy="38404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20678" y="960120"/>
            <a:ext cx="2743200" cy="38404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910" b="1" i="0">
                <a:solidFill>
                  <a:srgbClr val="FFFFFF"/>
                </a:solidFill>
                <a:latin typeface="Calibri"/>
              </a:rPr>
              <a:t>Autor principal</a:t>
            </a:r>
          </a:p>
        </p:txBody>
      </p:sp>
      <p:sp>
        <p:nvSpPr>
          <p:cNvPr id="16" name="Rectangle 15"/>
          <p:cNvSpPr/>
          <p:nvPr/>
        </p:nvSpPr>
        <p:spPr>
          <a:xfrm>
            <a:off x="6900454" y="960120"/>
            <a:ext cx="1012371" cy="38404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55318" y="960120"/>
            <a:ext cx="920931" cy="38404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910" b="1" i="0">
                <a:solidFill>
                  <a:srgbClr val="FFFFFF"/>
                </a:solidFill>
                <a:latin typeface="Calibri"/>
              </a:rPr>
              <a:t>Impacto</a:t>
            </a:r>
          </a:p>
        </p:txBody>
      </p:sp>
      <p:sp>
        <p:nvSpPr>
          <p:cNvPr id="18" name="Rectangle 17"/>
          <p:cNvSpPr/>
          <p:nvPr/>
        </p:nvSpPr>
        <p:spPr>
          <a:xfrm>
            <a:off x="7912825" y="960120"/>
            <a:ext cx="911134" cy="38404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67689" y="960120"/>
            <a:ext cx="819694" cy="38404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910" b="1" i="0">
                <a:solidFill>
                  <a:srgbClr val="FFFFFF"/>
                </a:solidFill>
                <a:latin typeface="Calibri"/>
              </a:rPr>
              <a:t>Concepto</a:t>
            </a:r>
          </a:p>
        </p:txBody>
      </p:sp>
      <p:sp>
        <p:nvSpPr>
          <p:cNvPr id="20" name="Rectangle 19"/>
          <p:cNvSpPr/>
          <p:nvPr/>
        </p:nvSpPr>
        <p:spPr>
          <a:xfrm>
            <a:off x="320040" y="1344168"/>
            <a:ext cx="8503920" cy="227380"/>
          </a:xfrm>
          <a:prstGeom prst="rect">
            <a:avLst/>
          </a:prstGeom>
          <a:solidFill>
            <a:srgbClr val="F7FBFE"/>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4904" y="1344168"/>
            <a:ext cx="414745"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1A2B4A"/>
                </a:solidFill>
                <a:latin typeface="Calibri"/>
              </a:rPr>
              <a:t>1</a:t>
            </a:r>
          </a:p>
        </p:txBody>
      </p:sp>
      <p:sp>
        <p:nvSpPr>
          <p:cNvPr id="22" name="TextBox 21"/>
          <p:cNvSpPr txBox="1"/>
          <p:nvPr/>
        </p:nvSpPr>
        <p:spPr>
          <a:xfrm>
            <a:off x="881089" y="1344168"/>
            <a:ext cx="3148148"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Rendimientos crecientes</a:t>
            </a:r>
          </a:p>
        </p:txBody>
      </p:sp>
      <p:sp>
        <p:nvSpPr>
          <p:cNvPr id="23" name="TextBox 22"/>
          <p:cNvSpPr txBox="1"/>
          <p:nvPr/>
        </p:nvSpPr>
        <p:spPr>
          <a:xfrm>
            <a:off x="4120678" y="1344168"/>
            <a:ext cx="2743200"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Brian Arthur</a:t>
            </a:r>
          </a:p>
        </p:txBody>
      </p:sp>
      <p:sp>
        <p:nvSpPr>
          <p:cNvPr id="24" name="TextBox 23"/>
          <p:cNvSpPr txBox="1"/>
          <p:nvPr/>
        </p:nvSpPr>
        <p:spPr>
          <a:xfrm>
            <a:off x="6955318" y="1344168"/>
            <a:ext cx="920931"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4CAF50"/>
                </a:solidFill>
                <a:latin typeface="Calibri"/>
              </a:rPr>
              <a:t>10/10</a:t>
            </a:r>
          </a:p>
        </p:txBody>
      </p:sp>
      <p:sp>
        <p:nvSpPr>
          <p:cNvPr id="25" name="TextBox 24"/>
          <p:cNvSpPr txBox="1"/>
          <p:nvPr/>
        </p:nvSpPr>
        <p:spPr>
          <a:xfrm>
            <a:off x="7967689" y="1344168"/>
            <a:ext cx="819694"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04</a:t>
            </a:r>
          </a:p>
        </p:txBody>
      </p:sp>
      <p:sp>
        <p:nvSpPr>
          <p:cNvPr id="26" name="Rectangle 25"/>
          <p:cNvSpPr/>
          <p:nvPr/>
        </p:nvSpPr>
        <p:spPr>
          <a:xfrm>
            <a:off x="320040" y="1571548"/>
            <a:ext cx="8503920" cy="227380"/>
          </a:xfrm>
          <a:prstGeom prst="rect">
            <a:avLst/>
          </a:prstGeom>
          <a:solidFill>
            <a:srgbClr val="FFFFFF"/>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4904" y="1571548"/>
            <a:ext cx="414745"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1A2B4A"/>
                </a:solidFill>
                <a:latin typeface="Calibri"/>
              </a:rPr>
              <a:t>2</a:t>
            </a:r>
          </a:p>
        </p:txBody>
      </p:sp>
      <p:sp>
        <p:nvSpPr>
          <p:cNvPr id="28" name="TextBox 27"/>
          <p:cNvSpPr txBox="1"/>
          <p:nvPr/>
        </p:nvSpPr>
        <p:spPr>
          <a:xfrm>
            <a:off x="881089" y="1571548"/>
            <a:ext cx="3148148"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Crecimiento endógeno</a:t>
            </a:r>
          </a:p>
        </p:txBody>
      </p:sp>
      <p:sp>
        <p:nvSpPr>
          <p:cNvPr id="29" name="TextBox 28"/>
          <p:cNvSpPr txBox="1"/>
          <p:nvPr/>
        </p:nvSpPr>
        <p:spPr>
          <a:xfrm>
            <a:off x="4120678" y="1571548"/>
            <a:ext cx="2743200"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Paul Romer</a:t>
            </a:r>
          </a:p>
        </p:txBody>
      </p:sp>
      <p:sp>
        <p:nvSpPr>
          <p:cNvPr id="30" name="TextBox 29"/>
          <p:cNvSpPr txBox="1"/>
          <p:nvPr/>
        </p:nvSpPr>
        <p:spPr>
          <a:xfrm>
            <a:off x="6955318" y="1571548"/>
            <a:ext cx="920931"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4CAF50"/>
                </a:solidFill>
                <a:latin typeface="Calibri"/>
              </a:rPr>
              <a:t>10/10</a:t>
            </a:r>
          </a:p>
        </p:txBody>
      </p:sp>
      <p:sp>
        <p:nvSpPr>
          <p:cNvPr id="31" name="TextBox 30"/>
          <p:cNvSpPr txBox="1"/>
          <p:nvPr/>
        </p:nvSpPr>
        <p:spPr>
          <a:xfrm>
            <a:off x="7967689" y="1571548"/>
            <a:ext cx="819694"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16</a:t>
            </a:r>
          </a:p>
        </p:txBody>
      </p:sp>
      <p:sp>
        <p:nvSpPr>
          <p:cNvPr id="32" name="Rectangle 31"/>
          <p:cNvSpPr/>
          <p:nvPr/>
        </p:nvSpPr>
        <p:spPr>
          <a:xfrm>
            <a:off x="320040" y="1798929"/>
            <a:ext cx="8503920" cy="227380"/>
          </a:xfrm>
          <a:prstGeom prst="rect">
            <a:avLst/>
          </a:prstGeom>
          <a:solidFill>
            <a:srgbClr val="F7FBFE"/>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74904" y="1798929"/>
            <a:ext cx="414745"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1A2B4A"/>
                </a:solidFill>
                <a:latin typeface="Calibri"/>
              </a:rPr>
              <a:t>3</a:t>
            </a:r>
          </a:p>
        </p:txBody>
      </p:sp>
      <p:sp>
        <p:nvSpPr>
          <p:cNvPr id="34" name="TextBox 33"/>
          <p:cNvSpPr txBox="1"/>
          <p:nvPr/>
        </p:nvSpPr>
        <p:spPr>
          <a:xfrm>
            <a:off x="881089" y="1798929"/>
            <a:ext cx="3148148"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Destrucción creativa</a:t>
            </a:r>
          </a:p>
        </p:txBody>
      </p:sp>
      <p:sp>
        <p:nvSpPr>
          <p:cNvPr id="35" name="TextBox 34"/>
          <p:cNvSpPr txBox="1"/>
          <p:nvPr/>
        </p:nvSpPr>
        <p:spPr>
          <a:xfrm>
            <a:off x="4120678" y="1798929"/>
            <a:ext cx="2743200"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Joseph Schumpeter</a:t>
            </a:r>
          </a:p>
        </p:txBody>
      </p:sp>
      <p:sp>
        <p:nvSpPr>
          <p:cNvPr id="36" name="TextBox 35"/>
          <p:cNvSpPr txBox="1"/>
          <p:nvPr/>
        </p:nvSpPr>
        <p:spPr>
          <a:xfrm>
            <a:off x="6955318" y="1798929"/>
            <a:ext cx="920931"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4CAF50"/>
                </a:solidFill>
                <a:latin typeface="Calibri"/>
              </a:rPr>
              <a:t>10/10</a:t>
            </a:r>
          </a:p>
        </p:txBody>
      </p:sp>
      <p:sp>
        <p:nvSpPr>
          <p:cNvPr id="37" name="TextBox 36"/>
          <p:cNvSpPr txBox="1"/>
          <p:nvPr/>
        </p:nvSpPr>
        <p:spPr>
          <a:xfrm>
            <a:off x="7967689" y="1798929"/>
            <a:ext cx="819694"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38</a:t>
            </a:r>
          </a:p>
        </p:txBody>
      </p:sp>
      <p:sp>
        <p:nvSpPr>
          <p:cNvPr id="38" name="Rectangle 37"/>
          <p:cNvSpPr/>
          <p:nvPr/>
        </p:nvSpPr>
        <p:spPr>
          <a:xfrm>
            <a:off x="320040" y="2026310"/>
            <a:ext cx="8503920" cy="227380"/>
          </a:xfrm>
          <a:prstGeom prst="rect">
            <a:avLst/>
          </a:prstGeom>
          <a:solidFill>
            <a:srgbClr val="FFFFFF"/>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4904" y="2026310"/>
            <a:ext cx="414745"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1A2B4A"/>
                </a:solidFill>
                <a:latin typeface="Calibri"/>
              </a:rPr>
              <a:t>4</a:t>
            </a:r>
          </a:p>
        </p:txBody>
      </p:sp>
      <p:sp>
        <p:nvSpPr>
          <p:cNvPr id="40" name="TextBox 39"/>
          <p:cNvSpPr txBox="1"/>
          <p:nvPr/>
        </p:nvSpPr>
        <p:spPr>
          <a:xfrm>
            <a:off x="881089" y="2026310"/>
            <a:ext cx="3148148"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Economías de escala</a:t>
            </a:r>
          </a:p>
        </p:txBody>
      </p:sp>
      <p:sp>
        <p:nvSpPr>
          <p:cNvPr id="41" name="TextBox 40"/>
          <p:cNvSpPr txBox="1"/>
          <p:nvPr/>
        </p:nvSpPr>
        <p:spPr>
          <a:xfrm>
            <a:off x="4120678" y="2026310"/>
            <a:ext cx="2743200"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Alfred Marshall</a:t>
            </a:r>
          </a:p>
        </p:txBody>
      </p:sp>
      <p:sp>
        <p:nvSpPr>
          <p:cNvPr id="42" name="TextBox 41"/>
          <p:cNvSpPr txBox="1"/>
          <p:nvPr/>
        </p:nvSpPr>
        <p:spPr>
          <a:xfrm>
            <a:off x="6955318" y="2026310"/>
            <a:ext cx="920931"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4CAF50"/>
                </a:solidFill>
                <a:latin typeface="Calibri"/>
              </a:rPr>
              <a:t>10/10</a:t>
            </a:r>
          </a:p>
        </p:txBody>
      </p:sp>
      <p:sp>
        <p:nvSpPr>
          <p:cNvPr id="43" name="TextBox 42"/>
          <p:cNvSpPr txBox="1"/>
          <p:nvPr/>
        </p:nvSpPr>
        <p:spPr>
          <a:xfrm>
            <a:off x="7967689" y="2026310"/>
            <a:ext cx="819694"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05</a:t>
            </a:r>
          </a:p>
        </p:txBody>
      </p:sp>
      <p:sp>
        <p:nvSpPr>
          <p:cNvPr id="44" name="Rectangle 43"/>
          <p:cNvSpPr/>
          <p:nvPr/>
        </p:nvSpPr>
        <p:spPr>
          <a:xfrm>
            <a:off x="320040" y="2253691"/>
            <a:ext cx="8503920" cy="227380"/>
          </a:xfrm>
          <a:prstGeom prst="rect">
            <a:avLst/>
          </a:prstGeom>
          <a:solidFill>
            <a:srgbClr val="F7FBFE"/>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74904" y="2253691"/>
            <a:ext cx="414745"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1A2B4A"/>
                </a:solidFill>
                <a:latin typeface="Calibri"/>
              </a:rPr>
              <a:t>5</a:t>
            </a:r>
          </a:p>
        </p:txBody>
      </p:sp>
      <p:sp>
        <p:nvSpPr>
          <p:cNvPr id="46" name="TextBox 45"/>
          <p:cNvSpPr txBox="1"/>
          <p:nvPr/>
        </p:nvSpPr>
        <p:spPr>
          <a:xfrm>
            <a:off x="881089" y="2253691"/>
            <a:ext cx="3148148"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Efectos de red</a:t>
            </a:r>
          </a:p>
        </p:txBody>
      </p:sp>
      <p:sp>
        <p:nvSpPr>
          <p:cNvPr id="47" name="TextBox 46"/>
          <p:cNvSpPr txBox="1"/>
          <p:nvPr/>
        </p:nvSpPr>
        <p:spPr>
          <a:xfrm>
            <a:off x="4120678" y="2253691"/>
            <a:ext cx="2743200"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Katz &amp; Shapiro; Arthur</a:t>
            </a:r>
          </a:p>
        </p:txBody>
      </p:sp>
      <p:sp>
        <p:nvSpPr>
          <p:cNvPr id="48" name="TextBox 47"/>
          <p:cNvSpPr txBox="1"/>
          <p:nvPr/>
        </p:nvSpPr>
        <p:spPr>
          <a:xfrm>
            <a:off x="6955318" y="2253691"/>
            <a:ext cx="920931"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4CAF50"/>
                </a:solidFill>
                <a:latin typeface="Calibri"/>
              </a:rPr>
              <a:t>10/10</a:t>
            </a:r>
          </a:p>
        </p:txBody>
      </p:sp>
      <p:sp>
        <p:nvSpPr>
          <p:cNvPr id="49" name="TextBox 48"/>
          <p:cNvSpPr txBox="1"/>
          <p:nvPr/>
        </p:nvSpPr>
        <p:spPr>
          <a:xfrm>
            <a:off x="7967689" y="2253691"/>
            <a:ext cx="819694"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23</a:t>
            </a:r>
          </a:p>
        </p:txBody>
      </p:sp>
      <p:sp>
        <p:nvSpPr>
          <p:cNvPr id="50" name="Rectangle 49"/>
          <p:cNvSpPr/>
          <p:nvPr/>
        </p:nvSpPr>
        <p:spPr>
          <a:xfrm>
            <a:off x="320040" y="2481072"/>
            <a:ext cx="8503920" cy="227380"/>
          </a:xfrm>
          <a:prstGeom prst="rect">
            <a:avLst/>
          </a:prstGeom>
          <a:solidFill>
            <a:srgbClr val="FFFFFF"/>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74904" y="2481072"/>
            <a:ext cx="414745"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1A2B4A"/>
                </a:solidFill>
                <a:latin typeface="Calibri"/>
              </a:rPr>
              <a:t>6</a:t>
            </a:r>
          </a:p>
        </p:txBody>
      </p:sp>
      <p:sp>
        <p:nvSpPr>
          <p:cNvPr id="52" name="TextBox 51"/>
          <p:cNvSpPr txBox="1"/>
          <p:nvPr/>
        </p:nvSpPr>
        <p:spPr>
          <a:xfrm>
            <a:off x="881089" y="2481072"/>
            <a:ext cx="3148148"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Bienes no-rivales</a:t>
            </a:r>
          </a:p>
        </p:txBody>
      </p:sp>
      <p:sp>
        <p:nvSpPr>
          <p:cNvPr id="53" name="TextBox 52"/>
          <p:cNvSpPr txBox="1"/>
          <p:nvPr/>
        </p:nvSpPr>
        <p:spPr>
          <a:xfrm>
            <a:off x="4120678" y="2481072"/>
            <a:ext cx="2743200"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Paul Romer</a:t>
            </a:r>
          </a:p>
        </p:txBody>
      </p:sp>
      <p:sp>
        <p:nvSpPr>
          <p:cNvPr id="54" name="TextBox 53"/>
          <p:cNvSpPr txBox="1"/>
          <p:nvPr/>
        </p:nvSpPr>
        <p:spPr>
          <a:xfrm>
            <a:off x="6955318" y="2481072"/>
            <a:ext cx="920931"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4A9EFF"/>
                </a:solidFill>
                <a:latin typeface="Calibri"/>
              </a:rPr>
              <a:t>9.8</a:t>
            </a:r>
          </a:p>
        </p:txBody>
      </p:sp>
      <p:sp>
        <p:nvSpPr>
          <p:cNvPr id="55" name="TextBox 54"/>
          <p:cNvSpPr txBox="1"/>
          <p:nvPr/>
        </p:nvSpPr>
        <p:spPr>
          <a:xfrm>
            <a:off x="7967689" y="2481072"/>
            <a:ext cx="819694"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09</a:t>
            </a:r>
          </a:p>
        </p:txBody>
      </p:sp>
      <p:sp>
        <p:nvSpPr>
          <p:cNvPr id="56" name="Rectangle 55"/>
          <p:cNvSpPr/>
          <p:nvPr/>
        </p:nvSpPr>
        <p:spPr>
          <a:xfrm>
            <a:off x="320040" y="2708452"/>
            <a:ext cx="8503920" cy="227380"/>
          </a:xfrm>
          <a:prstGeom prst="rect">
            <a:avLst/>
          </a:prstGeom>
          <a:solidFill>
            <a:srgbClr val="F7FBFE"/>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74904" y="2708452"/>
            <a:ext cx="414745"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1A2B4A"/>
                </a:solidFill>
                <a:latin typeface="Calibri"/>
              </a:rPr>
              <a:t>7</a:t>
            </a:r>
          </a:p>
        </p:txBody>
      </p:sp>
      <p:sp>
        <p:nvSpPr>
          <p:cNvPr id="58" name="TextBox 57"/>
          <p:cNvSpPr txBox="1"/>
          <p:nvPr/>
        </p:nvSpPr>
        <p:spPr>
          <a:xfrm>
            <a:off x="881089" y="2708452"/>
            <a:ext cx="3148148"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Lock-in tecnológico</a:t>
            </a:r>
          </a:p>
        </p:txBody>
      </p:sp>
      <p:sp>
        <p:nvSpPr>
          <p:cNvPr id="59" name="TextBox 58"/>
          <p:cNvSpPr txBox="1"/>
          <p:nvPr/>
        </p:nvSpPr>
        <p:spPr>
          <a:xfrm>
            <a:off x="4120678" y="2708452"/>
            <a:ext cx="2743200"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Brian Arthur</a:t>
            </a:r>
          </a:p>
        </p:txBody>
      </p:sp>
      <p:sp>
        <p:nvSpPr>
          <p:cNvPr id="60" name="TextBox 59"/>
          <p:cNvSpPr txBox="1"/>
          <p:nvPr/>
        </p:nvSpPr>
        <p:spPr>
          <a:xfrm>
            <a:off x="6955318" y="2708452"/>
            <a:ext cx="920931"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4A9EFF"/>
                </a:solidFill>
                <a:latin typeface="Calibri"/>
              </a:rPr>
              <a:t>9.7</a:t>
            </a:r>
          </a:p>
        </p:txBody>
      </p:sp>
      <p:sp>
        <p:nvSpPr>
          <p:cNvPr id="61" name="TextBox 60"/>
          <p:cNvSpPr txBox="1"/>
          <p:nvPr/>
        </p:nvSpPr>
        <p:spPr>
          <a:xfrm>
            <a:off x="7967689" y="2708452"/>
            <a:ext cx="819694"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21</a:t>
            </a:r>
          </a:p>
        </p:txBody>
      </p:sp>
      <p:sp>
        <p:nvSpPr>
          <p:cNvPr id="62" name="Rectangle 61"/>
          <p:cNvSpPr/>
          <p:nvPr/>
        </p:nvSpPr>
        <p:spPr>
          <a:xfrm>
            <a:off x="320040" y="2935833"/>
            <a:ext cx="8503920" cy="227380"/>
          </a:xfrm>
          <a:prstGeom prst="rect">
            <a:avLst/>
          </a:prstGeom>
          <a:solidFill>
            <a:srgbClr val="FFFFFF"/>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74904" y="2935833"/>
            <a:ext cx="414745"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1A2B4A"/>
                </a:solidFill>
                <a:latin typeface="Calibri"/>
              </a:rPr>
              <a:t>8</a:t>
            </a:r>
          </a:p>
        </p:txBody>
      </p:sp>
      <p:sp>
        <p:nvSpPr>
          <p:cNvPr id="64" name="TextBox 63"/>
          <p:cNvSpPr txBox="1"/>
          <p:nvPr/>
        </p:nvSpPr>
        <p:spPr>
          <a:xfrm>
            <a:off x="881089" y="2935833"/>
            <a:ext cx="3148148"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Path dependence</a:t>
            </a:r>
          </a:p>
        </p:txBody>
      </p:sp>
      <p:sp>
        <p:nvSpPr>
          <p:cNvPr id="65" name="TextBox 64"/>
          <p:cNvSpPr txBox="1"/>
          <p:nvPr/>
        </p:nvSpPr>
        <p:spPr>
          <a:xfrm>
            <a:off x="4120678" y="2935833"/>
            <a:ext cx="2743200"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Brian Arthur</a:t>
            </a:r>
          </a:p>
        </p:txBody>
      </p:sp>
      <p:sp>
        <p:nvSpPr>
          <p:cNvPr id="66" name="TextBox 65"/>
          <p:cNvSpPr txBox="1"/>
          <p:nvPr/>
        </p:nvSpPr>
        <p:spPr>
          <a:xfrm>
            <a:off x="6955318" y="2935833"/>
            <a:ext cx="920931"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4A9EFF"/>
                </a:solidFill>
                <a:latin typeface="Calibri"/>
              </a:rPr>
              <a:t>9.6</a:t>
            </a:r>
          </a:p>
        </p:txBody>
      </p:sp>
      <p:sp>
        <p:nvSpPr>
          <p:cNvPr id="67" name="TextBox 66"/>
          <p:cNvSpPr txBox="1"/>
          <p:nvPr/>
        </p:nvSpPr>
        <p:spPr>
          <a:xfrm>
            <a:off x="7967689" y="2935833"/>
            <a:ext cx="819694"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20</a:t>
            </a:r>
          </a:p>
        </p:txBody>
      </p:sp>
      <p:sp>
        <p:nvSpPr>
          <p:cNvPr id="68" name="Rectangle 67"/>
          <p:cNvSpPr/>
          <p:nvPr/>
        </p:nvSpPr>
        <p:spPr>
          <a:xfrm>
            <a:off x="320040" y="3163214"/>
            <a:ext cx="8503920" cy="227380"/>
          </a:xfrm>
          <a:prstGeom prst="rect">
            <a:avLst/>
          </a:prstGeom>
          <a:solidFill>
            <a:srgbClr val="F7FBFE"/>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74904" y="3163214"/>
            <a:ext cx="414745"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1A2B4A"/>
                </a:solidFill>
                <a:latin typeface="Calibri"/>
              </a:rPr>
              <a:t>9</a:t>
            </a:r>
          </a:p>
        </p:txBody>
      </p:sp>
      <p:sp>
        <p:nvSpPr>
          <p:cNvPr id="70" name="TextBox 69"/>
          <p:cNvSpPr txBox="1"/>
          <p:nvPr/>
        </p:nvSpPr>
        <p:spPr>
          <a:xfrm>
            <a:off x="881089" y="3163214"/>
            <a:ext cx="3148148"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Costo marginal ≈ 0</a:t>
            </a:r>
          </a:p>
        </p:txBody>
      </p:sp>
      <p:sp>
        <p:nvSpPr>
          <p:cNvPr id="71" name="TextBox 70"/>
          <p:cNvSpPr txBox="1"/>
          <p:nvPr/>
        </p:nvSpPr>
        <p:spPr>
          <a:xfrm>
            <a:off x="4120678" y="3163214"/>
            <a:ext cx="2743200"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Shapiro &amp; Varian</a:t>
            </a:r>
          </a:p>
        </p:txBody>
      </p:sp>
      <p:sp>
        <p:nvSpPr>
          <p:cNvPr id="72" name="TextBox 71"/>
          <p:cNvSpPr txBox="1"/>
          <p:nvPr/>
        </p:nvSpPr>
        <p:spPr>
          <a:xfrm>
            <a:off x="6955318" y="3163214"/>
            <a:ext cx="920931"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4A9EFF"/>
                </a:solidFill>
                <a:latin typeface="Calibri"/>
              </a:rPr>
              <a:t>9.5</a:t>
            </a:r>
          </a:p>
        </p:txBody>
      </p:sp>
      <p:sp>
        <p:nvSpPr>
          <p:cNvPr id="73" name="TextBox 72"/>
          <p:cNvSpPr txBox="1"/>
          <p:nvPr/>
        </p:nvSpPr>
        <p:spPr>
          <a:xfrm>
            <a:off x="7967689" y="3163214"/>
            <a:ext cx="819694"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07</a:t>
            </a:r>
          </a:p>
        </p:txBody>
      </p:sp>
      <p:sp>
        <p:nvSpPr>
          <p:cNvPr id="74" name="Rectangle 73"/>
          <p:cNvSpPr/>
          <p:nvPr/>
        </p:nvSpPr>
        <p:spPr>
          <a:xfrm>
            <a:off x="320040" y="3390595"/>
            <a:ext cx="8503920" cy="227380"/>
          </a:xfrm>
          <a:prstGeom prst="rect">
            <a:avLst/>
          </a:prstGeom>
          <a:solidFill>
            <a:srgbClr val="FFFFFF"/>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74904" y="3390595"/>
            <a:ext cx="414745"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1A2B4A"/>
                </a:solidFill>
                <a:latin typeface="Calibri"/>
              </a:rPr>
              <a:t>10</a:t>
            </a:r>
          </a:p>
        </p:txBody>
      </p:sp>
      <p:sp>
        <p:nvSpPr>
          <p:cNvPr id="76" name="TextBox 75"/>
          <p:cNvSpPr txBox="1"/>
          <p:nvPr/>
        </p:nvSpPr>
        <p:spPr>
          <a:xfrm>
            <a:off x="881089" y="3390595"/>
            <a:ext cx="3148148"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Economía de plataformas</a:t>
            </a:r>
          </a:p>
        </p:txBody>
      </p:sp>
      <p:sp>
        <p:nvSpPr>
          <p:cNvPr id="77" name="TextBox 76"/>
          <p:cNvSpPr txBox="1"/>
          <p:nvPr/>
        </p:nvSpPr>
        <p:spPr>
          <a:xfrm>
            <a:off x="4120678" y="3390595"/>
            <a:ext cx="2743200"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Parker·VanAlstyne·Choudary</a:t>
            </a:r>
          </a:p>
        </p:txBody>
      </p:sp>
      <p:sp>
        <p:nvSpPr>
          <p:cNvPr id="78" name="TextBox 77"/>
          <p:cNvSpPr txBox="1"/>
          <p:nvPr/>
        </p:nvSpPr>
        <p:spPr>
          <a:xfrm>
            <a:off x="6955318" y="3390595"/>
            <a:ext cx="920931"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4A9EFF"/>
                </a:solidFill>
                <a:latin typeface="Calibri"/>
              </a:rPr>
              <a:t>9.4</a:t>
            </a:r>
          </a:p>
        </p:txBody>
      </p:sp>
      <p:sp>
        <p:nvSpPr>
          <p:cNvPr id="79" name="TextBox 78"/>
          <p:cNvSpPr txBox="1"/>
          <p:nvPr/>
        </p:nvSpPr>
        <p:spPr>
          <a:xfrm>
            <a:off x="7967689" y="3390595"/>
            <a:ext cx="819694"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27</a:t>
            </a:r>
          </a:p>
        </p:txBody>
      </p:sp>
      <p:sp>
        <p:nvSpPr>
          <p:cNvPr id="80" name="Rectangle 79"/>
          <p:cNvSpPr/>
          <p:nvPr/>
        </p:nvSpPr>
        <p:spPr>
          <a:xfrm>
            <a:off x="320040" y="3617976"/>
            <a:ext cx="8503920" cy="227380"/>
          </a:xfrm>
          <a:prstGeom prst="rect">
            <a:avLst/>
          </a:prstGeom>
          <a:solidFill>
            <a:srgbClr val="F7FBFE"/>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74904" y="3617976"/>
            <a:ext cx="414745"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1A2B4A"/>
                </a:solidFill>
                <a:latin typeface="Calibri"/>
              </a:rPr>
              <a:t>11</a:t>
            </a:r>
          </a:p>
        </p:txBody>
      </p:sp>
      <p:sp>
        <p:nvSpPr>
          <p:cNvPr id="82" name="TextBox 81"/>
          <p:cNvSpPr txBox="1"/>
          <p:nvPr/>
        </p:nvSpPr>
        <p:spPr>
          <a:xfrm>
            <a:off x="881089" y="3617976"/>
            <a:ext cx="3148148"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Innovación combinatoria</a:t>
            </a:r>
          </a:p>
        </p:txBody>
      </p:sp>
      <p:sp>
        <p:nvSpPr>
          <p:cNvPr id="83" name="TextBox 82"/>
          <p:cNvSpPr txBox="1"/>
          <p:nvPr/>
        </p:nvSpPr>
        <p:spPr>
          <a:xfrm>
            <a:off x="4120678" y="3617976"/>
            <a:ext cx="2743200"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Brian Arthur</a:t>
            </a:r>
          </a:p>
        </p:txBody>
      </p:sp>
      <p:sp>
        <p:nvSpPr>
          <p:cNvPr id="84" name="TextBox 83"/>
          <p:cNvSpPr txBox="1"/>
          <p:nvPr/>
        </p:nvSpPr>
        <p:spPr>
          <a:xfrm>
            <a:off x="6955318" y="3617976"/>
            <a:ext cx="920931"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FF8C42"/>
                </a:solidFill>
                <a:latin typeface="Calibri"/>
              </a:rPr>
              <a:t>9.3</a:t>
            </a:r>
          </a:p>
        </p:txBody>
      </p:sp>
      <p:sp>
        <p:nvSpPr>
          <p:cNvPr id="85" name="TextBox 84"/>
          <p:cNvSpPr txBox="1"/>
          <p:nvPr/>
        </p:nvSpPr>
        <p:spPr>
          <a:xfrm>
            <a:off x="7967689" y="3617976"/>
            <a:ext cx="819694"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19</a:t>
            </a:r>
          </a:p>
        </p:txBody>
      </p:sp>
      <p:sp>
        <p:nvSpPr>
          <p:cNvPr id="86" name="Rectangle 85"/>
          <p:cNvSpPr/>
          <p:nvPr/>
        </p:nvSpPr>
        <p:spPr>
          <a:xfrm>
            <a:off x="320040" y="3845356"/>
            <a:ext cx="8503920" cy="227380"/>
          </a:xfrm>
          <a:prstGeom prst="rect">
            <a:avLst/>
          </a:prstGeom>
          <a:solidFill>
            <a:srgbClr val="FFFFFF"/>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74904" y="3845356"/>
            <a:ext cx="414745"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1A2B4A"/>
                </a:solidFill>
                <a:latin typeface="Calibri"/>
              </a:rPr>
              <a:t>12</a:t>
            </a:r>
          </a:p>
        </p:txBody>
      </p:sp>
      <p:sp>
        <p:nvSpPr>
          <p:cNvPr id="88" name="TextBox 87"/>
          <p:cNvSpPr txBox="1"/>
          <p:nvPr/>
        </p:nvSpPr>
        <p:spPr>
          <a:xfrm>
            <a:off x="881089" y="3845356"/>
            <a:ext cx="3148148"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Spillovers de conocimiento</a:t>
            </a:r>
          </a:p>
        </p:txBody>
      </p:sp>
      <p:sp>
        <p:nvSpPr>
          <p:cNvPr id="89" name="TextBox 88"/>
          <p:cNvSpPr txBox="1"/>
          <p:nvPr/>
        </p:nvSpPr>
        <p:spPr>
          <a:xfrm>
            <a:off x="4120678" y="3845356"/>
            <a:ext cx="2743200"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Paul Romer</a:t>
            </a:r>
          </a:p>
        </p:txBody>
      </p:sp>
      <p:sp>
        <p:nvSpPr>
          <p:cNvPr id="90" name="TextBox 89"/>
          <p:cNvSpPr txBox="1"/>
          <p:nvPr/>
        </p:nvSpPr>
        <p:spPr>
          <a:xfrm>
            <a:off x="6955318" y="3845356"/>
            <a:ext cx="920931"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FF8C42"/>
                </a:solidFill>
                <a:latin typeface="Calibri"/>
              </a:rPr>
              <a:t>9.2</a:t>
            </a:r>
          </a:p>
        </p:txBody>
      </p:sp>
      <p:sp>
        <p:nvSpPr>
          <p:cNvPr id="91" name="TextBox 90"/>
          <p:cNvSpPr txBox="1"/>
          <p:nvPr/>
        </p:nvSpPr>
        <p:spPr>
          <a:xfrm>
            <a:off x="7967689" y="3845356"/>
            <a:ext cx="819694"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18</a:t>
            </a:r>
          </a:p>
        </p:txBody>
      </p:sp>
      <p:sp>
        <p:nvSpPr>
          <p:cNvPr id="92" name="Rectangle 91"/>
          <p:cNvSpPr/>
          <p:nvPr/>
        </p:nvSpPr>
        <p:spPr>
          <a:xfrm>
            <a:off x="320040" y="4072737"/>
            <a:ext cx="8503920" cy="227380"/>
          </a:xfrm>
          <a:prstGeom prst="rect">
            <a:avLst/>
          </a:prstGeom>
          <a:solidFill>
            <a:srgbClr val="F7FBFE"/>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74904" y="4072737"/>
            <a:ext cx="414745"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1A2B4A"/>
                </a:solidFill>
                <a:latin typeface="Calibri"/>
              </a:rPr>
              <a:t>13</a:t>
            </a:r>
          </a:p>
        </p:txBody>
      </p:sp>
      <p:sp>
        <p:nvSpPr>
          <p:cNvPr id="94" name="TextBox 93"/>
          <p:cNvSpPr txBox="1"/>
          <p:nvPr/>
        </p:nvSpPr>
        <p:spPr>
          <a:xfrm>
            <a:off x="881089" y="4072737"/>
            <a:ext cx="3148148"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First-mover advantage</a:t>
            </a:r>
          </a:p>
        </p:txBody>
      </p:sp>
      <p:sp>
        <p:nvSpPr>
          <p:cNvPr id="95" name="TextBox 94"/>
          <p:cNvSpPr txBox="1"/>
          <p:nvPr/>
        </p:nvSpPr>
        <p:spPr>
          <a:xfrm>
            <a:off x="4120678" y="4072737"/>
            <a:ext cx="2743200"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Arthur + estrategia</a:t>
            </a:r>
          </a:p>
        </p:txBody>
      </p:sp>
      <p:sp>
        <p:nvSpPr>
          <p:cNvPr id="96" name="TextBox 95"/>
          <p:cNvSpPr txBox="1"/>
          <p:nvPr/>
        </p:nvSpPr>
        <p:spPr>
          <a:xfrm>
            <a:off x="6955318" y="4072737"/>
            <a:ext cx="920931"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FF8C42"/>
                </a:solidFill>
                <a:latin typeface="Calibri"/>
              </a:rPr>
              <a:t>9.0</a:t>
            </a:r>
          </a:p>
        </p:txBody>
      </p:sp>
      <p:sp>
        <p:nvSpPr>
          <p:cNvPr id="97" name="TextBox 96"/>
          <p:cNvSpPr txBox="1"/>
          <p:nvPr/>
        </p:nvSpPr>
        <p:spPr>
          <a:xfrm>
            <a:off x="7967689" y="4072737"/>
            <a:ext cx="819694"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40</a:t>
            </a:r>
          </a:p>
        </p:txBody>
      </p:sp>
      <p:sp>
        <p:nvSpPr>
          <p:cNvPr id="98" name="Rectangle 97"/>
          <p:cNvSpPr/>
          <p:nvPr/>
        </p:nvSpPr>
        <p:spPr>
          <a:xfrm>
            <a:off x="320040" y="4300118"/>
            <a:ext cx="8503920" cy="227380"/>
          </a:xfrm>
          <a:prstGeom prst="rect">
            <a:avLst/>
          </a:prstGeom>
          <a:solidFill>
            <a:srgbClr val="FFFFFF"/>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74904" y="4300118"/>
            <a:ext cx="414745"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1A2B4A"/>
                </a:solidFill>
                <a:latin typeface="Calibri"/>
              </a:rPr>
              <a:t>14</a:t>
            </a:r>
          </a:p>
        </p:txBody>
      </p:sp>
      <p:sp>
        <p:nvSpPr>
          <p:cNvPr id="100" name="TextBox 99"/>
          <p:cNvSpPr txBox="1"/>
          <p:nvPr/>
        </p:nvSpPr>
        <p:spPr>
          <a:xfrm>
            <a:off x="881089" y="4300118"/>
            <a:ext cx="3148148"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Winner-take-all</a:t>
            </a:r>
          </a:p>
        </p:txBody>
      </p:sp>
      <p:sp>
        <p:nvSpPr>
          <p:cNvPr id="101" name="TextBox 100"/>
          <p:cNvSpPr txBox="1"/>
          <p:nvPr/>
        </p:nvSpPr>
        <p:spPr>
          <a:xfrm>
            <a:off x="4120678" y="4300118"/>
            <a:ext cx="2743200"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Arthur; Frank &amp; Cook</a:t>
            </a:r>
          </a:p>
        </p:txBody>
      </p:sp>
      <p:sp>
        <p:nvSpPr>
          <p:cNvPr id="102" name="TextBox 101"/>
          <p:cNvSpPr txBox="1"/>
          <p:nvPr/>
        </p:nvSpPr>
        <p:spPr>
          <a:xfrm>
            <a:off x="6955318" y="4300118"/>
            <a:ext cx="920931"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FF8C42"/>
                </a:solidFill>
                <a:latin typeface="Calibri"/>
              </a:rPr>
              <a:t>9.0</a:t>
            </a:r>
          </a:p>
        </p:txBody>
      </p:sp>
      <p:sp>
        <p:nvSpPr>
          <p:cNvPr id="103" name="TextBox 102"/>
          <p:cNvSpPr txBox="1"/>
          <p:nvPr/>
        </p:nvSpPr>
        <p:spPr>
          <a:xfrm>
            <a:off x="7967689" y="4300118"/>
            <a:ext cx="819694"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25</a:t>
            </a:r>
          </a:p>
        </p:txBody>
      </p:sp>
      <p:sp>
        <p:nvSpPr>
          <p:cNvPr id="104" name="Rectangle 103"/>
          <p:cNvSpPr/>
          <p:nvPr/>
        </p:nvSpPr>
        <p:spPr>
          <a:xfrm>
            <a:off x="320040" y="4527499"/>
            <a:ext cx="8503920" cy="227380"/>
          </a:xfrm>
          <a:prstGeom prst="rect">
            <a:avLst/>
          </a:prstGeom>
          <a:solidFill>
            <a:srgbClr val="F7FBFE"/>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374904" y="4527499"/>
            <a:ext cx="414745"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1A2B4A"/>
                </a:solidFill>
                <a:latin typeface="Calibri"/>
              </a:rPr>
              <a:t>15</a:t>
            </a:r>
          </a:p>
        </p:txBody>
      </p:sp>
      <p:sp>
        <p:nvSpPr>
          <p:cNvPr id="106" name="TextBox 105"/>
          <p:cNvSpPr txBox="1"/>
          <p:nvPr/>
        </p:nvSpPr>
        <p:spPr>
          <a:xfrm>
            <a:off x="881089" y="4527499"/>
            <a:ext cx="3148148"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Blitzscaling</a:t>
            </a:r>
          </a:p>
        </p:txBody>
      </p:sp>
      <p:sp>
        <p:nvSpPr>
          <p:cNvPr id="107" name="TextBox 106"/>
          <p:cNvSpPr txBox="1"/>
          <p:nvPr/>
        </p:nvSpPr>
        <p:spPr>
          <a:xfrm>
            <a:off x="4120678" y="4527499"/>
            <a:ext cx="2743200"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Reid Hoffman</a:t>
            </a:r>
          </a:p>
        </p:txBody>
      </p:sp>
      <p:sp>
        <p:nvSpPr>
          <p:cNvPr id="108" name="TextBox 107"/>
          <p:cNvSpPr txBox="1"/>
          <p:nvPr/>
        </p:nvSpPr>
        <p:spPr>
          <a:xfrm>
            <a:off x="6955318" y="4527499"/>
            <a:ext cx="920931"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1" i="0">
                <a:solidFill>
                  <a:srgbClr val="FF8C42"/>
                </a:solidFill>
                <a:latin typeface="Calibri"/>
              </a:rPr>
              <a:t>8.7</a:t>
            </a:r>
          </a:p>
        </p:txBody>
      </p:sp>
      <p:sp>
        <p:nvSpPr>
          <p:cNvPr id="109" name="TextBox 108"/>
          <p:cNvSpPr txBox="1"/>
          <p:nvPr/>
        </p:nvSpPr>
        <p:spPr>
          <a:xfrm>
            <a:off x="7967689" y="4527499"/>
            <a:ext cx="819694" cy="227380"/>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0" b="0" i="0">
                <a:solidFill>
                  <a:srgbClr val="30435C"/>
                </a:solidFill>
                <a:latin typeface="Calibri"/>
              </a:rPr>
              <a:t>41</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A9EFF"/>
                </a:solidFill>
                <a:latin typeface="Calibri"/>
              </a:rPr>
              <a:t>MAPA DE REFERENCIAS CRUZADAS</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Cómo se conectan las teorías (nada vive solo)</a:t>
            </a:r>
          </a:p>
        </p:txBody>
      </p:sp>
      <p:sp>
        <p:nvSpPr>
          <p:cNvPr id="7" name="Rectangle 6"/>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9" name="TextBox 8"/>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56</a:t>
            </a:r>
          </a:p>
        </p:txBody>
      </p:sp>
      <p:sp>
        <p:nvSpPr>
          <p:cNvPr id="10" name="Rounded Rectangle 9"/>
          <p:cNvSpPr/>
          <p:nvPr/>
        </p:nvSpPr>
        <p:spPr>
          <a:xfrm>
            <a:off x="320040" y="960120"/>
            <a:ext cx="4206240" cy="3749039"/>
          </a:xfrm>
          <a:prstGeom prst="roundRect">
            <a:avLst>
              <a:gd name="adj" fmla="val 4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20040" y="960120"/>
            <a:ext cx="4206240" cy="420624"/>
          </a:xfrm>
          <a:prstGeom prst="roundRect">
            <a:avLst>
              <a:gd name="adj" fmla="val 8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170432"/>
            <a:ext cx="4206240" cy="21031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 y="960120"/>
            <a:ext cx="3931920" cy="420624"/>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150" b="1" i="0">
                <a:solidFill>
                  <a:srgbClr val="FFFFFF"/>
                </a:solidFill>
                <a:latin typeface="Calibri"/>
              </a:rPr>
              <a:t>Cadenas causales</a:t>
            </a:r>
          </a:p>
        </p:txBody>
      </p:sp>
      <p:sp>
        <p:nvSpPr>
          <p:cNvPr id="14" name="TextBox 13"/>
          <p:cNvSpPr txBox="1"/>
          <p:nvPr/>
        </p:nvSpPr>
        <p:spPr>
          <a:xfrm>
            <a:off x="484632" y="1481328"/>
            <a:ext cx="3886200" cy="3108960"/>
          </a:xfrm>
          <a:prstGeom prst="rect">
            <a:avLst/>
          </a:prstGeom>
          <a:noFill/>
        </p:spPr>
        <p:txBody>
          <a:bodyPr wrap="square" anchor="t" lIns="12700" rIns="12700" tIns="12700" bIns="12700">
            <a:spAutoFit/>
          </a:bodyPr>
          <a:lstStyle/>
          <a:p>
            <a:pPr algn="l">
              <a:lnSpc>
                <a:spcPct val="106000"/>
              </a:lnSpc>
              <a:spcBef>
                <a:spcPts val="0"/>
              </a:spcBef>
              <a:spcAft>
                <a:spcPts val="500"/>
              </a:spcAft>
            </a:pPr>
            <a:r>
              <a:rPr sz="940" b="1" i="0">
                <a:solidFill>
                  <a:srgbClr val="4CAF50"/>
                </a:solidFill>
                <a:latin typeface="Calibri"/>
              </a:rPr>
              <a:t>No-rivalidad → todo  </a:t>
            </a:r>
            <a:r>
              <a:rPr sz="940" b="0" i="0">
                <a:solidFill>
                  <a:srgbClr val="30435C"/>
                </a:solidFill>
                <a:latin typeface="Calibri"/>
              </a:rPr>
              <a:t>Romer(9) habilita costo marginal 0(7), escala(5), spillovers(18)</a:t>
            </a:r>
          </a:p>
          <a:p>
            <a:pPr algn="l">
              <a:lnSpc>
                <a:spcPct val="106000"/>
              </a:lnSpc>
              <a:spcBef>
                <a:spcPts val="0"/>
              </a:spcBef>
              <a:spcAft>
                <a:spcPts val="500"/>
              </a:spcAft>
            </a:pPr>
            <a:r>
              <a:rPr sz="940" b="1" i="0">
                <a:solidFill>
                  <a:srgbClr val="4CAF50"/>
                </a:solidFill>
                <a:latin typeface="Calibri"/>
              </a:rPr>
              <a:t>Rend. crecientes → monopolio  </a:t>
            </a:r>
            <a:r>
              <a:rPr sz="940" b="0" i="0">
                <a:solidFill>
                  <a:srgbClr val="30435C"/>
                </a:solidFill>
                <a:latin typeface="Calibri"/>
              </a:rPr>
              <a:t>Arthur(4) → network effects(23) → winner-take-most(25) → monopolio(26)</a:t>
            </a:r>
          </a:p>
          <a:p>
            <a:pPr algn="l">
              <a:lnSpc>
                <a:spcPct val="106000"/>
              </a:lnSpc>
              <a:spcBef>
                <a:spcPts val="0"/>
              </a:spcBef>
              <a:spcAft>
                <a:spcPts val="500"/>
              </a:spcAft>
            </a:pPr>
            <a:r>
              <a:rPr sz="940" b="1" i="0">
                <a:solidFill>
                  <a:srgbClr val="4CAF50"/>
                </a:solidFill>
                <a:latin typeface="Calibri"/>
              </a:rPr>
              <a:t>Red → lock-in → moat  </a:t>
            </a:r>
            <a:r>
              <a:rPr sz="940" b="0" i="0">
                <a:solidFill>
                  <a:srgbClr val="30435C"/>
                </a:solidFill>
                <a:latin typeface="Calibri"/>
              </a:rPr>
              <a:t>network effects(23) → switching cost(22) → lock-in(21) → moat(42)</a:t>
            </a:r>
          </a:p>
          <a:p>
            <a:pPr algn="l">
              <a:lnSpc>
                <a:spcPct val="106000"/>
              </a:lnSpc>
              <a:spcBef>
                <a:spcPts val="0"/>
              </a:spcBef>
              <a:spcAft>
                <a:spcPts val="500"/>
              </a:spcAft>
            </a:pPr>
            <a:r>
              <a:rPr sz="940" b="1" i="0">
                <a:solidFill>
                  <a:srgbClr val="4CAF50"/>
                </a:solidFill>
                <a:latin typeface="Calibri"/>
              </a:rPr>
              <a:t>Datos → IA → ventaja  </a:t>
            </a:r>
            <a:r>
              <a:rPr sz="940" b="0" i="0">
                <a:solidFill>
                  <a:srgbClr val="30435C"/>
                </a:solidFill>
                <a:latin typeface="Calibri"/>
              </a:rPr>
              <a:t>capital de datos(14) → data net. effects(36) → ventaja acumulativa(43)</a:t>
            </a:r>
          </a:p>
          <a:p>
            <a:pPr algn="l">
              <a:lnSpc>
                <a:spcPct val="106000"/>
              </a:lnSpc>
              <a:spcBef>
                <a:spcPts val="0"/>
              </a:spcBef>
              <a:spcAft>
                <a:spcPts val="500"/>
              </a:spcAft>
            </a:pPr>
            <a:r>
              <a:rPr sz="940" b="1" i="0">
                <a:solidFill>
                  <a:srgbClr val="4CAF50"/>
                </a:solidFill>
                <a:latin typeface="Calibri"/>
              </a:rPr>
              <a:t>Combinatoria → velocidad  </a:t>
            </a:r>
            <a:r>
              <a:rPr sz="940" b="0" i="0">
                <a:solidFill>
                  <a:srgbClr val="30435C"/>
                </a:solidFill>
                <a:latin typeface="Calibri"/>
              </a:rPr>
              <a:t>Arthur(19) → APIs(29) → cloud(32) → destrucción creativa(38)</a:t>
            </a:r>
          </a:p>
        </p:txBody>
      </p:sp>
      <p:sp>
        <p:nvSpPr>
          <p:cNvPr id="15" name="Rounded Rectangle 14"/>
          <p:cNvSpPr/>
          <p:nvPr/>
        </p:nvSpPr>
        <p:spPr>
          <a:xfrm>
            <a:off x="4617720" y="960120"/>
            <a:ext cx="4206240" cy="3749039"/>
          </a:xfrm>
          <a:prstGeom prst="roundRect">
            <a:avLst>
              <a:gd name="adj" fmla="val 4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17720" y="960120"/>
            <a:ext cx="4206240" cy="420624"/>
          </a:xfrm>
          <a:prstGeom prst="roundRect">
            <a:avLst>
              <a:gd name="adj" fmla="val 8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170432"/>
            <a:ext cx="4206240" cy="210312"/>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45736" y="960120"/>
            <a:ext cx="3931920" cy="420624"/>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150" b="1" i="0">
                <a:solidFill>
                  <a:srgbClr val="FFFFFF"/>
                </a:solidFill>
                <a:latin typeface="Calibri"/>
              </a:rPr>
              <a:t>Tensiones y debates (honestidad intelectual)</a:t>
            </a:r>
          </a:p>
        </p:txBody>
      </p:sp>
      <p:sp>
        <p:nvSpPr>
          <p:cNvPr id="19" name="TextBox 18"/>
          <p:cNvSpPr txBox="1"/>
          <p:nvPr/>
        </p:nvSpPr>
        <p:spPr>
          <a:xfrm>
            <a:off x="4782312" y="1481328"/>
            <a:ext cx="3886200" cy="3108960"/>
          </a:xfrm>
          <a:prstGeom prst="rect">
            <a:avLst/>
          </a:prstGeom>
          <a:noFill/>
        </p:spPr>
        <p:txBody>
          <a:bodyPr wrap="square" anchor="t" lIns="12700" rIns="12700" tIns="12700" bIns="12700">
            <a:spAutoFit/>
          </a:bodyPr>
          <a:lstStyle/>
          <a:p>
            <a:pPr algn="l">
              <a:lnSpc>
                <a:spcPct val="106000"/>
              </a:lnSpc>
              <a:spcBef>
                <a:spcPts val="0"/>
              </a:spcBef>
              <a:spcAft>
                <a:spcPts val="500"/>
              </a:spcAft>
            </a:pPr>
            <a:r>
              <a:rPr sz="940" b="1" i="0">
                <a:solidFill>
                  <a:srgbClr val="FF8C42"/>
                </a:solidFill>
                <a:latin typeface="Calibri"/>
              </a:rPr>
              <a:t>Thiel vs Christensen  </a:t>
            </a:r>
            <a:r>
              <a:rPr sz="940" b="0" i="0">
                <a:solidFill>
                  <a:srgbClr val="30435C"/>
                </a:solidFill>
                <a:latin typeface="Calibri"/>
              </a:rPr>
              <a:t>¿monopolizar un nicho o disrumpir desde abajo?</a:t>
            </a:r>
          </a:p>
          <a:p>
            <a:pPr algn="l">
              <a:lnSpc>
                <a:spcPct val="106000"/>
              </a:lnSpc>
              <a:spcBef>
                <a:spcPts val="0"/>
              </a:spcBef>
              <a:spcAft>
                <a:spcPts val="500"/>
              </a:spcAft>
            </a:pPr>
            <a:r>
              <a:rPr sz="940" b="1" i="0">
                <a:solidFill>
                  <a:srgbClr val="FF8C42"/>
                </a:solidFill>
                <a:latin typeface="Calibri"/>
              </a:rPr>
              <a:t>Escala vs red  </a:t>
            </a:r>
            <a:r>
              <a:rPr sz="940" b="0" i="0">
                <a:solidFill>
                  <a:srgbClr val="30435C"/>
                </a:solidFill>
                <a:latin typeface="Calibri"/>
              </a:rPr>
              <a:t>economías de escala(5) ≠ efectos de red(23): no confundir</a:t>
            </a:r>
          </a:p>
          <a:p>
            <a:pPr algn="l">
              <a:lnSpc>
                <a:spcPct val="106000"/>
              </a:lnSpc>
              <a:spcBef>
                <a:spcPts val="0"/>
              </a:spcBef>
              <a:spcAft>
                <a:spcPts val="500"/>
              </a:spcAft>
            </a:pPr>
            <a:r>
              <a:rPr sz="940" b="1" i="0">
                <a:solidFill>
                  <a:srgbClr val="FF8C42"/>
                </a:solidFill>
                <a:latin typeface="Calibri"/>
              </a:rPr>
              <a:t>Exclusión vs spillover  </a:t>
            </a:r>
            <a:r>
              <a:rPr sz="940" b="0" i="0">
                <a:solidFill>
                  <a:srgbClr val="30435C"/>
                </a:solidFill>
                <a:latin typeface="Calibri"/>
              </a:rPr>
              <a:t>Romer: too much IP frena difusión; too little frena I+D</a:t>
            </a:r>
          </a:p>
          <a:p>
            <a:pPr algn="l">
              <a:lnSpc>
                <a:spcPct val="106000"/>
              </a:lnSpc>
              <a:spcBef>
                <a:spcPts val="0"/>
              </a:spcBef>
              <a:spcAft>
                <a:spcPts val="500"/>
              </a:spcAft>
            </a:pPr>
            <a:r>
              <a:rPr sz="940" b="1" i="0">
                <a:solidFill>
                  <a:srgbClr val="FF8C42"/>
                </a:solidFill>
                <a:latin typeface="Calibri"/>
              </a:rPr>
              <a:t>First-mover: mixto  </a:t>
            </a:r>
            <a:r>
              <a:rPr sz="940" b="0" i="0">
                <a:solidFill>
                  <a:srgbClr val="30435C"/>
                </a:solidFill>
                <a:latin typeface="Calibri"/>
              </a:rPr>
              <a:t>solo gana con rendimientos crecientes; si no, mártir(40)</a:t>
            </a:r>
          </a:p>
          <a:p>
            <a:pPr algn="l">
              <a:lnSpc>
                <a:spcPct val="106000"/>
              </a:lnSpc>
              <a:spcBef>
                <a:spcPts val="0"/>
              </a:spcBef>
              <a:spcAft>
                <a:spcPts val="500"/>
              </a:spcAft>
            </a:pPr>
            <a:r>
              <a:rPr sz="940" b="1" i="0">
                <a:solidFill>
                  <a:srgbClr val="FF8C42"/>
                </a:solidFill>
                <a:latin typeface="Calibri"/>
              </a:rPr>
              <a:t>Marginal 0 vs IA  </a:t>
            </a:r>
            <a:r>
              <a:rPr sz="940" b="0" i="0">
                <a:solidFill>
                  <a:srgbClr val="30435C"/>
                </a:solidFill>
                <a:latin typeface="Calibri"/>
              </a:rPr>
              <a:t>la IA reintroduce costo variable: revisar pricing(7,34)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FF8C42"/>
                </a:solidFill>
                <a:latin typeface="Calibri"/>
              </a:rPr>
              <a:t>ANTI-PATRONES</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Errores que cometen las startups (y la teoría que los explica)</a:t>
            </a:r>
          </a:p>
        </p:txBody>
      </p:sp>
      <p:sp>
        <p:nvSpPr>
          <p:cNvPr id="7" name="Rectangle 6"/>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9" name="TextBox 8"/>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57</a:t>
            </a:r>
          </a:p>
        </p:txBody>
      </p:sp>
      <p:sp>
        <p:nvSpPr>
          <p:cNvPr id="10" name="Rectangle 9"/>
          <p:cNvSpPr/>
          <p:nvPr/>
        </p:nvSpPr>
        <p:spPr>
          <a:xfrm>
            <a:off x="320040" y="960120"/>
            <a:ext cx="2194560" cy="38404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4904" y="960120"/>
            <a:ext cx="2103120" cy="38404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90" b="1" i="0">
                <a:solidFill>
                  <a:srgbClr val="FFFFFF"/>
                </a:solidFill>
                <a:latin typeface="Calibri"/>
              </a:rPr>
              <a:t>Error</a:t>
            </a:r>
          </a:p>
        </p:txBody>
      </p:sp>
      <p:sp>
        <p:nvSpPr>
          <p:cNvPr id="12" name="Rectangle 11"/>
          <p:cNvSpPr/>
          <p:nvPr/>
        </p:nvSpPr>
        <p:spPr>
          <a:xfrm>
            <a:off x="2514600" y="960120"/>
            <a:ext cx="3017520" cy="38404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9464" y="960120"/>
            <a:ext cx="2926080" cy="38404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90" b="1" i="0">
                <a:solidFill>
                  <a:srgbClr val="FFFFFF"/>
                </a:solidFill>
                <a:latin typeface="Calibri"/>
              </a:rPr>
              <a:t>Por qué duele</a:t>
            </a:r>
          </a:p>
        </p:txBody>
      </p:sp>
      <p:sp>
        <p:nvSpPr>
          <p:cNvPr id="14" name="Rectangle 13"/>
          <p:cNvSpPr/>
          <p:nvPr/>
        </p:nvSpPr>
        <p:spPr>
          <a:xfrm>
            <a:off x="5532120" y="960120"/>
            <a:ext cx="3291840" cy="38404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86984" y="960120"/>
            <a:ext cx="3200400" cy="38404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90" b="1" i="0">
                <a:solidFill>
                  <a:srgbClr val="FFFFFF"/>
                </a:solidFill>
                <a:latin typeface="Calibri"/>
              </a:rPr>
              <a:t>Antídoto (teoría)</a:t>
            </a:r>
          </a:p>
        </p:txBody>
      </p:sp>
      <p:sp>
        <p:nvSpPr>
          <p:cNvPr id="16" name="Rectangle 15"/>
          <p:cNvSpPr/>
          <p:nvPr/>
        </p:nvSpPr>
        <p:spPr>
          <a:xfrm>
            <a:off x="320040" y="1344168"/>
            <a:ext cx="8503920" cy="341071"/>
          </a:xfrm>
          <a:prstGeom prst="rect">
            <a:avLst/>
          </a:prstGeom>
          <a:solidFill>
            <a:srgbClr val="F7FBFE"/>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 y="1344168"/>
            <a:ext cx="210312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1" i="0">
                <a:solidFill>
                  <a:srgbClr val="1A2B4A"/>
                </a:solidFill>
                <a:latin typeface="Calibri"/>
              </a:rPr>
              <a:t>'SaaS' que es una agencia</a:t>
            </a:r>
          </a:p>
        </p:txBody>
      </p:sp>
      <p:sp>
        <p:nvSpPr>
          <p:cNvPr id="18" name="TextBox 17"/>
          <p:cNvSpPr txBox="1"/>
          <p:nvPr/>
        </p:nvSpPr>
        <p:spPr>
          <a:xfrm>
            <a:off x="2569464" y="1344168"/>
            <a:ext cx="292608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0" i="0">
                <a:solidFill>
                  <a:srgbClr val="30435C"/>
                </a:solidFill>
                <a:latin typeface="Calibri"/>
              </a:rPr>
              <a:t>escala lineal con headcount</a:t>
            </a:r>
          </a:p>
        </p:txBody>
      </p:sp>
      <p:sp>
        <p:nvSpPr>
          <p:cNvPr id="19" name="TextBox 18"/>
          <p:cNvSpPr txBox="1"/>
          <p:nvPr/>
        </p:nvSpPr>
        <p:spPr>
          <a:xfrm>
            <a:off x="5586984" y="1344168"/>
            <a:ext cx="320040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0" i="0">
                <a:solidFill>
                  <a:srgbClr val="30435C"/>
                </a:solidFill>
                <a:latin typeface="Calibri"/>
              </a:rPr>
              <a:t>rendimientos constantes → buscá la palanca (3)</a:t>
            </a:r>
          </a:p>
        </p:txBody>
      </p:sp>
      <p:sp>
        <p:nvSpPr>
          <p:cNvPr id="20" name="Rectangle 19"/>
          <p:cNvSpPr/>
          <p:nvPr/>
        </p:nvSpPr>
        <p:spPr>
          <a:xfrm>
            <a:off x="320040" y="1685239"/>
            <a:ext cx="8503920" cy="341071"/>
          </a:xfrm>
          <a:prstGeom prst="rect">
            <a:avLst/>
          </a:prstGeom>
          <a:solidFill>
            <a:srgbClr val="FFFFFF"/>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4904" y="1685239"/>
            <a:ext cx="210312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1" i="0">
                <a:solidFill>
                  <a:srgbClr val="1A2B4A"/>
                </a:solidFill>
                <a:latin typeface="Calibri"/>
              </a:rPr>
              <a:t>Regalar sin ver el marginal</a:t>
            </a:r>
          </a:p>
        </p:txBody>
      </p:sp>
      <p:sp>
        <p:nvSpPr>
          <p:cNvPr id="22" name="TextBox 21"/>
          <p:cNvSpPr txBox="1"/>
          <p:nvPr/>
        </p:nvSpPr>
        <p:spPr>
          <a:xfrm>
            <a:off x="2569464" y="1685239"/>
            <a:ext cx="292608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0" i="0">
                <a:solidFill>
                  <a:srgbClr val="30435C"/>
                </a:solidFill>
                <a:latin typeface="Calibri"/>
              </a:rPr>
              <a:t>cada usuario cuesta GPU</a:t>
            </a:r>
          </a:p>
        </p:txBody>
      </p:sp>
      <p:sp>
        <p:nvSpPr>
          <p:cNvPr id="23" name="TextBox 22"/>
          <p:cNvSpPr txBox="1"/>
          <p:nvPr/>
        </p:nvSpPr>
        <p:spPr>
          <a:xfrm>
            <a:off x="5586984" y="1685239"/>
            <a:ext cx="320040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0" i="0">
                <a:solidFill>
                  <a:srgbClr val="30435C"/>
                </a:solidFill>
                <a:latin typeface="Calibri"/>
              </a:rPr>
              <a:t>costo marginal en IA (7, 34)</a:t>
            </a:r>
          </a:p>
        </p:txBody>
      </p:sp>
      <p:sp>
        <p:nvSpPr>
          <p:cNvPr id="24" name="Rectangle 23"/>
          <p:cNvSpPr/>
          <p:nvPr/>
        </p:nvSpPr>
        <p:spPr>
          <a:xfrm>
            <a:off x="320040" y="2026310"/>
            <a:ext cx="8503920" cy="341071"/>
          </a:xfrm>
          <a:prstGeom prst="rect">
            <a:avLst/>
          </a:prstGeom>
          <a:solidFill>
            <a:srgbClr val="F7FBFE"/>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4904" y="2026310"/>
            <a:ext cx="210312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1" i="0">
                <a:solidFill>
                  <a:srgbClr val="1A2B4A"/>
                </a:solidFill>
                <a:latin typeface="Calibri"/>
              </a:rPr>
              <a:t>'Tenemos datos' = moat</a:t>
            </a:r>
          </a:p>
        </p:txBody>
      </p:sp>
      <p:sp>
        <p:nvSpPr>
          <p:cNvPr id="26" name="TextBox 25"/>
          <p:cNvSpPr txBox="1"/>
          <p:nvPr/>
        </p:nvSpPr>
        <p:spPr>
          <a:xfrm>
            <a:off x="2569464" y="2026310"/>
            <a:ext cx="292608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0" i="0">
                <a:solidFill>
                  <a:srgbClr val="30435C"/>
                </a:solidFill>
                <a:latin typeface="Calibri"/>
              </a:rPr>
              <a:t>dato sucio/no propietario no compone</a:t>
            </a:r>
          </a:p>
        </p:txBody>
      </p:sp>
      <p:sp>
        <p:nvSpPr>
          <p:cNvPr id="27" name="TextBox 26"/>
          <p:cNvSpPr txBox="1"/>
          <p:nvPr/>
        </p:nvSpPr>
        <p:spPr>
          <a:xfrm>
            <a:off x="5586984" y="2026310"/>
            <a:ext cx="320040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0" i="0">
                <a:solidFill>
                  <a:srgbClr val="30435C"/>
                </a:solidFill>
                <a:latin typeface="Calibri"/>
              </a:rPr>
              <a:t>data network effects reales (36)</a:t>
            </a:r>
          </a:p>
        </p:txBody>
      </p:sp>
      <p:sp>
        <p:nvSpPr>
          <p:cNvPr id="28" name="Rectangle 27"/>
          <p:cNvSpPr/>
          <p:nvPr/>
        </p:nvSpPr>
        <p:spPr>
          <a:xfrm>
            <a:off x="320040" y="2367381"/>
            <a:ext cx="8503920" cy="341071"/>
          </a:xfrm>
          <a:prstGeom prst="rect">
            <a:avLst/>
          </a:prstGeom>
          <a:solidFill>
            <a:srgbClr val="FFFFFF"/>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4904" y="2367381"/>
            <a:ext cx="210312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1" i="0">
                <a:solidFill>
                  <a:srgbClr val="1A2B4A"/>
                </a:solidFill>
                <a:latin typeface="Calibri"/>
              </a:rPr>
              <a:t>Wrapper de LLM sin moat</a:t>
            </a:r>
          </a:p>
        </p:txBody>
      </p:sp>
      <p:sp>
        <p:nvSpPr>
          <p:cNvPr id="30" name="TextBox 29"/>
          <p:cNvSpPr txBox="1"/>
          <p:nvPr/>
        </p:nvSpPr>
        <p:spPr>
          <a:xfrm>
            <a:off x="2569464" y="2367381"/>
            <a:ext cx="292608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0" i="0">
                <a:solidFill>
                  <a:srgbClr val="30435C"/>
                </a:solidFill>
                <a:latin typeface="Calibri"/>
              </a:rPr>
              <a:t>copiable en un fin de semana</a:t>
            </a:r>
          </a:p>
        </p:txBody>
      </p:sp>
      <p:sp>
        <p:nvSpPr>
          <p:cNvPr id="31" name="TextBox 30"/>
          <p:cNvSpPr txBox="1"/>
          <p:nvPr/>
        </p:nvSpPr>
        <p:spPr>
          <a:xfrm>
            <a:off x="5586984" y="2367381"/>
            <a:ext cx="320040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0" i="0">
                <a:solidFill>
                  <a:srgbClr val="30435C"/>
                </a:solidFill>
                <a:latin typeface="Calibri"/>
              </a:rPr>
              <a:t>moats: datos/red/distribución (42)</a:t>
            </a:r>
          </a:p>
        </p:txBody>
      </p:sp>
      <p:sp>
        <p:nvSpPr>
          <p:cNvPr id="32" name="Rectangle 31"/>
          <p:cNvSpPr/>
          <p:nvPr/>
        </p:nvSpPr>
        <p:spPr>
          <a:xfrm>
            <a:off x="320040" y="2708452"/>
            <a:ext cx="8503920" cy="341071"/>
          </a:xfrm>
          <a:prstGeom prst="rect">
            <a:avLst/>
          </a:prstGeom>
          <a:solidFill>
            <a:srgbClr val="F7FBFE"/>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74904" y="2708452"/>
            <a:ext cx="210312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1" i="0">
                <a:solidFill>
                  <a:srgbClr val="1A2B4A"/>
                </a:solidFill>
                <a:latin typeface="Calibri"/>
              </a:rPr>
              <a:t>Confundir escala con red</a:t>
            </a:r>
          </a:p>
        </p:txBody>
      </p:sp>
      <p:sp>
        <p:nvSpPr>
          <p:cNvPr id="34" name="TextBox 33"/>
          <p:cNvSpPr txBox="1"/>
          <p:nvPr/>
        </p:nvSpPr>
        <p:spPr>
          <a:xfrm>
            <a:off x="2569464" y="2708452"/>
            <a:ext cx="292608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0" i="0">
                <a:solidFill>
                  <a:srgbClr val="30435C"/>
                </a:solidFill>
                <a:latin typeface="Calibri"/>
              </a:rPr>
              <a:t>escala no frena a rivales</a:t>
            </a:r>
          </a:p>
        </p:txBody>
      </p:sp>
      <p:sp>
        <p:nvSpPr>
          <p:cNvPr id="35" name="TextBox 34"/>
          <p:cNvSpPr txBox="1"/>
          <p:nvPr/>
        </p:nvSpPr>
        <p:spPr>
          <a:xfrm>
            <a:off x="5586984" y="2708452"/>
            <a:ext cx="320040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0" i="0">
                <a:solidFill>
                  <a:srgbClr val="30435C"/>
                </a:solidFill>
                <a:latin typeface="Calibri"/>
              </a:rPr>
              <a:t>escala(5) ≠ efectos de red(23)</a:t>
            </a:r>
          </a:p>
        </p:txBody>
      </p:sp>
      <p:sp>
        <p:nvSpPr>
          <p:cNvPr id="36" name="Rectangle 35"/>
          <p:cNvSpPr/>
          <p:nvPr/>
        </p:nvSpPr>
        <p:spPr>
          <a:xfrm>
            <a:off x="320040" y="3049524"/>
            <a:ext cx="8503920" cy="341071"/>
          </a:xfrm>
          <a:prstGeom prst="rect">
            <a:avLst/>
          </a:prstGeom>
          <a:solidFill>
            <a:srgbClr val="FFFFFF"/>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4904" y="3049524"/>
            <a:ext cx="210312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1" i="0">
                <a:solidFill>
                  <a:srgbClr val="1A2B4A"/>
                </a:solidFill>
                <a:latin typeface="Calibri"/>
              </a:rPr>
              <a:t>Fetichizar 'ser primero'</a:t>
            </a:r>
          </a:p>
        </p:txBody>
      </p:sp>
      <p:sp>
        <p:nvSpPr>
          <p:cNvPr id="38" name="TextBox 37"/>
          <p:cNvSpPr txBox="1"/>
          <p:nvPr/>
        </p:nvSpPr>
        <p:spPr>
          <a:xfrm>
            <a:off x="2569464" y="3049524"/>
            <a:ext cx="292608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0" i="0">
                <a:solidFill>
                  <a:srgbClr val="30435C"/>
                </a:solidFill>
                <a:latin typeface="Calibri"/>
              </a:rPr>
              <a:t>el pionero educa, otro cobra</a:t>
            </a:r>
          </a:p>
        </p:txBody>
      </p:sp>
      <p:sp>
        <p:nvSpPr>
          <p:cNvPr id="39" name="TextBox 38"/>
          <p:cNvSpPr txBox="1"/>
          <p:nvPr/>
        </p:nvSpPr>
        <p:spPr>
          <a:xfrm>
            <a:off x="5586984" y="3049524"/>
            <a:ext cx="320040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0" i="0">
                <a:solidFill>
                  <a:srgbClr val="30435C"/>
                </a:solidFill>
                <a:latin typeface="Calibri"/>
              </a:rPr>
              <a:t>first-mover es condicional (40)</a:t>
            </a:r>
          </a:p>
        </p:txBody>
      </p:sp>
      <p:sp>
        <p:nvSpPr>
          <p:cNvPr id="40" name="Rectangle 39"/>
          <p:cNvSpPr/>
          <p:nvPr/>
        </p:nvSpPr>
        <p:spPr>
          <a:xfrm>
            <a:off x="320040" y="3390595"/>
            <a:ext cx="8503920" cy="341071"/>
          </a:xfrm>
          <a:prstGeom prst="rect">
            <a:avLst/>
          </a:prstGeom>
          <a:solidFill>
            <a:srgbClr val="F7FBFE"/>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4904" y="3390595"/>
            <a:ext cx="210312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1" i="0">
                <a:solidFill>
                  <a:srgbClr val="1A2B4A"/>
                </a:solidFill>
                <a:latin typeface="Calibri"/>
              </a:rPr>
              <a:t>Blitzscalear sin los 4 factores</a:t>
            </a:r>
          </a:p>
        </p:txBody>
      </p:sp>
      <p:sp>
        <p:nvSpPr>
          <p:cNvPr id="42" name="TextBox 41"/>
          <p:cNvSpPr txBox="1"/>
          <p:nvPr/>
        </p:nvSpPr>
        <p:spPr>
          <a:xfrm>
            <a:off x="2569464" y="3390595"/>
            <a:ext cx="292608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0" i="0">
                <a:solidFill>
                  <a:srgbClr val="30435C"/>
                </a:solidFill>
                <a:latin typeface="Calibri"/>
              </a:rPr>
              <a:t>acelerás al abismo</a:t>
            </a:r>
          </a:p>
        </p:txBody>
      </p:sp>
      <p:sp>
        <p:nvSpPr>
          <p:cNvPr id="43" name="TextBox 42"/>
          <p:cNvSpPr txBox="1"/>
          <p:nvPr/>
        </p:nvSpPr>
        <p:spPr>
          <a:xfrm>
            <a:off x="5586984" y="3390595"/>
            <a:ext cx="320040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0" i="0">
                <a:solidFill>
                  <a:srgbClr val="30435C"/>
                </a:solidFill>
                <a:latin typeface="Calibri"/>
              </a:rPr>
              <a:t>condiciones de Hoffman (41)</a:t>
            </a:r>
          </a:p>
        </p:txBody>
      </p:sp>
      <p:sp>
        <p:nvSpPr>
          <p:cNvPr id="44" name="Rectangle 43"/>
          <p:cNvSpPr/>
          <p:nvPr/>
        </p:nvSpPr>
        <p:spPr>
          <a:xfrm>
            <a:off x="320040" y="3731666"/>
            <a:ext cx="8503920" cy="341071"/>
          </a:xfrm>
          <a:prstGeom prst="rect">
            <a:avLst/>
          </a:prstGeom>
          <a:solidFill>
            <a:srgbClr val="FFFFFF"/>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74904" y="3731666"/>
            <a:ext cx="210312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1" i="0">
                <a:solidFill>
                  <a:srgbClr val="1A2B4A"/>
                </a:solidFill>
                <a:latin typeface="Calibri"/>
              </a:rPr>
              <a:t>Proteger la renta actual</a:t>
            </a:r>
          </a:p>
        </p:txBody>
      </p:sp>
      <p:sp>
        <p:nvSpPr>
          <p:cNvPr id="46" name="TextBox 45"/>
          <p:cNvSpPr txBox="1"/>
          <p:nvPr/>
        </p:nvSpPr>
        <p:spPr>
          <a:xfrm>
            <a:off x="2569464" y="3731666"/>
            <a:ext cx="292608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0" i="0">
                <a:solidFill>
                  <a:srgbClr val="30435C"/>
                </a:solidFill>
                <a:latin typeface="Calibri"/>
              </a:rPr>
              <a:t>así mueren los líderes</a:t>
            </a:r>
          </a:p>
        </p:txBody>
      </p:sp>
      <p:sp>
        <p:nvSpPr>
          <p:cNvPr id="47" name="TextBox 46"/>
          <p:cNvSpPr txBox="1"/>
          <p:nvPr/>
        </p:nvSpPr>
        <p:spPr>
          <a:xfrm>
            <a:off x="5586984" y="3731666"/>
            <a:ext cx="320040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0" i="0">
                <a:solidFill>
                  <a:srgbClr val="30435C"/>
                </a:solidFill>
                <a:latin typeface="Calibri"/>
              </a:rPr>
              <a:t>innovator's dilemma (39)</a:t>
            </a:r>
          </a:p>
        </p:txBody>
      </p:sp>
      <p:sp>
        <p:nvSpPr>
          <p:cNvPr id="48" name="Rectangle 47"/>
          <p:cNvSpPr/>
          <p:nvPr/>
        </p:nvSpPr>
        <p:spPr>
          <a:xfrm>
            <a:off x="320040" y="4072737"/>
            <a:ext cx="8503920" cy="341071"/>
          </a:xfrm>
          <a:prstGeom prst="rect">
            <a:avLst/>
          </a:prstGeom>
          <a:solidFill>
            <a:srgbClr val="F7FBFE"/>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74904" y="4072737"/>
            <a:ext cx="210312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1" i="0">
                <a:solidFill>
                  <a:srgbClr val="1A2B4A"/>
                </a:solidFill>
                <a:latin typeface="Calibri"/>
              </a:rPr>
              <a:t>Producto sin distribución</a:t>
            </a:r>
          </a:p>
        </p:txBody>
      </p:sp>
      <p:sp>
        <p:nvSpPr>
          <p:cNvPr id="50" name="TextBox 49"/>
          <p:cNvSpPr txBox="1"/>
          <p:nvPr/>
        </p:nvSpPr>
        <p:spPr>
          <a:xfrm>
            <a:off x="2569464" y="4072737"/>
            <a:ext cx="292608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0" i="0">
                <a:solidFill>
                  <a:srgbClr val="30435C"/>
                </a:solidFill>
                <a:latin typeface="Calibri"/>
              </a:rPr>
              <a:t>gran producto ≠ gran negocio</a:t>
            </a:r>
          </a:p>
        </p:txBody>
      </p:sp>
      <p:sp>
        <p:nvSpPr>
          <p:cNvPr id="51" name="TextBox 50"/>
          <p:cNvSpPr txBox="1"/>
          <p:nvPr/>
        </p:nvSpPr>
        <p:spPr>
          <a:xfrm>
            <a:off x="5586984" y="4072737"/>
            <a:ext cx="320040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0" i="0">
                <a:solidFill>
                  <a:srgbClr val="30435C"/>
                </a:solidFill>
                <a:latin typeface="Calibri"/>
              </a:rPr>
              <a:t>compound distribution (48)</a:t>
            </a:r>
          </a:p>
        </p:txBody>
      </p:sp>
      <p:sp>
        <p:nvSpPr>
          <p:cNvPr id="52" name="Rectangle 51"/>
          <p:cNvSpPr/>
          <p:nvPr/>
        </p:nvSpPr>
        <p:spPr>
          <a:xfrm>
            <a:off x="320040" y="4413808"/>
            <a:ext cx="8503920" cy="341071"/>
          </a:xfrm>
          <a:prstGeom prst="rect">
            <a:avLst/>
          </a:prstGeom>
          <a:solidFill>
            <a:srgbClr val="FFFFFF"/>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74904" y="4413808"/>
            <a:ext cx="210312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1" i="0">
                <a:solidFill>
                  <a:srgbClr val="1A2B4A"/>
                </a:solidFill>
                <a:latin typeface="Calibri"/>
              </a:rPr>
              <a:t>Enamorarse de la proeza</a:t>
            </a:r>
          </a:p>
        </p:txBody>
      </p:sp>
      <p:sp>
        <p:nvSpPr>
          <p:cNvPr id="54" name="TextBox 53"/>
          <p:cNvSpPr txBox="1"/>
          <p:nvPr/>
        </p:nvSpPr>
        <p:spPr>
          <a:xfrm>
            <a:off x="2569464" y="4413808"/>
            <a:ext cx="292608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0" i="0">
                <a:solidFill>
                  <a:srgbClr val="30435C"/>
                </a:solidFill>
                <a:latin typeface="Calibri"/>
              </a:rPr>
              <a:t>el código es medio, no fin</a:t>
            </a:r>
          </a:p>
        </p:txBody>
      </p:sp>
      <p:sp>
        <p:nvSpPr>
          <p:cNvPr id="55" name="TextBox 54"/>
          <p:cNvSpPr txBox="1"/>
          <p:nvPr/>
        </p:nvSpPr>
        <p:spPr>
          <a:xfrm>
            <a:off x="5586984" y="4413808"/>
            <a:ext cx="3200400" cy="341071"/>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40" b="0" i="0">
                <a:solidFill>
                  <a:srgbClr val="30435C"/>
                </a:solidFill>
                <a:latin typeface="Calibri"/>
              </a:rPr>
              <a:t>el moat compuesto es el fin (50)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CAF50"/>
                </a:solidFill>
                <a:latin typeface="Calibri"/>
              </a:rPr>
              <a:t>INSTRUMENTACIÓN</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Las métricas que delatan si tenés rendimientos crecientes</a:t>
            </a:r>
          </a:p>
        </p:txBody>
      </p:sp>
      <p:sp>
        <p:nvSpPr>
          <p:cNvPr id="7" name="Rectangle 6"/>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9" name="TextBox 8"/>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58</a:t>
            </a:r>
          </a:p>
        </p:txBody>
      </p:sp>
      <p:sp>
        <p:nvSpPr>
          <p:cNvPr id="10" name="Rounded Rectangle 9"/>
          <p:cNvSpPr/>
          <p:nvPr/>
        </p:nvSpPr>
        <p:spPr>
          <a:xfrm>
            <a:off x="320040" y="960120"/>
            <a:ext cx="4206240" cy="3749039"/>
          </a:xfrm>
          <a:prstGeom prst="roundRect">
            <a:avLst>
              <a:gd name="adj" fmla="val 4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20040" y="960120"/>
            <a:ext cx="4206240" cy="420624"/>
          </a:xfrm>
          <a:prstGeom prst="roundRect">
            <a:avLst>
              <a:gd name="adj" fmla="val 8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170432"/>
            <a:ext cx="4206240" cy="21031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 y="960120"/>
            <a:ext cx="3931920" cy="420624"/>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150" b="1" i="0">
                <a:solidFill>
                  <a:srgbClr val="FFFFFF"/>
                </a:solidFill>
                <a:latin typeface="Calibri"/>
              </a:rPr>
              <a:t>Señales de compounding (querés verlas subir)</a:t>
            </a:r>
          </a:p>
        </p:txBody>
      </p:sp>
      <p:sp>
        <p:nvSpPr>
          <p:cNvPr id="14" name="TextBox 13"/>
          <p:cNvSpPr txBox="1"/>
          <p:nvPr/>
        </p:nvSpPr>
        <p:spPr>
          <a:xfrm>
            <a:off x="484632" y="1481328"/>
            <a:ext cx="3886200" cy="3108960"/>
          </a:xfrm>
          <a:prstGeom prst="rect">
            <a:avLst/>
          </a:prstGeom>
          <a:noFill/>
        </p:spPr>
        <p:txBody>
          <a:bodyPr wrap="square" anchor="t" lIns="12700" rIns="12700" tIns="12700" bIns="12700">
            <a:spAutoFit/>
          </a:bodyPr>
          <a:lstStyle/>
          <a:p>
            <a:pPr algn="l">
              <a:lnSpc>
                <a:spcPct val="106000"/>
              </a:lnSpc>
              <a:spcBef>
                <a:spcPts val="0"/>
              </a:spcBef>
              <a:spcAft>
                <a:spcPts val="500"/>
              </a:spcAft>
            </a:pPr>
            <a:r>
              <a:rPr sz="940" b="1" i="0">
                <a:solidFill>
                  <a:srgbClr val="4CAF50"/>
                </a:solidFill>
                <a:latin typeface="Calibri"/>
              </a:rPr>
              <a:t>NRR &gt; 100%  </a:t>
            </a:r>
            <a:r>
              <a:rPr sz="940" b="0" i="0">
                <a:solidFill>
                  <a:srgbClr val="30435C"/>
                </a:solidFill>
                <a:latin typeface="Calibri"/>
              </a:rPr>
              <a:t>los clientes valen más con el tiempo → lock-in sano</a:t>
            </a:r>
          </a:p>
          <a:p>
            <a:pPr algn="l">
              <a:lnSpc>
                <a:spcPct val="106000"/>
              </a:lnSpc>
              <a:spcBef>
                <a:spcPts val="0"/>
              </a:spcBef>
              <a:spcAft>
                <a:spcPts val="500"/>
              </a:spcAft>
            </a:pPr>
            <a:r>
              <a:rPr sz="940" b="1" i="0">
                <a:solidFill>
                  <a:srgbClr val="4CAF50"/>
                </a:solidFill>
                <a:latin typeface="Calibri"/>
              </a:rPr>
              <a:t>CAC payback ↓ con escala  </a:t>
            </a:r>
            <a:r>
              <a:rPr sz="940" b="0" i="0">
                <a:solidFill>
                  <a:srgbClr val="30435C"/>
                </a:solidFill>
                <a:latin typeface="Calibri"/>
              </a:rPr>
              <a:t>distribución que compone, no que se alquila</a:t>
            </a:r>
          </a:p>
          <a:p>
            <a:pPr algn="l">
              <a:lnSpc>
                <a:spcPct val="106000"/>
              </a:lnSpc>
              <a:spcBef>
                <a:spcPts val="0"/>
              </a:spcBef>
              <a:spcAft>
                <a:spcPts val="500"/>
              </a:spcAft>
            </a:pPr>
            <a:r>
              <a:rPr sz="940" b="1" i="0">
                <a:solidFill>
                  <a:srgbClr val="4CAF50"/>
                </a:solidFill>
                <a:latin typeface="Calibri"/>
              </a:rPr>
              <a:t>k-factor &gt; 0  </a:t>
            </a:r>
            <a:r>
              <a:rPr sz="940" b="0" i="0">
                <a:solidFill>
                  <a:srgbClr val="30435C"/>
                </a:solidFill>
                <a:latin typeface="Calibri"/>
              </a:rPr>
              <a:t>viralidad: cada usuario trae usuarios</a:t>
            </a:r>
          </a:p>
          <a:p>
            <a:pPr algn="l">
              <a:lnSpc>
                <a:spcPct val="106000"/>
              </a:lnSpc>
              <a:spcBef>
                <a:spcPts val="0"/>
              </a:spcBef>
              <a:spcAft>
                <a:spcPts val="500"/>
              </a:spcAft>
            </a:pPr>
            <a:r>
              <a:rPr sz="940" b="1" i="0">
                <a:solidFill>
                  <a:srgbClr val="4CAF50"/>
                </a:solidFill>
                <a:latin typeface="Calibri"/>
              </a:rPr>
              <a:t>Margen bruto → 80%+  </a:t>
            </a:r>
            <a:r>
              <a:rPr sz="940" b="0" i="0">
                <a:solidFill>
                  <a:srgbClr val="30435C"/>
                </a:solidFill>
                <a:latin typeface="Calibri"/>
              </a:rPr>
              <a:t>costo marginal tendiendo a cero</a:t>
            </a:r>
          </a:p>
          <a:p>
            <a:pPr algn="l">
              <a:lnSpc>
                <a:spcPct val="106000"/>
              </a:lnSpc>
              <a:spcBef>
                <a:spcPts val="0"/>
              </a:spcBef>
              <a:spcAft>
                <a:spcPts val="500"/>
              </a:spcAft>
            </a:pPr>
            <a:r>
              <a:rPr sz="940" b="1" i="0">
                <a:solidFill>
                  <a:srgbClr val="4CAF50"/>
                </a:solidFill>
                <a:latin typeface="Calibri"/>
              </a:rPr>
              <a:t>Retención por cohorte plana  </a:t>
            </a:r>
            <a:r>
              <a:rPr sz="940" b="0" i="0">
                <a:solidFill>
                  <a:srgbClr val="30435C"/>
                </a:solidFill>
                <a:latin typeface="Calibri"/>
              </a:rPr>
              <a:t>el flywheel retiene sin esfuerzo extra</a:t>
            </a:r>
          </a:p>
        </p:txBody>
      </p:sp>
      <p:sp>
        <p:nvSpPr>
          <p:cNvPr id="15" name="Rounded Rectangle 14"/>
          <p:cNvSpPr/>
          <p:nvPr/>
        </p:nvSpPr>
        <p:spPr>
          <a:xfrm>
            <a:off x="4617720" y="960120"/>
            <a:ext cx="4206240" cy="3749039"/>
          </a:xfrm>
          <a:prstGeom prst="roundRect">
            <a:avLst>
              <a:gd name="adj" fmla="val 4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17720" y="960120"/>
            <a:ext cx="4206240" cy="420624"/>
          </a:xfrm>
          <a:prstGeom prst="roundRect">
            <a:avLst>
              <a:gd name="adj" fmla="val 8000"/>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170432"/>
            <a:ext cx="4206240" cy="210312"/>
          </a:xfrm>
          <a:prstGeom prst="rect">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45736" y="960120"/>
            <a:ext cx="3931920" cy="420624"/>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150" b="1" i="0">
                <a:solidFill>
                  <a:srgbClr val="FFFFFF"/>
                </a:solidFill>
                <a:latin typeface="Calibri"/>
              </a:rPr>
              <a:t>Señales de alarma (rendimientos decrecientes ocultos)</a:t>
            </a:r>
          </a:p>
        </p:txBody>
      </p:sp>
      <p:sp>
        <p:nvSpPr>
          <p:cNvPr id="19" name="TextBox 18"/>
          <p:cNvSpPr txBox="1"/>
          <p:nvPr/>
        </p:nvSpPr>
        <p:spPr>
          <a:xfrm>
            <a:off x="4782312" y="1481328"/>
            <a:ext cx="3886200" cy="3108960"/>
          </a:xfrm>
          <a:prstGeom prst="rect">
            <a:avLst/>
          </a:prstGeom>
          <a:noFill/>
        </p:spPr>
        <p:txBody>
          <a:bodyPr wrap="square" anchor="t" lIns="12700" rIns="12700" tIns="12700" bIns="12700">
            <a:spAutoFit/>
          </a:bodyPr>
          <a:lstStyle/>
          <a:p>
            <a:pPr algn="l">
              <a:lnSpc>
                <a:spcPct val="106000"/>
              </a:lnSpc>
              <a:spcBef>
                <a:spcPts val="0"/>
              </a:spcBef>
              <a:spcAft>
                <a:spcPts val="500"/>
              </a:spcAft>
            </a:pPr>
            <a:r>
              <a:rPr sz="940" b="1" i="0">
                <a:solidFill>
                  <a:srgbClr val="E05252"/>
                </a:solidFill>
                <a:latin typeface="Calibri"/>
              </a:rPr>
              <a:t>COGS sube con el uso  </a:t>
            </a:r>
            <a:r>
              <a:rPr sz="940" b="0" i="0">
                <a:solidFill>
                  <a:srgbClr val="30435C"/>
                </a:solidFill>
                <a:latin typeface="Calibri"/>
              </a:rPr>
              <a:t>costo variable de IA sin control (7)</a:t>
            </a:r>
          </a:p>
          <a:p>
            <a:pPr algn="l">
              <a:lnSpc>
                <a:spcPct val="106000"/>
              </a:lnSpc>
              <a:spcBef>
                <a:spcPts val="0"/>
              </a:spcBef>
              <a:spcAft>
                <a:spcPts val="500"/>
              </a:spcAft>
            </a:pPr>
            <a:r>
              <a:rPr sz="940" b="1" i="0">
                <a:solidFill>
                  <a:srgbClr val="E05252"/>
                </a:solidFill>
                <a:latin typeface="Calibri"/>
              </a:rPr>
              <a:t>CAC sube con la escala  </a:t>
            </a:r>
            <a:r>
              <a:rPr sz="940" b="0" i="0">
                <a:solidFill>
                  <a:srgbClr val="30435C"/>
                </a:solidFill>
                <a:latin typeface="Calibri"/>
              </a:rPr>
              <a:t>no hay efecto de red; comprás crecimiento</a:t>
            </a:r>
          </a:p>
          <a:p>
            <a:pPr algn="l">
              <a:lnSpc>
                <a:spcPct val="106000"/>
              </a:lnSpc>
              <a:spcBef>
                <a:spcPts val="0"/>
              </a:spcBef>
              <a:spcAft>
                <a:spcPts val="500"/>
              </a:spcAft>
            </a:pPr>
            <a:r>
              <a:rPr sz="940" b="1" i="0">
                <a:solidFill>
                  <a:srgbClr val="E05252"/>
                </a:solidFill>
                <a:latin typeface="Calibri"/>
              </a:rPr>
              <a:t>Churn alto pese a features  </a:t>
            </a:r>
            <a:r>
              <a:rPr sz="940" b="0" i="0">
                <a:solidFill>
                  <a:srgbClr val="30435C"/>
                </a:solidFill>
                <a:latin typeface="Calibri"/>
              </a:rPr>
              <a:t>no hay switching cost real (22)</a:t>
            </a:r>
          </a:p>
          <a:p>
            <a:pPr algn="l">
              <a:lnSpc>
                <a:spcPct val="106000"/>
              </a:lnSpc>
              <a:spcBef>
                <a:spcPts val="0"/>
              </a:spcBef>
              <a:spcAft>
                <a:spcPts val="500"/>
              </a:spcAft>
            </a:pPr>
            <a:r>
              <a:rPr sz="940" b="1" i="0">
                <a:solidFill>
                  <a:srgbClr val="E05252"/>
                </a:solidFill>
                <a:latin typeface="Calibri"/>
              </a:rPr>
              <a:t>Ingreso ∝ headcount  </a:t>
            </a:r>
            <a:r>
              <a:rPr sz="940" b="0" i="0">
                <a:solidFill>
                  <a:srgbClr val="30435C"/>
                </a:solidFill>
                <a:latin typeface="Calibri"/>
              </a:rPr>
              <a:t>sos una agencia disfrazada (3)</a:t>
            </a:r>
          </a:p>
          <a:p>
            <a:pPr algn="l">
              <a:lnSpc>
                <a:spcPct val="106000"/>
              </a:lnSpc>
              <a:spcBef>
                <a:spcPts val="0"/>
              </a:spcBef>
              <a:spcAft>
                <a:spcPts val="500"/>
              </a:spcAft>
            </a:pPr>
            <a:r>
              <a:rPr sz="940" b="1" i="0">
                <a:solidFill>
                  <a:srgbClr val="E05252"/>
                </a:solidFill>
                <a:latin typeface="Calibri"/>
              </a:rPr>
              <a:t>Dato que no realimenta  </a:t>
            </a:r>
            <a:r>
              <a:rPr sz="940" b="0" i="0">
                <a:solidFill>
                  <a:srgbClr val="30435C"/>
                </a:solidFill>
                <a:latin typeface="Calibri"/>
              </a:rPr>
              <a:t>no hay data network effect (36)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A9EFF"/>
                </a:solidFill>
                <a:latin typeface="Calibri"/>
              </a:rPr>
              <a:t>CONCLUSIONES EJECUTIVAS</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Cinco ideas para llevarse (y aplicar el lunes)</a:t>
            </a:r>
          </a:p>
        </p:txBody>
      </p:sp>
      <p:sp>
        <p:nvSpPr>
          <p:cNvPr id="7" name="Rectangle 6"/>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9" name="TextBox 8"/>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59</a:t>
            </a:r>
          </a:p>
        </p:txBody>
      </p:sp>
      <p:sp>
        <p:nvSpPr>
          <p:cNvPr id="10" name="Rounded Rectangle 9"/>
          <p:cNvSpPr/>
          <p:nvPr/>
        </p:nvSpPr>
        <p:spPr>
          <a:xfrm>
            <a:off x="320040" y="960120"/>
            <a:ext cx="4206240" cy="3749039"/>
          </a:xfrm>
          <a:prstGeom prst="roundRect">
            <a:avLst>
              <a:gd name="adj" fmla="val 4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20040" y="960120"/>
            <a:ext cx="4206240" cy="420624"/>
          </a:xfrm>
          <a:prstGeom prst="roundRect">
            <a:avLst>
              <a:gd name="adj" fmla="val 8000"/>
            </a:avLst>
          </a:prstGeom>
          <a:solidFill>
            <a:srgbClr val="2A4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170432"/>
            <a:ext cx="4206240" cy="210312"/>
          </a:xfrm>
          <a:prstGeom prst="rect">
            <a:avLst/>
          </a:prstGeom>
          <a:solidFill>
            <a:srgbClr val="2A4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 y="960120"/>
            <a:ext cx="3931920" cy="420624"/>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150" b="1" i="0">
                <a:solidFill>
                  <a:srgbClr val="FFFFFF"/>
                </a:solidFill>
                <a:latin typeface="Calibri"/>
              </a:rPr>
              <a:t>Cómo pensar</a:t>
            </a:r>
          </a:p>
        </p:txBody>
      </p:sp>
      <p:sp>
        <p:nvSpPr>
          <p:cNvPr id="14" name="TextBox 13"/>
          <p:cNvSpPr txBox="1"/>
          <p:nvPr/>
        </p:nvSpPr>
        <p:spPr>
          <a:xfrm>
            <a:off x="484632" y="1481328"/>
            <a:ext cx="3886200" cy="3108960"/>
          </a:xfrm>
          <a:prstGeom prst="rect">
            <a:avLst/>
          </a:prstGeom>
          <a:noFill/>
        </p:spPr>
        <p:txBody>
          <a:bodyPr wrap="square" anchor="t" lIns="12700" rIns="12700" tIns="12700" bIns="12700">
            <a:spAutoFit/>
          </a:bodyPr>
          <a:lstStyle/>
          <a:p>
            <a:pPr algn="l">
              <a:lnSpc>
                <a:spcPct val="106000"/>
              </a:lnSpc>
              <a:spcBef>
                <a:spcPts val="0"/>
              </a:spcBef>
              <a:spcAft>
                <a:spcPts val="500"/>
              </a:spcAft>
            </a:pPr>
            <a:r>
              <a:rPr sz="940" b="1" i="0">
                <a:solidFill>
                  <a:srgbClr val="2A4A6A"/>
                </a:solidFill>
                <a:latin typeface="Calibri"/>
              </a:rPr>
              <a:t>1  </a:t>
            </a:r>
            <a:r>
              <a:rPr sz="940" b="0" i="0">
                <a:solidFill>
                  <a:srgbClr val="30435C"/>
                </a:solidFill>
                <a:latin typeface="Calibri"/>
              </a:rPr>
              <a:t>El software juega con la física de los rendimientos crecientes. Tu trabajo es construir las partes que NO decrecen.</a:t>
            </a:r>
          </a:p>
          <a:p>
            <a:pPr algn="l">
              <a:lnSpc>
                <a:spcPct val="106000"/>
              </a:lnSpc>
              <a:spcBef>
                <a:spcPts val="0"/>
              </a:spcBef>
              <a:spcAft>
                <a:spcPts val="500"/>
              </a:spcAft>
            </a:pPr>
            <a:r>
              <a:rPr sz="940" b="1" i="0">
                <a:solidFill>
                  <a:srgbClr val="2A4A6A"/>
                </a:solidFill>
                <a:latin typeface="Calibri"/>
              </a:rPr>
              <a:t>2  </a:t>
            </a:r>
            <a:r>
              <a:rPr sz="940" b="0" i="0">
                <a:solidFill>
                  <a:srgbClr val="30435C"/>
                </a:solidFill>
                <a:latin typeface="Calibri"/>
              </a:rPr>
              <a:t>El activo no es el código: es el conocimiento, los datos y la red que el código captura y compone.</a:t>
            </a:r>
          </a:p>
          <a:p>
            <a:pPr algn="l">
              <a:lnSpc>
                <a:spcPct val="106000"/>
              </a:lnSpc>
              <a:spcBef>
                <a:spcPts val="0"/>
              </a:spcBef>
              <a:spcAft>
                <a:spcPts val="500"/>
              </a:spcAft>
            </a:pPr>
            <a:r>
              <a:rPr sz="940" b="1" i="0">
                <a:solidFill>
                  <a:srgbClr val="2A4A6A"/>
                </a:solidFill>
                <a:latin typeface="Calibri"/>
              </a:rPr>
              <a:t>3  </a:t>
            </a:r>
            <a:r>
              <a:rPr sz="940" b="0" i="0">
                <a:solidFill>
                  <a:srgbClr val="30435C"/>
                </a:solidFill>
                <a:latin typeface="Calibri"/>
              </a:rPr>
              <a:t>Cada decisión técnica es una decisión económica. Elegí las que bajan el costo marginal y suben los efectos de red.</a:t>
            </a:r>
          </a:p>
        </p:txBody>
      </p:sp>
      <p:sp>
        <p:nvSpPr>
          <p:cNvPr id="15" name="Rounded Rectangle 14"/>
          <p:cNvSpPr/>
          <p:nvPr/>
        </p:nvSpPr>
        <p:spPr>
          <a:xfrm>
            <a:off x="4617720" y="960120"/>
            <a:ext cx="4206240" cy="3749039"/>
          </a:xfrm>
          <a:prstGeom prst="roundRect">
            <a:avLst>
              <a:gd name="adj" fmla="val 4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17720" y="960120"/>
            <a:ext cx="4206240" cy="420624"/>
          </a:xfrm>
          <a:prstGeom prst="roundRect">
            <a:avLst>
              <a:gd name="adj" fmla="val 8000"/>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170432"/>
            <a:ext cx="4206240" cy="210312"/>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45736" y="960120"/>
            <a:ext cx="3931920" cy="420624"/>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150" b="1" i="0">
                <a:solidFill>
                  <a:srgbClr val="FFFFFF"/>
                </a:solidFill>
                <a:latin typeface="Calibri"/>
              </a:rPr>
              <a:t>Qué hacer</a:t>
            </a:r>
          </a:p>
        </p:txBody>
      </p:sp>
      <p:sp>
        <p:nvSpPr>
          <p:cNvPr id="19" name="TextBox 18"/>
          <p:cNvSpPr txBox="1"/>
          <p:nvPr/>
        </p:nvSpPr>
        <p:spPr>
          <a:xfrm>
            <a:off x="4782312" y="1481328"/>
            <a:ext cx="3886200" cy="3108960"/>
          </a:xfrm>
          <a:prstGeom prst="rect">
            <a:avLst/>
          </a:prstGeom>
          <a:noFill/>
        </p:spPr>
        <p:txBody>
          <a:bodyPr wrap="square" anchor="t" lIns="12700" rIns="12700" tIns="12700" bIns="12700">
            <a:spAutoFit/>
          </a:bodyPr>
          <a:lstStyle/>
          <a:p>
            <a:pPr algn="l">
              <a:lnSpc>
                <a:spcPct val="106000"/>
              </a:lnSpc>
              <a:spcBef>
                <a:spcPts val="0"/>
              </a:spcBef>
              <a:spcAft>
                <a:spcPts val="500"/>
              </a:spcAft>
            </a:pPr>
            <a:r>
              <a:rPr sz="940" b="1" i="0">
                <a:solidFill>
                  <a:srgbClr val="FF8C42"/>
                </a:solidFill>
                <a:latin typeface="Calibri"/>
              </a:rPr>
              <a:t>4  </a:t>
            </a:r>
            <a:r>
              <a:rPr sz="940" b="0" i="0">
                <a:solidFill>
                  <a:srgbClr val="30435C"/>
                </a:solidFill>
                <a:latin typeface="Calibri"/>
              </a:rPr>
              <a:t>Diseñá moats que se ACUMULAN (datos, red, ecosistema), no que se defienden (precio, features).</a:t>
            </a:r>
          </a:p>
          <a:p>
            <a:pPr algn="l">
              <a:lnSpc>
                <a:spcPct val="106000"/>
              </a:lnSpc>
              <a:spcBef>
                <a:spcPts val="0"/>
              </a:spcBef>
              <a:spcAft>
                <a:spcPts val="500"/>
              </a:spcAft>
            </a:pPr>
            <a:r>
              <a:rPr sz="940" b="1" i="0">
                <a:solidFill>
                  <a:srgbClr val="FF8C42"/>
                </a:solidFill>
                <a:latin typeface="Calibri"/>
              </a:rPr>
              <a:t>5  </a:t>
            </a:r>
            <a:r>
              <a:rPr sz="940" b="0" i="0">
                <a:solidFill>
                  <a:srgbClr val="30435C"/>
                </a:solidFill>
                <a:latin typeface="Calibri"/>
              </a:rPr>
              <a:t>Instrumentá el flywheel y vigilá las métricas de compounding. Lo que no medís, no compone por accidente.</a:t>
            </a:r>
          </a:p>
          <a:p>
            <a:pPr algn="l">
              <a:lnSpc>
                <a:spcPct val="106000"/>
              </a:lnSpc>
              <a:spcBef>
                <a:spcPts val="0"/>
              </a:spcBef>
              <a:spcAft>
                <a:spcPts val="500"/>
              </a:spcAft>
            </a:pPr>
            <a:r>
              <a:rPr sz="940" b="1" i="0">
                <a:solidFill>
                  <a:srgbClr val="FF8C42"/>
                </a:solidFill>
                <a:latin typeface="Calibri"/>
              </a:rPr>
              <a:t>★  </a:t>
            </a:r>
            <a:r>
              <a:rPr sz="940" b="0" i="0">
                <a:solidFill>
                  <a:srgbClr val="30435C"/>
                </a:solidFill>
                <a:latin typeface="Calibri"/>
              </a:rPr>
              <a:t>Estamos en el mejor momento de la historia para construir: la IA reabrió el tablero de las categorías 0→1.</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5143500"/>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22960"/>
            <a:ext cx="7863840" cy="27432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200" b="1" i="0">
                <a:solidFill>
                  <a:srgbClr val="FF8C42"/>
                </a:solidFill>
                <a:latin typeface="Calibri"/>
              </a:rPr>
              <a:t>LA IDEA ÚNICA, OTRA VEZ</a:t>
            </a:r>
          </a:p>
        </p:txBody>
      </p:sp>
      <p:sp>
        <p:nvSpPr>
          <p:cNvPr id="5" name="TextBox 4"/>
          <p:cNvSpPr txBox="1"/>
          <p:nvPr/>
        </p:nvSpPr>
        <p:spPr>
          <a:xfrm>
            <a:off x="640080" y="1371600"/>
            <a:ext cx="7863840" cy="2651760"/>
          </a:xfrm>
          <a:prstGeom prst="rect">
            <a:avLst/>
          </a:prstGeom>
          <a:noFill/>
        </p:spPr>
        <p:txBody>
          <a:bodyPr wrap="square" anchor="t" lIns="12700" rIns="12700" tIns="12700" bIns="12700">
            <a:spAutoFit/>
          </a:bodyPr>
          <a:lstStyle/>
          <a:p>
            <a:pPr algn="l">
              <a:lnSpc>
                <a:spcPct val="112000"/>
              </a:lnSpc>
              <a:spcBef>
                <a:spcPts val="0"/>
              </a:spcBef>
              <a:spcAft>
                <a:spcPts val="200"/>
              </a:spcAft>
            </a:pPr>
            <a:r>
              <a:rPr sz="2600" b="1" i="0">
                <a:solidFill>
                  <a:srgbClr val="FFFFFF"/>
                </a:solidFill>
                <a:latin typeface="Calibri"/>
              </a:rPr>
              <a:t>Dejá de ver </a:t>
            </a:r>
            <a:r>
              <a:rPr sz="2600" b="1" i="0">
                <a:solidFill>
                  <a:srgbClr val="B0BEC5"/>
                </a:solidFill>
                <a:latin typeface="Calibri"/>
              </a:rPr>
              <a:t>líneas de código</a:t>
            </a:r>
          </a:p>
          <a:p>
            <a:pPr algn="l">
              <a:lnSpc>
                <a:spcPct val="112000"/>
              </a:lnSpc>
              <a:spcBef>
                <a:spcPts val="0"/>
              </a:spcBef>
              <a:spcAft>
                <a:spcPts val="200"/>
              </a:spcAft>
            </a:pPr>
            <a:r>
              <a:rPr sz="2600" b="1" i="0">
                <a:solidFill>
                  <a:srgbClr val="FFFFFF"/>
                </a:solidFill>
                <a:latin typeface="Calibri"/>
              </a:rPr>
              <a:t>y empezá a ver </a:t>
            </a:r>
            <a:r>
              <a:rPr sz="2600" b="1" i="0">
                <a:solidFill>
                  <a:srgbClr val="FF8C42"/>
                </a:solidFill>
                <a:latin typeface="Calibri"/>
              </a:rPr>
              <a:t>capital que compone</a:t>
            </a:r>
            <a:r>
              <a:rPr sz="2600" b="1" i="0">
                <a:solidFill>
                  <a:srgbClr val="FFFFFF"/>
                </a:solidFill>
                <a:latin typeface="Calibri"/>
              </a:rPr>
              <a:t>.</a:t>
            </a:r>
          </a:p>
          <a:p>
            <a:pPr algn="l">
              <a:lnSpc>
                <a:spcPct val="112000"/>
              </a:lnSpc>
              <a:spcBef>
                <a:spcPts val="0"/>
              </a:spcBef>
              <a:spcAft>
                <a:spcPts val="200"/>
              </a:spcAft>
            </a:pPr>
            <a:r>
              <a:rPr sz="2600" b="1" i="0">
                <a:solidFill>
                  <a:srgbClr val="FFFFFF"/>
                </a:solidFill>
                <a:latin typeface="Calibri"/>
              </a:rPr>
              <a:t/>
            </a:r>
          </a:p>
          <a:p>
            <a:pPr algn="l">
              <a:lnSpc>
                <a:spcPct val="112000"/>
              </a:lnSpc>
              <a:spcBef>
                <a:spcPts val="0"/>
              </a:spcBef>
              <a:spcAft>
                <a:spcPts val="200"/>
              </a:spcAft>
            </a:pPr>
            <a:r>
              <a:rPr sz="1800" b="1" i="0">
                <a:solidFill>
                  <a:srgbClr val="B0BEC5"/>
                </a:solidFill>
                <a:latin typeface="Calibri"/>
              </a:rPr>
              <a:t>Conocimiento, software, datos, red y ecosistema:</a:t>
            </a:r>
          </a:p>
          <a:p>
            <a:pPr algn="l">
              <a:lnSpc>
                <a:spcPct val="112000"/>
              </a:lnSpc>
              <a:spcBef>
                <a:spcPts val="0"/>
              </a:spcBef>
              <a:spcAft>
                <a:spcPts val="200"/>
              </a:spcAft>
            </a:pPr>
            <a:r>
              <a:rPr sz="1800" b="1" i="0">
                <a:solidFill>
                  <a:srgbClr val="4A9EFF"/>
                </a:solidFill>
                <a:latin typeface="Calibri"/>
              </a:rPr>
              <a:t>cinco formas de un mismo activo no-rival</a:t>
            </a:r>
          </a:p>
          <a:p>
            <a:pPr algn="l">
              <a:lnSpc>
                <a:spcPct val="112000"/>
              </a:lnSpc>
              <a:spcBef>
                <a:spcPts val="0"/>
              </a:spcBef>
              <a:spcAft>
                <a:spcPts val="200"/>
              </a:spcAft>
            </a:pPr>
            <a:r>
              <a:rPr sz="1800" b="1" i="0">
                <a:solidFill>
                  <a:srgbClr val="B0BEC5"/>
                </a:solidFill>
                <a:latin typeface="Calibri"/>
              </a:rPr>
              <a:t>que crece mientras dormís — si lo diseñás para eso.</a:t>
            </a:r>
          </a:p>
        </p:txBody>
      </p:sp>
      <p:sp>
        <p:nvSpPr>
          <p:cNvPr id="6" name="Rectangle 5"/>
          <p:cNvSpPr/>
          <p:nvPr/>
        </p:nvSpPr>
        <p:spPr>
          <a:xfrm>
            <a:off x="640080" y="4160520"/>
            <a:ext cx="2743200" cy="27432"/>
          </a:xfrm>
          <a:prstGeom prst="rect">
            <a:avLst/>
          </a:prstGeom>
          <a:solidFill>
            <a:srgbClr val="FF8C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297680"/>
            <a:ext cx="7863840" cy="640080"/>
          </a:xfrm>
          <a:prstGeom prst="rect">
            <a:avLst/>
          </a:prstGeom>
          <a:noFill/>
        </p:spPr>
        <p:txBody>
          <a:bodyPr wrap="square" anchor="t" lIns="12700" rIns="12700" tIns="12700" bIns="12700">
            <a:spAutoFit/>
          </a:bodyPr>
          <a:lstStyle/>
          <a:p>
            <a:pPr algn="l">
              <a:lnSpc>
                <a:spcPct val="108000"/>
              </a:lnSpc>
              <a:spcBef>
                <a:spcPts val="0"/>
              </a:spcBef>
              <a:spcAft>
                <a:spcPts val="200"/>
              </a:spcAft>
            </a:pPr>
            <a:r>
              <a:rPr sz="1250" b="0" i="1">
                <a:solidFill>
                  <a:srgbClr val="B0BEC5"/>
                </a:solidFill>
                <a:latin typeface="Calibri"/>
              </a:rPr>
              <a:t>Las empresas que cambian industrias no escribieron mejor código. Construyeron sistemas económicos de rendimientos crecientes.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A9EFF"/>
                </a:solidFill>
                <a:latin typeface="Calibri"/>
              </a:rPr>
              <a:t>BIBLIOGRAFÍA</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Fuentes primarias, por autor</a:t>
            </a:r>
          </a:p>
        </p:txBody>
      </p:sp>
      <p:sp>
        <p:nvSpPr>
          <p:cNvPr id="7" name="Rectangle 6"/>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9" name="TextBox 8"/>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60</a:t>
            </a:r>
          </a:p>
        </p:txBody>
      </p:sp>
      <p:sp>
        <p:nvSpPr>
          <p:cNvPr id="10" name="Rectangle 9"/>
          <p:cNvSpPr/>
          <p:nvPr/>
        </p:nvSpPr>
        <p:spPr>
          <a:xfrm>
            <a:off x="320040" y="960120"/>
            <a:ext cx="2103120" cy="38404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4904" y="960120"/>
            <a:ext cx="2011679" cy="38404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9" b="1" i="0">
                <a:solidFill>
                  <a:srgbClr val="FFFFFF"/>
                </a:solidFill>
                <a:latin typeface="Calibri"/>
              </a:rPr>
              <a:t>Autor</a:t>
            </a:r>
          </a:p>
        </p:txBody>
      </p:sp>
      <p:sp>
        <p:nvSpPr>
          <p:cNvPr id="12" name="Rectangle 11"/>
          <p:cNvSpPr/>
          <p:nvPr/>
        </p:nvSpPr>
        <p:spPr>
          <a:xfrm>
            <a:off x="2423160" y="960120"/>
            <a:ext cx="3840480" cy="38404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78024" y="960120"/>
            <a:ext cx="3749040" cy="38404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9" b="1" i="0">
                <a:solidFill>
                  <a:srgbClr val="FFFFFF"/>
                </a:solidFill>
                <a:latin typeface="Calibri"/>
              </a:rPr>
              <a:t>Obra</a:t>
            </a:r>
          </a:p>
        </p:txBody>
      </p:sp>
      <p:sp>
        <p:nvSpPr>
          <p:cNvPr id="14" name="Rectangle 13"/>
          <p:cNvSpPr/>
          <p:nvPr/>
        </p:nvSpPr>
        <p:spPr>
          <a:xfrm>
            <a:off x="6263640" y="960120"/>
            <a:ext cx="2560320" cy="38404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18503" y="960120"/>
            <a:ext cx="2468879" cy="38404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69" b="1" i="0">
                <a:solidFill>
                  <a:srgbClr val="FFFFFF"/>
                </a:solidFill>
                <a:latin typeface="Calibri"/>
              </a:rPr>
              <a:t>Aporte central a esta charla</a:t>
            </a:r>
          </a:p>
        </p:txBody>
      </p:sp>
      <p:sp>
        <p:nvSpPr>
          <p:cNvPr id="16" name="Rectangle 15"/>
          <p:cNvSpPr/>
          <p:nvPr/>
        </p:nvSpPr>
        <p:spPr>
          <a:xfrm>
            <a:off x="320040" y="1344168"/>
            <a:ext cx="8503920" cy="378968"/>
          </a:xfrm>
          <a:prstGeom prst="rect">
            <a:avLst/>
          </a:prstGeom>
          <a:solidFill>
            <a:srgbClr val="F7FBFE"/>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 y="1344168"/>
            <a:ext cx="2011679"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1" i="0">
                <a:solidFill>
                  <a:srgbClr val="1A2B4A"/>
                </a:solidFill>
                <a:latin typeface="Calibri"/>
              </a:rPr>
              <a:t>W. Brian Arthur</a:t>
            </a:r>
          </a:p>
        </p:txBody>
      </p:sp>
      <p:sp>
        <p:nvSpPr>
          <p:cNvPr id="18" name="TextBox 17"/>
          <p:cNvSpPr txBox="1"/>
          <p:nvPr/>
        </p:nvSpPr>
        <p:spPr>
          <a:xfrm>
            <a:off x="2478024" y="1344168"/>
            <a:ext cx="3749040"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0" i="0">
                <a:solidFill>
                  <a:srgbClr val="30435C"/>
                </a:solidFill>
                <a:latin typeface="Calibri"/>
              </a:rPr>
              <a:t>Increasing Returns &amp; Path Dependence (1994); The Nature of Technology (2009)</a:t>
            </a:r>
          </a:p>
        </p:txBody>
      </p:sp>
      <p:sp>
        <p:nvSpPr>
          <p:cNvPr id="19" name="TextBox 18"/>
          <p:cNvSpPr txBox="1"/>
          <p:nvPr/>
        </p:nvSpPr>
        <p:spPr>
          <a:xfrm>
            <a:off x="6318503" y="1344168"/>
            <a:ext cx="2468879"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0" i="0">
                <a:solidFill>
                  <a:srgbClr val="30435C"/>
                </a:solidFill>
                <a:latin typeface="Calibri"/>
              </a:rPr>
              <a:t>rendimientos crecientes, lock-in, combinatoria</a:t>
            </a:r>
          </a:p>
        </p:txBody>
      </p:sp>
      <p:sp>
        <p:nvSpPr>
          <p:cNvPr id="20" name="Rectangle 19"/>
          <p:cNvSpPr/>
          <p:nvPr/>
        </p:nvSpPr>
        <p:spPr>
          <a:xfrm>
            <a:off x="320040" y="1723136"/>
            <a:ext cx="8503920" cy="378968"/>
          </a:xfrm>
          <a:prstGeom prst="rect">
            <a:avLst/>
          </a:prstGeom>
          <a:solidFill>
            <a:srgbClr val="FFFFFF"/>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4904" y="1723136"/>
            <a:ext cx="2011679"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1" i="0">
                <a:solidFill>
                  <a:srgbClr val="1A2B4A"/>
                </a:solidFill>
                <a:latin typeface="Calibri"/>
              </a:rPr>
              <a:t>Paul Romer</a:t>
            </a:r>
          </a:p>
        </p:txBody>
      </p:sp>
      <p:sp>
        <p:nvSpPr>
          <p:cNvPr id="22" name="TextBox 21"/>
          <p:cNvSpPr txBox="1"/>
          <p:nvPr/>
        </p:nvSpPr>
        <p:spPr>
          <a:xfrm>
            <a:off x="2478024" y="1723136"/>
            <a:ext cx="3749040"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0" i="0">
                <a:solidFill>
                  <a:srgbClr val="30435C"/>
                </a:solidFill>
                <a:latin typeface="Calibri"/>
              </a:rPr>
              <a:t>Increasing Returns &amp; Long-Run Growth (1986); Endogenous Tech. Change (1990)</a:t>
            </a:r>
          </a:p>
        </p:txBody>
      </p:sp>
      <p:sp>
        <p:nvSpPr>
          <p:cNvPr id="23" name="TextBox 22"/>
          <p:cNvSpPr txBox="1"/>
          <p:nvPr/>
        </p:nvSpPr>
        <p:spPr>
          <a:xfrm>
            <a:off x="6318503" y="1723136"/>
            <a:ext cx="2468879"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0" i="0">
                <a:solidFill>
                  <a:srgbClr val="30435C"/>
                </a:solidFill>
                <a:latin typeface="Calibri"/>
              </a:rPr>
              <a:t>no-rivalidad, crecimiento endógeno, spillovers</a:t>
            </a:r>
          </a:p>
        </p:txBody>
      </p:sp>
      <p:sp>
        <p:nvSpPr>
          <p:cNvPr id="24" name="Rectangle 23"/>
          <p:cNvSpPr/>
          <p:nvPr/>
        </p:nvSpPr>
        <p:spPr>
          <a:xfrm>
            <a:off x="320040" y="2102104"/>
            <a:ext cx="8503920" cy="378968"/>
          </a:xfrm>
          <a:prstGeom prst="rect">
            <a:avLst/>
          </a:prstGeom>
          <a:solidFill>
            <a:srgbClr val="F7FBFE"/>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4904" y="2102104"/>
            <a:ext cx="2011679"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1" i="0">
                <a:solidFill>
                  <a:srgbClr val="1A2B4A"/>
                </a:solidFill>
                <a:latin typeface="Calibri"/>
              </a:rPr>
              <a:t>Joseph Schumpeter</a:t>
            </a:r>
          </a:p>
        </p:txBody>
      </p:sp>
      <p:sp>
        <p:nvSpPr>
          <p:cNvPr id="26" name="TextBox 25"/>
          <p:cNvSpPr txBox="1"/>
          <p:nvPr/>
        </p:nvSpPr>
        <p:spPr>
          <a:xfrm>
            <a:off x="2478024" y="2102104"/>
            <a:ext cx="3749040"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0" i="0">
                <a:solidFill>
                  <a:srgbClr val="30435C"/>
                </a:solidFill>
                <a:latin typeface="Calibri"/>
              </a:rPr>
              <a:t>Capitalism, Socialism and Democracy (1942)</a:t>
            </a:r>
          </a:p>
        </p:txBody>
      </p:sp>
      <p:sp>
        <p:nvSpPr>
          <p:cNvPr id="27" name="TextBox 26"/>
          <p:cNvSpPr txBox="1"/>
          <p:nvPr/>
        </p:nvSpPr>
        <p:spPr>
          <a:xfrm>
            <a:off x="6318503" y="2102104"/>
            <a:ext cx="2468879"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0" i="0">
                <a:solidFill>
                  <a:srgbClr val="30435C"/>
                </a:solidFill>
                <a:latin typeface="Calibri"/>
              </a:rPr>
              <a:t>destrucción creativa, monopolio innovador</a:t>
            </a:r>
          </a:p>
        </p:txBody>
      </p:sp>
      <p:sp>
        <p:nvSpPr>
          <p:cNvPr id="28" name="Rectangle 27"/>
          <p:cNvSpPr/>
          <p:nvPr/>
        </p:nvSpPr>
        <p:spPr>
          <a:xfrm>
            <a:off x="320040" y="2481072"/>
            <a:ext cx="8503920" cy="378968"/>
          </a:xfrm>
          <a:prstGeom prst="rect">
            <a:avLst/>
          </a:prstGeom>
          <a:solidFill>
            <a:srgbClr val="FFFFFF"/>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4904" y="2481072"/>
            <a:ext cx="2011679"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1" i="0">
                <a:solidFill>
                  <a:srgbClr val="1A2B4A"/>
                </a:solidFill>
                <a:latin typeface="Calibri"/>
              </a:rPr>
              <a:t>Shapiro &amp; Varian</a:t>
            </a:r>
          </a:p>
        </p:txBody>
      </p:sp>
      <p:sp>
        <p:nvSpPr>
          <p:cNvPr id="30" name="TextBox 29"/>
          <p:cNvSpPr txBox="1"/>
          <p:nvPr/>
        </p:nvSpPr>
        <p:spPr>
          <a:xfrm>
            <a:off x="2478024" y="2481072"/>
            <a:ext cx="3749040"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0" i="0">
                <a:solidFill>
                  <a:srgbClr val="30435C"/>
                </a:solidFill>
                <a:latin typeface="Calibri"/>
              </a:rPr>
              <a:t>Information Rules (1999)</a:t>
            </a:r>
          </a:p>
        </p:txBody>
      </p:sp>
      <p:sp>
        <p:nvSpPr>
          <p:cNvPr id="31" name="TextBox 30"/>
          <p:cNvSpPr txBox="1"/>
          <p:nvPr/>
        </p:nvSpPr>
        <p:spPr>
          <a:xfrm>
            <a:off x="6318503" y="2481072"/>
            <a:ext cx="2468879"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0" i="0">
                <a:solidFill>
                  <a:srgbClr val="30435C"/>
                </a:solidFill>
                <a:latin typeface="Calibri"/>
              </a:rPr>
              <a:t>costo marginal, lock-in, versioning, estándares</a:t>
            </a:r>
          </a:p>
        </p:txBody>
      </p:sp>
      <p:sp>
        <p:nvSpPr>
          <p:cNvPr id="32" name="Rectangle 31"/>
          <p:cNvSpPr/>
          <p:nvPr/>
        </p:nvSpPr>
        <p:spPr>
          <a:xfrm>
            <a:off x="320040" y="2860040"/>
            <a:ext cx="8503920" cy="378968"/>
          </a:xfrm>
          <a:prstGeom prst="rect">
            <a:avLst/>
          </a:prstGeom>
          <a:solidFill>
            <a:srgbClr val="F7FBFE"/>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74904" y="2860040"/>
            <a:ext cx="2011679"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1" i="0">
                <a:solidFill>
                  <a:srgbClr val="1A2B4A"/>
                </a:solidFill>
                <a:latin typeface="Calibri"/>
              </a:rPr>
              <a:t>Parker·VanAlstyne·Choudary</a:t>
            </a:r>
          </a:p>
        </p:txBody>
      </p:sp>
      <p:sp>
        <p:nvSpPr>
          <p:cNvPr id="34" name="TextBox 33"/>
          <p:cNvSpPr txBox="1"/>
          <p:nvPr/>
        </p:nvSpPr>
        <p:spPr>
          <a:xfrm>
            <a:off x="2478024" y="2860040"/>
            <a:ext cx="3749040"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0" i="0">
                <a:solidFill>
                  <a:srgbClr val="30435C"/>
                </a:solidFill>
                <a:latin typeface="Calibri"/>
              </a:rPr>
              <a:t>Platform Revolution (2016)</a:t>
            </a:r>
          </a:p>
        </p:txBody>
      </p:sp>
      <p:sp>
        <p:nvSpPr>
          <p:cNvPr id="35" name="TextBox 34"/>
          <p:cNvSpPr txBox="1"/>
          <p:nvPr/>
        </p:nvSpPr>
        <p:spPr>
          <a:xfrm>
            <a:off x="6318503" y="2860040"/>
            <a:ext cx="2468879"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0" i="0">
                <a:solidFill>
                  <a:srgbClr val="30435C"/>
                </a:solidFill>
                <a:latin typeface="Calibri"/>
              </a:rPr>
              <a:t>plataformas, core interaction, gobernanza</a:t>
            </a:r>
          </a:p>
        </p:txBody>
      </p:sp>
      <p:sp>
        <p:nvSpPr>
          <p:cNvPr id="36" name="Rectangle 35"/>
          <p:cNvSpPr/>
          <p:nvPr/>
        </p:nvSpPr>
        <p:spPr>
          <a:xfrm>
            <a:off x="320040" y="3239008"/>
            <a:ext cx="8503920" cy="378968"/>
          </a:xfrm>
          <a:prstGeom prst="rect">
            <a:avLst/>
          </a:prstGeom>
          <a:solidFill>
            <a:srgbClr val="FFFFFF"/>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4904" y="3239008"/>
            <a:ext cx="2011679"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1" i="0">
                <a:solidFill>
                  <a:srgbClr val="1A2B4A"/>
                </a:solidFill>
                <a:latin typeface="Calibri"/>
              </a:rPr>
              <a:t>Reid Hoffman &amp; Yeh</a:t>
            </a:r>
          </a:p>
        </p:txBody>
      </p:sp>
      <p:sp>
        <p:nvSpPr>
          <p:cNvPr id="38" name="TextBox 37"/>
          <p:cNvSpPr txBox="1"/>
          <p:nvPr/>
        </p:nvSpPr>
        <p:spPr>
          <a:xfrm>
            <a:off x="2478024" y="3239008"/>
            <a:ext cx="3749040"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0" i="0">
                <a:solidFill>
                  <a:srgbClr val="30435C"/>
                </a:solidFill>
                <a:latin typeface="Calibri"/>
              </a:rPr>
              <a:t>Blitzscaling (2018)</a:t>
            </a:r>
          </a:p>
        </p:txBody>
      </p:sp>
      <p:sp>
        <p:nvSpPr>
          <p:cNvPr id="39" name="TextBox 38"/>
          <p:cNvSpPr txBox="1"/>
          <p:nvPr/>
        </p:nvSpPr>
        <p:spPr>
          <a:xfrm>
            <a:off x="6318503" y="3239008"/>
            <a:ext cx="2468879"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0" i="0">
                <a:solidFill>
                  <a:srgbClr val="30435C"/>
                </a:solidFill>
                <a:latin typeface="Calibri"/>
              </a:rPr>
              <a:t>velocidad &gt; eficiencia, first-scaler</a:t>
            </a:r>
          </a:p>
        </p:txBody>
      </p:sp>
      <p:sp>
        <p:nvSpPr>
          <p:cNvPr id="40" name="Rectangle 39"/>
          <p:cNvSpPr/>
          <p:nvPr/>
        </p:nvSpPr>
        <p:spPr>
          <a:xfrm>
            <a:off x="320040" y="3617976"/>
            <a:ext cx="8503920" cy="378968"/>
          </a:xfrm>
          <a:prstGeom prst="rect">
            <a:avLst/>
          </a:prstGeom>
          <a:solidFill>
            <a:srgbClr val="F7FBFE"/>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4904" y="3617976"/>
            <a:ext cx="2011679"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1" i="0">
                <a:solidFill>
                  <a:srgbClr val="1A2B4A"/>
                </a:solidFill>
                <a:latin typeface="Calibri"/>
              </a:rPr>
              <a:t>Peter Thiel</a:t>
            </a:r>
          </a:p>
        </p:txBody>
      </p:sp>
      <p:sp>
        <p:nvSpPr>
          <p:cNvPr id="42" name="TextBox 41"/>
          <p:cNvSpPr txBox="1"/>
          <p:nvPr/>
        </p:nvSpPr>
        <p:spPr>
          <a:xfrm>
            <a:off x="2478024" y="3617976"/>
            <a:ext cx="3749040"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0" i="0">
                <a:solidFill>
                  <a:srgbClr val="30435C"/>
                </a:solidFill>
                <a:latin typeface="Calibri"/>
              </a:rPr>
              <a:t>Zero to One (2014)</a:t>
            </a:r>
          </a:p>
        </p:txBody>
      </p:sp>
      <p:sp>
        <p:nvSpPr>
          <p:cNvPr id="43" name="TextBox 42"/>
          <p:cNvSpPr txBox="1"/>
          <p:nvPr/>
        </p:nvSpPr>
        <p:spPr>
          <a:xfrm>
            <a:off x="6318503" y="3617976"/>
            <a:ext cx="2468879"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0" i="0">
                <a:solidFill>
                  <a:srgbClr val="30435C"/>
                </a:solidFill>
                <a:latin typeface="Calibri"/>
              </a:rPr>
              <a:t>monopolio, 10x, moats, last-mover</a:t>
            </a:r>
          </a:p>
        </p:txBody>
      </p:sp>
      <p:sp>
        <p:nvSpPr>
          <p:cNvPr id="44" name="Rectangle 43"/>
          <p:cNvSpPr/>
          <p:nvPr/>
        </p:nvSpPr>
        <p:spPr>
          <a:xfrm>
            <a:off x="320040" y="3996944"/>
            <a:ext cx="8503920" cy="378968"/>
          </a:xfrm>
          <a:prstGeom prst="rect">
            <a:avLst/>
          </a:prstGeom>
          <a:solidFill>
            <a:srgbClr val="FFFFFF"/>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74904" y="3996944"/>
            <a:ext cx="2011679"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1" i="0">
                <a:solidFill>
                  <a:srgbClr val="1A2B4A"/>
                </a:solidFill>
                <a:latin typeface="Calibri"/>
              </a:rPr>
              <a:t>Brynjolfsson &amp; McAfee</a:t>
            </a:r>
          </a:p>
        </p:txBody>
      </p:sp>
      <p:sp>
        <p:nvSpPr>
          <p:cNvPr id="46" name="TextBox 45"/>
          <p:cNvSpPr txBox="1"/>
          <p:nvPr/>
        </p:nvSpPr>
        <p:spPr>
          <a:xfrm>
            <a:off x="2478024" y="3996944"/>
            <a:ext cx="3749040"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0" i="0">
                <a:solidFill>
                  <a:srgbClr val="30435C"/>
                </a:solidFill>
                <a:latin typeface="Calibri"/>
              </a:rPr>
              <a:t>The Second Machine Age (2014)</a:t>
            </a:r>
          </a:p>
        </p:txBody>
      </p:sp>
      <p:sp>
        <p:nvSpPr>
          <p:cNvPr id="47" name="TextBox 46"/>
          <p:cNvSpPr txBox="1"/>
          <p:nvPr/>
        </p:nvSpPr>
        <p:spPr>
          <a:xfrm>
            <a:off x="6318503" y="3996944"/>
            <a:ext cx="2468879"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0" i="0">
                <a:solidFill>
                  <a:srgbClr val="30435C"/>
                </a:solidFill>
                <a:latin typeface="Calibri"/>
              </a:rPr>
              <a:t>intangibles, bounty/spread, combinatoria</a:t>
            </a:r>
          </a:p>
        </p:txBody>
      </p:sp>
      <p:sp>
        <p:nvSpPr>
          <p:cNvPr id="48" name="Rectangle 47"/>
          <p:cNvSpPr/>
          <p:nvPr/>
        </p:nvSpPr>
        <p:spPr>
          <a:xfrm>
            <a:off x="320040" y="4375912"/>
            <a:ext cx="8503920" cy="378968"/>
          </a:xfrm>
          <a:prstGeom prst="rect">
            <a:avLst/>
          </a:prstGeom>
          <a:solidFill>
            <a:srgbClr val="F7FBFE"/>
          </a:solidFill>
          <a:ln w="6350">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74904" y="4375912"/>
            <a:ext cx="2011679"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1" i="0">
                <a:solidFill>
                  <a:srgbClr val="1A2B4A"/>
                </a:solidFill>
                <a:latin typeface="Calibri"/>
              </a:rPr>
              <a:t>Yochai Benkler</a:t>
            </a:r>
          </a:p>
        </p:txBody>
      </p:sp>
      <p:sp>
        <p:nvSpPr>
          <p:cNvPr id="50" name="TextBox 49"/>
          <p:cNvSpPr txBox="1"/>
          <p:nvPr/>
        </p:nvSpPr>
        <p:spPr>
          <a:xfrm>
            <a:off x="2478024" y="4375912"/>
            <a:ext cx="3749040"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0" i="0">
                <a:solidFill>
                  <a:srgbClr val="30435C"/>
                </a:solidFill>
                <a:latin typeface="Calibri"/>
              </a:rPr>
              <a:t>The Wealth of Networks (2006)</a:t>
            </a:r>
          </a:p>
        </p:txBody>
      </p:sp>
      <p:sp>
        <p:nvSpPr>
          <p:cNvPr id="51" name="TextBox 50"/>
          <p:cNvSpPr txBox="1"/>
          <p:nvPr/>
        </p:nvSpPr>
        <p:spPr>
          <a:xfrm>
            <a:off x="6318503" y="4375912"/>
            <a:ext cx="2468879" cy="378968"/>
          </a:xfrm>
          <a:prstGeom prst="rect">
            <a:avLst/>
          </a:prstGeom>
          <a:noFill/>
        </p:spPr>
        <p:txBody>
          <a:bodyPr wrap="square" anchor="ctr" lIns="12700" rIns="12700" tIns="12700" bIns="12700">
            <a:spAutoFit/>
          </a:bodyPr>
          <a:lstStyle/>
          <a:p>
            <a:pPr algn="l">
              <a:lnSpc>
                <a:spcPct val="90000"/>
              </a:lnSpc>
              <a:spcBef>
                <a:spcPts val="0"/>
              </a:spcBef>
              <a:spcAft>
                <a:spcPts val="200"/>
              </a:spcAft>
            </a:pPr>
            <a:r>
              <a:rPr sz="819" b="0" i="0">
                <a:solidFill>
                  <a:srgbClr val="30435C"/>
                </a:solidFill>
                <a:latin typeface="Calibri"/>
              </a:rPr>
              <a:t>peer production, no-rivalidad social, OSS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49808"/>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9144000" cy="18288"/>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
            <a:ext cx="5486400" cy="219456"/>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900" b="1" i="0">
                <a:solidFill>
                  <a:srgbClr val="4CAF50"/>
                </a:solidFill>
                <a:latin typeface="Calibri"/>
              </a:rPr>
              <a:t>PARA SEGUIR</a:t>
            </a:r>
          </a:p>
        </p:txBody>
      </p:sp>
      <p:sp>
        <p:nvSpPr>
          <p:cNvPr id="6" name="TextBox 5"/>
          <p:cNvSpPr txBox="1"/>
          <p:nvPr/>
        </p:nvSpPr>
        <p:spPr>
          <a:xfrm>
            <a:off x="320040" y="329184"/>
            <a:ext cx="6766560" cy="402336"/>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2000" b="1" i="0">
                <a:solidFill>
                  <a:srgbClr val="FFFFFF"/>
                </a:solidFill>
                <a:latin typeface="Calibri"/>
              </a:rPr>
              <a:t>Pensadores complementarios y lecturas posteriores</a:t>
            </a:r>
          </a:p>
        </p:txBody>
      </p:sp>
      <p:sp>
        <p:nvSpPr>
          <p:cNvPr id="7" name="Rectangle 6"/>
          <p:cNvSpPr/>
          <p:nvPr/>
        </p:nvSpPr>
        <p:spPr>
          <a:xfrm>
            <a:off x="320040" y="4882896"/>
            <a:ext cx="8503920" cy="10972"/>
          </a:xfrm>
          <a:prstGeom prst="rect">
            <a:avLst/>
          </a:prstGeom>
          <a:solidFill>
            <a:srgbClr val="C8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4901184"/>
            <a:ext cx="3657600" cy="201168"/>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800" b="0" i="0">
                <a:solidFill>
                  <a:srgbClr val="B0BEC5"/>
                </a:solidFill>
                <a:latin typeface="Calibri"/>
              </a:rPr>
              <a:t>Economía del Software · Masterclass</a:t>
            </a:r>
          </a:p>
        </p:txBody>
      </p:sp>
      <p:sp>
        <p:nvSpPr>
          <p:cNvPr id="9" name="TextBox 8"/>
          <p:cNvSpPr txBox="1"/>
          <p:nvPr/>
        </p:nvSpPr>
        <p:spPr>
          <a:xfrm>
            <a:off x="8138160" y="4901184"/>
            <a:ext cx="640080" cy="201168"/>
          </a:xfrm>
          <a:prstGeom prst="rect">
            <a:avLst/>
          </a:prstGeom>
          <a:noFill/>
        </p:spPr>
        <p:txBody>
          <a:bodyPr wrap="square" anchor="t" lIns="12700" rIns="12700" tIns="12700" bIns="12700">
            <a:spAutoFit/>
          </a:bodyPr>
          <a:lstStyle/>
          <a:p>
            <a:pPr algn="r">
              <a:lnSpc>
                <a:spcPct val="100000"/>
              </a:lnSpc>
              <a:spcBef>
                <a:spcPts val="0"/>
              </a:spcBef>
              <a:spcAft>
                <a:spcPts val="200"/>
              </a:spcAft>
            </a:pPr>
            <a:r>
              <a:rPr sz="800" b="0" i="0">
                <a:solidFill>
                  <a:srgbClr val="B0BEC5"/>
                </a:solidFill>
                <a:latin typeface="Calibri"/>
              </a:rPr>
              <a:t>61</a:t>
            </a:r>
          </a:p>
        </p:txBody>
      </p:sp>
      <p:sp>
        <p:nvSpPr>
          <p:cNvPr id="10" name="Rounded Rectangle 9"/>
          <p:cNvSpPr/>
          <p:nvPr/>
        </p:nvSpPr>
        <p:spPr>
          <a:xfrm>
            <a:off x="320040" y="960120"/>
            <a:ext cx="4206240" cy="3749039"/>
          </a:xfrm>
          <a:prstGeom prst="roundRect">
            <a:avLst>
              <a:gd name="adj" fmla="val 4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20040" y="960120"/>
            <a:ext cx="4206240" cy="420624"/>
          </a:xfrm>
          <a:prstGeom prst="roundRect">
            <a:avLst>
              <a:gd name="adj" fmla="val 8000"/>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170432"/>
            <a:ext cx="4206240" cy="210312"/>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 y="960120"/>
            <a:ext cx="3931920" cy="420624"/>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150" b="1" i="0">
                <a:solidFill>
                  <a:srgbClr val="FFFFFF"/>
                </a:solidFill>
                <a:latin typeface="Calibri"/>
              </a:rPr>
              <a:t>Complementan el marco</a:t>
            </a:r>
          </a:p>
        </p:txBody>
      </p:sp>
      <p:sp>
        <p:nvSpPr>
          <p:cNvPr id="14" name="TextBox 13"/>
          <p:cNvSpPr txBox="1"/>
          <p:nvPr/>
        </p:nvSpPr>
        <p:spPr>
          <a:xfrm>
            <a:off x="484632" y="1481328"/>
            <a:ext cx="3886200" cy="3108960"/>
          </a:xfrm>
          <a:prstGeom prst="rect">
            <a:avLst/>
          </a:prstGeom>
          <a:noFill/>
        </p:spPr>
        <p:txBody>
          <a:bodyPr wrap="square" anchor="t" lIns="12700" rIns="12700" tIns="12700" bIns="12700">
            <a:spAutoFit/>
          </a:bodyPr>
          <a:lstStyle/>
          <a:p>
            <a:pPr algn="l">
              <a:lnSpc>
                <a:spcPct val="106000"/>
              </a:lnSpc>
              <a:spcBef>
                <a:spcPts val="0"/>
              </a:spcBef>
              <a:spcAft>
                <a:spcPts val="500"/>
              </a:spcAft>
            </a:pPr>
            <a:r>
              <a:rPr sz="940" b="1" i="0">
                <a:solidFill>
                  <a:srgbClr val="4A9EFF"/>
                </a:solidFill>
                <a:latin typeface="Calibri"/>
              </a:rPr>
              <a:t>Ronald Coase  </a:t>
            </a:r>
            <a:r>
              <a:rPr sz="940" b="0" i="0">
                <a:solidFill>
                  <a:srgbClr val="30435C"/>
                </a:solidFill>
                <a:latin typeface="Calibri"/>
              </a:rPr>
              <a:t>'The Nature of the Firm' — por qué la nube achica empresas</a:t>
            </a:r>
          </a:p>
          <a:p>
            <a:pPr algn="l">
              <a:lnSpc>
                <a:spcPct val="106000"/>
              </a:lnSpc>
              <a:spcBef>
                <a:spcPts val="0"/>
              </a:spcBef>
              <a:spcAft>
                <a:spcPts val="500"/>
              </a:spcAft>
            </a:pPr>
            <a:r>
              <a:rPr sz="940" b="1" i="0">
                <a:solidFill>
                  <a:srgbClr val="4A9EFF"/>
                </a:solidFill>
                <a:latin typeface="Calibri"/>
              </a:rPr>
              <a:t>Alfred Marshall  </a:t>
            </a:r>
            <a:r>
              <a:rPr sz="940" b="0" i="0">
                <a:solidFill>
                  <a:srgbClr val="30435C"/>
                </a:solidFill>
                <a:latin typeface="Calibri"/>
              </a:rPr>
              <a:t>distritos industriales, spillovers 'in the air'</a:t>
            </a:r>
          </a:p>
          <a:p>
            <a:pPr algn="l">
              <a:lnSpc>
                <a:spcPct val="106000"/>
              </a:lnSpc>
              <a:spcBef>
                <a:spcPts val="0"/>
              </a:spcBef>
              <a:spcAft>
                <a:spcPts val="500"/>
              </a:spcAft>
            </a:pPr>
            <a:r>
              <a:rPr sz="940" b="1" i="0">
                <a:solidFill>
                  <a:srgbClr val="4A9EFF"/>
                </a:solidFill>
                <a:latin typeface="Calibri"/>
              </a:rPr>
              <a:t>Michael Porter  </a:t>
            </a:r>
            <a:r>
              <a:rPr sz="940" b="0" i="0">
                <a:solidFill>
                  <a:srgbClr val="30435C"/>
                </a:solidFill>
                <a:latin typeface="Calibri"/>
              </a:rPr>
              <a:t>ventaja competitiva (base estática del moat)</a:t>
            </a:r>
          </a:p>
          <a:p>
            <a:pPr algn="l">
              <a:lnSpc>
                <a:spcPct val="106000"/>
              </a:lnSpc>
              <a:spcBef>
                <a:spcPts val="0"/>
              </a:spcBef>
              <a:spcAft>
                <a:spcPts val="500"/>
              </a:spcAft>
            </a:pPr>
            <a:r>
              <a:rPr sz="940" b="1" i="0">
                <a:solidFill>
                  <a:srgbClr val="4A9EFF"/>
                </a:solidFill>
                <a:latin typeface="Calibri"/>
              </a:rPr>
              <a:t>Clayton Christensen  </a:t>
            </a:r>
            <a:r>
              <a:rPr sz="940" b="0" i="0">
                <a:solidFill>
                  <a:srgbClr val="30435C"/>
                </a:solidFill>
                <a:latin typeface="Calibri"/>
              </a:rPr>
              <a:t>The Innovator's Dilemma — disrupción</a:t>
            </a:r>
          </a:p>
          <a:p>
            <a:pPr algn="l">
              <a:lnSpc>
                <a:spcPct val="106000"/>
              </a:lnSpc>
              <a:spcBef>
                <a:spcPts val="0"/>
              </a:spcBef>
              <a:spcAft>
                <a:spcPts val="500"/>
              </a:spcAft>
            </a:pPr>
            <a:r>
              <a:rPr sz="940" b="1" i="0">
                <a:solidFill>
                  <a:srgbClr val="4A9EFF"/>
                </a:solidFill>
                <a:latin typeface="Calibri"/>
              </a:rPr>
              <a:t>Geoffrey Moore  </a:t>
            </a:r>
            <a:r>
              <a:rPr sz="940" b="0" i="0">
                <a:solidFill>
                  <a:srgbClr val="30435C"/>
                </a:solidFill>
                <a:latin typeface="Calibri"/>
              </a:rPr>
              <a:t>Crossing the Chasm — adopción de tecnología</a:t>
            </a:r>
          </a:p>
          <a:p>
            <a:pPr algn="l">
              <a:lnSpc>
                <a:spcPct val="106000"/>
              </a:lnSpc>
              <a:spcBef>
                <a:spcPts val="0"/>
              </a:spcBef>
              <a:spcAft>
                <a:spcPts val="500"/>
              </a:spcAft>
            </a:pPr>
            <a:r>
              <a:rPr sz="940" b="1" i="0">
                <a:solidFill>
                  <a:srgbClr val="4A9EFF"/>
                </a:solidFill>
                <a:latin typeface="Calibri"/>
              </a:rPr>
              <a:t>Frank &amp; Cook  </a:t>
            </a:r>
            <a:r>
              <a:rPr sz="940" b="0" i="0">
                <a:solidFill>
                  <a:srgbClr val="30435C"/>
                </a:solidFill>
                <a:latin typeface="Calibri"/>
              </a:rPr>
              <a:t>The Winner-Take-All Society</a:t>
            </a:r>
          </a:p>
        </p:txBody>
      </p:sp>
      <p:sp>
        <p:nvSpPr>
          <p:cNvPr id="15" name="Rounded Rectangle 14"/>
          <p:cNvSpPr/>
          <p:nvPr/>
        </p:nvSpPr>
        <p:spPr>
          <a:xfrm>
            <a:off x="4617720" y="960120"/>
            <a:ext cx="4206240" cy="3749039"/>
          </a:xfrm>
          <a:prstGeom prst="roundRect">
            <a:avLst>
              <a:gd name="adj" fmla="val 4000"/>
            </a:avLst>
          </a:prstGeom>
          <a:solidFill>
            <a:srgbClr val="F7FBFE"/>
          </a:solidFill>
          <a:ln w="9525">
            <a:solidFill>
              <a:srgbClr val="C8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17720" y="960120"/>
            <a:ext cx="4206240" cy="420624"/>
          </a:xfrm>
          <a:prstGeom prst="roundRect">
            <a:avLst>
              <a:gd name="adj" fmla="val 8000"/>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170432"/>
            <a:ext cx="4206240" cy="21031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45736" y="960120"/>
            <a:ext cx="3931920" cy="420624"/>
          </a:xfrm>
          <a:prstGeom prst="rect">
            <a:avLst/>
          </a:prstGeom>
          <a:noFill/>
        </p:spPr>
        <p:txBody>
          <a:bodyPr wrap="square" anchor="ctr" lIns="12700" rIns="12700" tIns="12700" bIns="12700">
            <a:spAutoFit/>
          </a:bodyPr>
          <a:lstStyle/>
          <a:p>
            <a:pPr algn="l">
              <a:lnSpc>
                <a:spcPct val="100000"/>
              </a:lnSpc>
              <a:spcBef>
                <a:spcPts val="0"/>
              </a:spcBef>
              <a:spcAft>
                <a:spcPts val="200"/>
              </a:spcAft>
            </a:pPr>
            <a:r>
              <a:rPr sz="1150" b="1" i="0">
                <a:solidFill>
                  <a:srgbClr val="FFFFFF"/>
                </a:solidFill>
                <a:latin typeface="Calibri"/>
              </a:rPr>
              <a:t>Voces de la era IA</a:t>
            </a:r>
          </a:p>
        </p:txBody>
      </p:sp>
      <p:sp>
        <p:nvSpPr>
          <p:cNvPr id="19" name="TextBox 18"/>
          <p:cNvSpPr txBox="1"/>
          <p:nvPr/>
        </p:nvSpPr>
        <p:spPr>
          <a:xfrm>
            <a:off x="4782312" y="1481328"/>
            <a:ext cx="3886200" cy="3108960"/>
          </a:xfrm>
          <a:prstGeom prst="rect">
            <a:avLst/>
          </a:prstGeom>
          <a:noFill/>
        </p:spPr>
        <p:txBody>
          <a:bodyPr wrap="square" anchor="t" lIns="12700" rIns="12700" tIns="12700" bIns="12700">
            <a:spAutoFit/>
          </a:bodyPr>
          <a:lstStyle/>
          <a:p>
            <a:pPr algn="l">
              <a:lnSpc>
                <a:spcPct val="106000"/>
              </a:lnSpc>
              <a:spcBef>
                <a:spcPts val="0"/>
              </a:spcBef>
              <a:spcAft>
                <a:spcPts val="500"/>
              </a:spcAft>
            </a:pPr>
            <a:r>
              <a:rPr sz="940" b="1" i="0">
                <a:solidFill>
                  <a:srgbClr val="4CAF50"/>
                </a:solidFill>
                <a:latin typeface="Calibri"/>
              </a:rPr>
              <a:t>Richard Sutton  </a:t>
            </a:r>
            <a:r>
              <a:rPr sz="940" b="0" i="0">
                <a:solidFill>
                  <a:srgbClr val="30435C"/>
                </a:solidFill>
                <a:latin typeface="Calibri"/>
              </a:rPr>
              <a:t>'The Bitter Lesson' — la escala vence al ingenio</a:t>
            </a:r>
          </a:p>
          <a:p>
            <a:pPr algn="l">
              <a:lnSpc>
                <a:spcPct val="106000"/>
              </a:lnSpc>
              <a:spcBef>
                <a:spcPts val="0"/>
              </a:spcBef>
              <a:spcAft>
                <a:spcPts val="500"/>
              </a:spcAft>
            </a:pPr>
            <a:r>
              <a:rPr sz="940" b="1" i="0">
                <a:solidFill>
                  <a:srgbClr val="4CAF50"/>
                </a:solidFill>
                <a:latin typeface="Calibri"/>
              </a:rPr>
              <a:t>Nassim Taleb  </a:t>
            </a:r>
            <a:r>
              <a:rPr sz="940" b="0" i="0">
                <a:solidFill>
                  <a:srgbClr val="30435C"/>
                </a:solidFill>
                <a:latin typeface="Calibri"/>
              </a:rPr>
              <a:t>Antifragile — el rol del azar y la opcionalidad</a:t>
            </a:r>
          </a:p>
          <a:p>
            <a:pPr algn="l">
              <a:lnSpc>
                <a:spcPct val="106000"/>
              </a:lnSpc>
              <a:spcBef>
                <a:spcPts val="0"/>
              </a:spcBef>
              <a:spcAft>
                <a:spcPts val="500"/>
              </a:spcAft>
            </a:pPr>
            <a:r>
              <a:rPr sz="940" b="1" i="0">
                <a:solidFill>
                  <a:srgbClr val="4CAF50"/>
                </a:solidFill>
                <a:latin typeface="Calibri"/>
              </a:rPr>
              <a:t>Ben Evans  </a:t>
            </a:r>
            <a:r>
              <a:rPr sz="940" b="0" i="0">
                <a:solidFill>
                  <a:srgbClr val="30435C"/>
                </a:solidFill>
                <a:latin typeface="Calibri"/>
              </a:rPr>
              <a:t>análisis de plataformas y ciclos tech</a:t>
            </a:r>
          </a:p>
          <a:p>
            <a:pPr algn="l">
              <a:lnSpc>
                <a:spcPct val="106000"/>
              </a:lnSpc>
              <a:spcBef>
                <a:spcPts val="0"/>
              </a:spcBef>
              <a:spcAft>
                <a:spcPts val="500"/>
              </a:spcAft>
            </a:pPr>
            <a:r>
              <a:rPr sz="940" b="1" i="0">
                <a:solidFill>
                  <a:srgbClr val="4CAF50"/>
                </a:solidFill>
                <a:latin typeface="Calibri"/>
              </a:rPr>
              <a:t>Marc Andreessen  </a:t>
            </a:r>
            <a:r>
              <a:rPr sz="940" b="0" i="0">
                <a:solidFill>
                  <a:srgbClr val="30435C"/>
                </a:solidFill>
                <a:latin typeface="Calibri"/>
              </a:rPr>
              <a:t>'Software is eating the world' (2011)</a:t>
            </a:r>
          </a:p>
          <a:p>
            <a:pPr algn="l">
              <a:lnSpc>
                <a:spcPct val="106000"/>
              </a:lnSpc>
              <a:spcBef>
                <a:spcPts val="0"/>
              </a:spcBef>
              <a:spcAft>
                <a:spcPts val="500"/>
              </a:spcAft>
            </a:pPr>
            <a:r>
              <a:rPr sz="940" b="1" i="0">
                <a:solidFill>
                  <a:srgbClr val="4CAF50"/>
                </a:solidFill>
                <a:latin typeface="Calibri"/>
              </a:rPr>
              <a:t>Jensen Huang  </a:t>
            </a:r>
            <a:r>
              <a:rPr sz="940" b="0" i="0">
                <a:solidFill>
                  <a:srgbClr val="30435C"/>
                </a:solidFill>
                <a:latin typeface="Calibri"/>
              </a:rPr>
              <a:t>computo acelerado, la paradoja de Jevons</a:t>
            </a:r>
          </a:p>
          <a:p>
            <a:pPr algn="l">
              <a:lnSpc>
                <a:spcPct val="106000"/>
              </a:lnSpc>
              <a:spcBef>
                <a:spcPts val="0"/>
              </a:spcBef>
              <a:spcAft>
                <a:spcPts val="500"/>
              </a:spcAft>
            </a:pPr>
            <a:r>
              <a:rPr sz="940" b="1" i="0">
                <a:solidFill>
                  <a:srgbClr val="4CAF50"/>
                </a:solidFill>
                <a:latin typeface="Calibri"/>
              </a:rPr>
              <a:t>Sam Altman  </a:t>
            </a:r>
            <a:r>
              <a:rPr sz="940" b="0" i="0">
                <a:solidFill>
                  <a:srgbClr val="30435C"/>
                </a:solidFill>
                <a:latin typeface="Calibri"/>
              </a:rPr>
              <a:t>el costo de la inteligencia → energía + computo</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5143500"/>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22960"/>
            <a:ext cx="7863840" cy="274320"/>
          </a:xfrm>
          <a:prstGeom prst="rect">
            <a:avLst/>
          </a:prstGeom>
          <a:noFill/>
        </p:spPr>
        <p:txBody>
          <a:bodyPr wrap="square" anchor="t" lIns="12700" rIns="12700" tIns="12700" bIns="12700">
            <a:spAutoFit/>
          </a:bodyPr>
          <a:lstStyle/>
          <a:p>
            <a:pPr algn="l">
              <a:lnSpc>
                <a:spcPct val="100000"/>
              </a:lnSpc>
              <a:spcBef>
                <a:spcPts val="0"/>
              </a:spcBef>
              <a:spcAft>
                <a:spcPts val="200"/>
              </a:spcAft>
            </a:pPr>
            <a:r>
              <a:rPr sz="1200" b="1" i="0">
                <a:solidFill>
                  <a:srgbClr val="4A9EFF"/>
                </a:solidFill>
                <a:latin typeface="Calibri"/>
              </a:rPr>
              <a:t>CIERRE</a:t>
            </a:r>
          </a:p>
        </p:txBody>
      </p:sp>
      <p:sp>
        <p:nvSpPr>
          <p:cNvPr id="5" name="TextBox 4"/>
          <p:cNvSpPr txBox="1"/>
          <p:nvPr/>
        </p:nvSpPr>
        <p:spPr>
          <a:xfrm>
            <a:off x="640080" y="1371600"/>
            <a:ext cx="7863840" cy="2651760"/>
          </a:xfrm>
          <a:prstGeom prst="rect">
            <a:avLst/>
          </a:prstGeom>
          <a:noFill/>
        </p:spPr>
        <p:txBody>
          <a:bodyPr wrap="square" anchor="t" lIns="12700" rIns="12700" tIns="12700" bIns="12700">
            <a:spAutoFit/>
          </a:bodyPr>
          <a:lstStyle/>
          <a:p>
            <a:pPr algn="l">
              <a:lnSpc>
                <a:spcPct val="112000"/>
              </a:lnSpc>
              <a:spcBef>
                <a:spcPts val="0"/>
              </a:spcBef>
              <a:spcAft>
                <a:spcPts val="200"/>
              </a:spcAft>
            </a:pPr>
            <a:r>
              <a:rPr sz="2600" b="1" i="0">
                <a:solidFill>
                  <a:srgbClr val="FFFFFF"/>
                </a:solidFill>
                <a:latin typeface="Calibri"/>
              </a:rPr>
              <a:t>Nunca hubo un momento como este</a:t>
            </a:r>
          </a:p>
          <a:p>
            <a:pPr algn="l">
              <a:lnSpc>
                <a:spcPct val="112000"/>
              </a:lnSpc>
              <a:spcBef>
                <a:spcPts val="0"/>
              </a:spcBef>
              <a:spcAft>
                <a:spcPts val="200"/>
              </a:spcAft>
            </a:pPr>
            <a:r>
              <a:rPr sz="2600" b="1" i="0">
                <a:solidFill>
                  <a:srgbClr val="FFFFFF"/>
                </a:solidFill>
                <a:latin typeface="Calibri"/>
              </a:rPr>
              <a:t>para convertir </a:t>
            </a:r>
            <a:r>
              <a:rPr sz="2600" b="1" i="0">
                <a:solidFill>
                  <a:srgbClr val="4A9EFF"/>
                </a:solidFill>
                <a:latin typeface="Calibri"/>
              </a:rPr>
              <a:t>una idea en un sistema</a:t>
            </a:r>
          </a:p>
          <a:p>
            <a:pPr algn="l">
              <a:lnSpc>
                <a:spcPct val="112000"/>
              </a:lnSpc>
              <a:spcBef>
                <a:spcPts val="0"/>
              </a:spcBef>
              <a:spcAft>
                <a:spcPts val="200"/>
              </a:spcAft>
            </a:pPr>
            <a:r>
              <a:rPr sz="2600" b="1" i="0">
                <a:solidFill>
                  <a:srgbClr val="FFFFFF"/>
                </a:solidFill>
                <a:latin typeface="Calibri"/>
              </a:rPr>
              <a:t>que compone valor mientras el mundo duerme.</a:t>
            </a:r>
          </a:p>
          <a:p>
            <a:pPr algn="l">
              <a:lnSpc>
                <a:spcPct val="112000"/>
              </a:lnSpc>
              <a:spcBef>
                <a:spcPts val="0"/>
              </a:spcBef>
              <a:spcAft>
                <a:spcPts val="200"/>
              </a:spcAft>
            </a:pPr>
            <a:r>
              <a:rPr sz="2600" b="1" i="0">
                <a:solidFill>
                  <a:srgbClr val="FFFFFF"/>
                </a:solidFill>
                <a:latin typeface="Calibri"/>
              </a:rPr>
              <a:t/>
            </a:r>
          </a:p>
          <a:p>
            <a:pPr algn="l">
              <a:lnSpc>
                <a:spcPct val="112000"/>
              </a:lnSpc>
              <a:spcBef>
                <a:spcPts val="0"/>
              </a:spcBef>
              <a:spcAft>
                <a:spcPts val="200"/>
              </a:spcAft>
            </a:pPr>
            <a:r>
              <a:rPr sz="1800" b="1" i="0">
                <a:solidFill>
                  <a:srgbClr val="B0BEC5"/>
                </a:solidFill>
                <a:latin typeface="Calibri"/>
              </a:rPr>
              <a:t>Vos ya sabés escribir el código.</a:t>
            </a:r>
          </a:p>
          <a:p>
            <a:pPr algn="l">
              <a:lnSpc>
                <a:spcPct val="112000"/>
              </a:lnSpc>
              <a:spcBef>
                <a:spcPts val="0"/>
              </a:spcBef>
              <a:spcAft>
                <a:spcPts val="200"/>
              </a:spcAft>
            </a:pPr>
            <a:r>
              <a:rPr sz="1800" b="1" i="0">
                <a:solidFill>
                  <a:srgbClr val="B0BEC5"/>
                </a:solidFill>
                <a:latin typeface="Calibri"/>
              </a:rPr>
              <a:t>Ahora sabés lo que el código puede </a:t>
            </a:r>
            <a:r>
              <a:rPr sz="1800" b="1" i="0">
                <a:solidFill>
                  <a:srgbClr val="FF8C42"/>
                </a:solidFill>
                <a:latin typeface="Calibri"/>
              </a:rPr>
              <a:t>llegar a ser</a:t>
            </a:r>
            <a:r>
              <a:rPr sz="1800" b="1" i="0">
                <a:solidFill>
                  <a:srgbClr val="B0BEC5"/>
                </a:solidFill>
                <a:latin typeface="Calibri"/>
              </a:rPr>
              <a:t>.</a:t>
            </a:r>
          </a:p>
        </p:txBody>
      </p:sp>
      <p:sp>
        <p:nvSpPr>
          <p:cNvPr id="6" name="Rectangle 5"/>
          <p:cNvSpPr/>
          <p:nvPr/>
        </p:nvSpPr>
        <p:spPr>
          <a:xfrm>
            <a:off x="640080" y="4160520"/>
            <a:ext cx="2743200" cy="27432"/>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297680"/>
            <a:ext cx="7863840" cy="640080"/>
          </a:xfrm>
          <a:prstGeom prst="rect">
            <a:avLst/>
          </a:prstGeom>
          <a:noFill/>
        </p:spPr>
        <p:txBody>
          <a:bodyPr wrap="square" anchor="t" lIns="12700" rIns="12700" tIns="12700" bIns="12700">
            <a:spAutoFit/>
          </a:bodyPr>
          <a:lstStyle/>
          <a:p>
            <a:pPr algn="l">
              <a:lnSpc>
                <a:spcPct val="108000"/>
              </a:lnSpc>
              <a:spcBef>
                <a:spcPts val="0"/>
              </a:spcBef>
              <a:spcAft>
                <a:spcPts val="200"/>
              </a:spcAft>
            </a:pPr>
            <a:r>
              <a:rPr sz="1250" b="0" i="1">
                <a:solidFill>
                  <a:srgbClr val="B0BEC5"/>
                </a:solidFill>
                <a:latin typeface="Calibri"/>
              </a:rPr>
              <a:t>Andá a construir algo que cambie una industria. — Fin.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