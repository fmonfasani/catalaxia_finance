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480560" cy="10058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457200" y="457200"/>
            <a:ext cx="182880" cy="182880"/>
          </a:xfrm>
          <a:prstGeom prst="diamond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36576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web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shooks</a:t>
            </a:r>
            <a:r>
              <a:rPr sz="26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38404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B82F6"/>
                </a:solidFill>
                <a:latin typeface="Calibri"/>
              </a:rPr>
              <a:t>Desarrollo de Software · LATAM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481328"/>
            <a:ext cx="2194560" cy="36576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840480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Propuesta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93192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AB4C8"/>
                </a:solidFill>
                <a:latin typeface="Calibri"/>
              </a:rPr>
              <a:t>Screener Financiero AR + 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AAB4C8"/>
                </a:solidFill>
                <a:latin typeface="Calibri"/>
              </a:rPr>
              <a:t>Base de datos unificada · doble moneda · ratios oficiales — Backoffice Catalaxia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532120"/>
            <a:ext cx="3520440" cy="12801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Cliente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Catalaxia S.A.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Fecha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Julio 2026  ·  v4.1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868680"/>
            <a:ext cx="6858000" cy="19202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A2744"/>
                </a:solidFill>
                <a:latin typeface="Calibri"/>
              </a:rPr>
              <a:t>Iniciá tu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A2744"/>
                </a:solidFill>
                <a:latin typeface="Calibri"/>
              </a:rPr>
              <a:t>transformación digital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3B82F6"/>
                </a:solidFill>
                <a:latin typeface="Calibri"/>
              </a:rPr>
              <a:t>con nosotros.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063240"/>
            <a:ext cx="649224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291840"/>
            <a:ext cx="676656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Propuesta de Solución (v4): </a:t>
            </a:r>
            <a:r>
              <a:rPr sz="1300" b="0" i="0">
                <a:solidFill>
                  <a:srgbClr val="3A4458"/>
                </a:solidFill>
                <a:latin typeface="Calibri"/>
              </a:rPr>
              <a:t>base de datos financiera que unifica Argentina y Estados Unidos, en ARS y USD, con ratios CEDEAR/ADR oficiales y trazabilidad por dato.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468172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727448"/>
            <a:ext cx="84124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468172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4727448"/>
            <a:ext cx="93268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Next.js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4304" y="468172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4" y="4727448"/>
            <a:ext cx="12070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57616" y="468172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4727448"/>
            <a:ext cx="93268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FastAPI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4681728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4727448"/>
            <a:ext cx="111556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SEC EDGAR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513892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5184648"/>
            <a:ext cx="12070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CNV · BYMA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513892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5184648"/>
            <a:ext cx="84124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Comafi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Base de datos financiera única en el mercado argentino: 572 empresas en 3 mercados, con doble precio ARS/USD y ratios CEDEAR/ADR oficiales. El pipeline ya está construido, validado y se actualiza solo.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572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Empresas · 3 mercados (S&amp;P 500 + ADR + BYMA)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1965960"/>
            <a:ext cx="2606040" cy="548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CEDEARs con ratio oficial (Banco Comafi)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1965960"/>
            <a:ext cx="2606040" cy="548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733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Instrumentos con ISIN (modelo de 2 niveles)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7112" y="1965960"/>
            <a:ext cx="2606040" cy="548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1,3%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Dispersión del CCL — valida los ratios de paso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¿Qué incluye?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3 universos: 499 S&amp;P 500 (US) + 17 ADR + 56 BYMA-only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Doble precio ARS/USD + CCL calculado desde ADRs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Ratios CEDEAR oficiales (Comafi) — N:1 por instrumento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Ratios/datos ADR: SEC F-6/20-F + JPMorgan (adr.com)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Modelo de 2 niveles: empresa + 733 instrumentos (ISIN)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~16 ratios fundamentales (SEC EDGAR + CNV NIC-29)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Provenance: source_url por dato — auditable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Pipeline replicable (run_all) + jobs (diario/trimestral/anual)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Lo nuevo desde la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La v3 (junio) era EE.UU. + ADRs desde SEC EDGAR. La v4 suma el lado argentino oficial, la doble moneda y los ratios de conversión — sin perder trazabilidad.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2199956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74519"/>
            <a:ext cx="2090228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Dimensión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2876" y="1874519"/>
            <a:ext cx="384992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6028" y="1874519"/>
            <a:ext cx="374019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v3 · Junio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2800" y="1874519"/>
            <a:ext cx="5133231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5952" y="1874519"/>
            <a:ext cx="50235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v4 · Ahora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76856"/>
            <a:ext cx="11183112" cy="51206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76856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Universo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6028" y="2276856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553 US + ADR (solo EDGAR)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5952" y="2276856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572 en 3 mercados: S&amp;P 500 + ADR + BYMA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88920"/>
            <a:ext cx="111831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88920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Precio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6028" y="2788920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USD (EDGAR / yfinance)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5952" y="2788920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doble ARS/USD + CCL calculado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00984"/>
            <a:ext cx="11183112" cy="51206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300984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CEDEAR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6028" y="3300984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— (no estaba)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5952" y="3300984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144 oficiales del emisor (Comafi)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813048"/>
            <a:ext cx="111831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813048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ADR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6028" y="3813048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— (no estaba)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5952" y="3813048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SEC F-6 / 20-F + JPMorgan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325112"/>
            <a:ext cx="11183112" cy="51206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325112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Modelo de datos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6028" y="4325112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 fila por empresa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5952" y="4325112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2 niveles: empresa + 733 instrumentos con ISIN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37176"/>
            <a:ext cx="111831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4837176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Fuentes 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6028" y="4837176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— (no estaba)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5952" y="4837176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CNV NIC-29 · BYMA/IAMC · Comafi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212080"/>
            <a:ext cx="11183112" cy="960120"/>
          </a:xfrm>
          <a:prstGeom prst="roundRect">
            <a:avLst>
              <a:gd name="adj" fmla="val 5000"/>
            </a:avLst>
          </a:prstGeom>
          <a:solidFill>
            <a:srgbClr val="E7F7E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21208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303520"/>
            <a:ext cx="10863072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3A047"/>
                </a:solidFill>
                <a:latin typeface="Calibri"/>
              </a:rPr>
              <a:t>Validación cruzada — el CCL como prueba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69280"/>
            <a:ext cx="1083564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El CCL (contado con liqui) calculado desde 11 ADRs da una mediana de ~1.578 con solo </a:t>
            </a:r>
            <a:r>
              <a:rPr sz="1050" b="1" i="0">
                <a:solidFill>
                  <a:srgbClr val="1F6B35"/>
                </a:solidFill>
                <a:latin typeface="Calibri"/>
              </a:rPr>
              <a:t>1,3% de dispersión</a:t>
            </a:r>
            <a:r>
              <a:rPr sz="1050" b="0" i="0">
                <a:solidFill>
                  <a:srgbClr val="3A4458"/>
                </a:solidFill>
                <a:latin typeface="Calibri"/>
              </a:rPr>
              <a:t>. Esa coherencia valida, de forma independiente, que los ratios ADR/CEDEAR oficiales están bien cargados.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El diferenciador — datos oficiales con trazabilidad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No es otro screener con scraping frágil. Cada dato tiene su fuente oficial y su source_url; los ratios de conversión vienen del emisor, no “a ojo”.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74519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9503" y="1874519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2655" y="1874519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Fuente oficial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6086" y="1874519"/>
            <a:ext cx="2749945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9238" y="1874519"/>
            <a:ext cx="2640217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Cobertura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768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76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CEDEAR (N CEDEARs = 1 acción)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2655" y="2276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Banco Comafi (el emisor)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9238" y="22768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144 · S&amp;P 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340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340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ADR (1 ADR = N acciones)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655" y="27340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SEC — formularios F-6 / 20-F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9238" y="27340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17 · ADR 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912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1912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Precio de cierre BYMA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2655" y="31912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BYMA · IAMC (informe diario oficial)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9238" y="31912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73 · 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484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6484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Fundamentales EE.UU.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2655" y="36484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SEC EDGAR — companyfacts (GAAP+IFRS)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9238" y="36484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499 · S&amp;P 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056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1056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Fundamentales BYMA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2655" y="41056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CNV — estados contables NIC 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9238" y="41056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56 · BYMA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628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4562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Dividendos + DR level del ADR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2655" y="4562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JPMorgan — adr.com (API pública)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9238" y="45628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17 · ADR 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074920"/>
            <a:ext cx="11183112" cy="1051560"/>
          </a:xfrm>
          <a:prstGeom prst="roundRect">
            <a:avLst>
              <a:gd name="adj" fmla="val 5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074920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66359"/>
            <a:ext cx="10863072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source_url por dato — auditable ante un cliente o un regulador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532120"/>
            <a:ext cx="10835640" cy="502919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A diferencia de un Excel armado a mano o de un scraping de portales, cada número del screener guarda de dónde salió. Se puede auditar, y las limitaciones están publicadas (no comparamos BYMA vs S&amp;P 1:1 sin ajuste). Vendemos </a:t>
            </a:r>
            <a:r>
              <a:rPr sz="1050" b="1" i="0">
                <a:solidFill>
                  <a:srgbClr val="1A2744"/>
                </a:solidFill>
                <a:latin typeface="Calibri"/>
              </a:rPr>
              <a:t>medido, trazable y honesto</a:t>
            </a:r>
            <a:r>
              <a:rPr sz="1050" b="0" i="0">
                <a:solidFill>
                  <a:srgbClr val="3A445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Alcance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602736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84831"/>
            <a:ext cx="3602736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Base de datos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3273552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572 empresas + 733 instrumentos (modelo 2 niveles)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Doble precio ARS/USD + CCL + precio_fuente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Multi-fuente: SEC · CNV · IAMC · Comafi · JPMorgan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Jobs: diario (precios) · trimestral · mensual · anual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Resiliente: si la CNV cae, difiere y avisa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Migración SQLite → PostgreSQL (esquema definido)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15383" y="1828800"/>
            <a:ext cx="3602736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15383" y="182880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3" y="2084831"/>
            <a:ext cx="3602736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82880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API REST · 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468880"/>
            <a:ext cx="3273552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/empresas (screener, filtros, orden)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/empresas/{id} (fundamentales + instrumentos)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/instrumentos?tipo=cedear&amp;mercado=BYMA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/cobertura (validar_final) — salud del dataset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POST /jobs/{rebuild} · GET /jobs/{id}/status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openapi.json documentado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1828800"/>
            <a:ext cx="3602736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182880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7848" y="2084831"/>
            <a:ext cx="3602736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182880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Frontend · Next.js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468880"/>
            <a:ext cx="3273552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Screener: 572 empresas, toggle ARS / USD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Filtros por ratio + por flag de calidad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Detalle: fundamentales + panel de instrumentos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Dividendos del ADR + yield · vista CEDEAR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Comparador (mismo universo) + provenance por dato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Exportar CSV · estados de jobs en vivo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395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Lenguaje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95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Python 3.11+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52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852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FastAPI + Uvicorn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101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3101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Precios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3101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yfinance + IAMC (BYMA)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673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7673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Fundamentales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7673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SEC EDGAR + CNV NIC-29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245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2245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Ratios oficiales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2245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Comafi · SEC F-6 · JPMorgan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81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681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Base de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681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PostgreSQL 16 (hoy SQLite)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38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138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ORM / Scheduler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138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SQLAlchemy 2.0 · APScheduler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8288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395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2395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Framework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395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Next.js 14 (App Router)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52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2852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Lenguaje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852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TypeScript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3101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3101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Estilos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3101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Tailwind CSS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7673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7673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Componentes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7673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shadcn/ui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245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42245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Fetch / cache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2245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SWR + React Query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681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4681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Iconos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681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Tabler Icons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138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5138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Tipografía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5138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Calibri / Inter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806440"/>
            <a:ext cx="11183112" cy="64008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2920" y="580644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897879"/>
            <a:ext cx="10863072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821F"/>
                </a:solidFill>
                <a:latin typeface="Calibri"/>
              </a:rPr>
              <a:t>Clave vs. la propuesta original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190488"/>
            <a:ext cx="10835640" cy="164591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Fuentes oficiales múltiples con trazabilidad (source_url) en lugar de scraping frágil. Riesgo legal y de mantenimiento acotado; el pipeline se reconstruye desde un raw cache sin volver a golpear la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Cobertura del Universo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De las fuentes oficiales al dataset listo para producción — 3 mercados, doble moneda, 100 % trazable.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572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Empresas con ratios calculados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1874519"/>
            <a:ext cx="2606040" cy="548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Mercados unificados (US · ADR · BYMA)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1874519"/>
            <a:ext cx="2606040" cy="548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144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CEDEARs con ratio oficial (Comafi)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7112" y="1874519"/>
            <a:ext cx="2606040" cy="548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733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Instrumentos negociables con ISIN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29000"/>
            <a:ext cx="111556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Composición del dataset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94760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794760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7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19503" y="3794760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2655" y="3794760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70" b="1" i="0">
                <a:solidFill>
                  <a:srgbClr val="FFFFFF"/>
                </a:solidFill>
                <a:latin typeface="Calibri"/>
              </a:rPr>
              <a:t>Fuente / taxonomía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36086" y="3794760"/>
            <a:ext cx="2749945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9238" y="3794760"/>
            <a:ext cx="2640217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7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9709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1970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S&amp;P 500 (large caps EE.UU.)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2655" y="41970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SEC EDGAR · us-gaap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238" y="41970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499 cubiertas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65429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46542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ADR Argentina (GGAL, PAM, BMA, YPF, CRESY…)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92655" y="46542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EDGAR (20-F) + F-6 + JPMorgan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9238" y="46542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17 · ratio ADR oficial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11149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51114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BYMA-only (locales sin ADR)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2655" y="51114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CNV · NIC 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9238" y="51114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56 · fundamentales 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56869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55686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CEDEARs con ratio de conversión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2655" y="55686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Banco Comafi (emisor)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9238" y="55686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144 · N:1 por instrumento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02589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60258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Precio CEDEAR real de IAMC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2655" y="60258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BYMA · IAMC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9238" y="60258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B8860B"/>
                </a:solidFill>
                <a:latin typeface="Calibri"/>
              </a:rPr>
              <a:t>⚠ hoy teórico (usd × CCL)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Cobertura de datos — por ratio y por fuente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No es perfecto: es medido. Para cada ratio mostramos qué % del universo tiene dato en cada fuente (y cuántos instrumentos). Lo que falta se marca con flag + source_url — nunca se completa a ojo.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011680"/>
            <a:ext cx="2395728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 i="0">
                <a:solidFill>
                  <a:srgbClr val="6B7589"/>
                </a:solidFill>
                <a:latin typeface="Calibri"/>
              </a:rPr>
              <a:t>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011680"/>
            <a:ext cx="2849880" cy="402336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011680"/>
            <a:ext cx="28498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EDGAR · 499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6544" y="2011680"/>
            <a:ext cx="2849880" cy="402336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6544" y="2011680"/>
            <a:ext cx="28498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ADR ·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1288" y="2011680"/>
            <a:ext cx="2849880" cy="402336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1288" y="2011680"/>
            <a:ext cx="28498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Only-BYMA · 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2459736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ROE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247619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245973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88%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03976" y="247619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6544" y="245973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100%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8720" y="247619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1288" y="245973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93%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2720340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ROA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99232" y="273679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272034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98%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03976" y="273679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6544" y="272034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100%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08720" y="273679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1288" y="272034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100%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2980944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Margen Neto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99232" y="299740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298094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89%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446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03976" y="299740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6544" y="298094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59%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08720" y="299740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81288" y="298094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93%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" y="3241548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Margen Op.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99232" y="3258007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3241548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A4D8F"/>
                </a:solidFill>
                <a:latin typeface="Calibri"/>
              </a:rPr>
              <a:t>73%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364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03976" y="3258007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6544" y="3241548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65%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8720" y="3258007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1288" y="3241548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89%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" y="3502152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Deuda / EBITDA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99232" y="3518611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3502152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60%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03976" y="3518611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76544" y="3502152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C0392B"/>
                </a:solidFill>
                <a:latin typeface="Calibri"/>
              </a:rPr>
              <a:t>47%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08720" y="3518611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81288" y="3502152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68%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" y="3762756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EPS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99232" y="377921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71800" y="376275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98%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487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03976" y="377921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6544" y="376275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88%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08720" y="377921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81288" y="376275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89%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" y="4023360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FCF / CapEmpl.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99232" y="403981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71800" y="402336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A4D8F"/>
                </a:solidFill>
                <a:latin typeface="Calibri"/>
              </a:rPr>
              <a:t>84%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419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03976" y="403981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76544" y="402336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65%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08720" y="403981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81288" y="402336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91%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51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496" y="4283964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Payout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99232" y="430042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71800" y="428396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A4D8F"/>
                </a:solidFill>
                <a:latin typeface="Calibri"/>
              </a:rPr>
              <a:t>73%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362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03976" y="430042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76544" y="428396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C0392B"/>
                </a:solidFill>
                <a:latin typeface="Calibri"/>
              </a:rPr>
              <a:t>47%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808720" y="430042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81288" y="428396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61%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" y="4544568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CAGR EPS 5y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99232" y="4561027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71800" y="4544568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69%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345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03976" y="4561027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76544" y="4544568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C0392B"/>
                </a:solidFill>
                <a:latin typeface="Calibri"/>
              </a:rPr>
              <a:t>12%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08720" y="4561027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81288" y="4544568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61%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9496" y="4805172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PER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999232" y="4821631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71800" y="4805172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93%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464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03976" y="4821631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76544" y="4805172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65%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808720" y="4821631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81288" y="4805172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C0392B"/>
                </a:solidFill>
                <a:latin typeface="Calibri"/>
              </a:rPr>
              <a:t>34%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9496" y="5065776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P / Book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999232" y="508223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71800" y="506577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87%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435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903976" y="508223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76544" y="506577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88%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15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808720" y="5082235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81288" y="5065776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64%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9496" y="5326380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P / Sales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99232" y="534283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71800" y="532638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6B35"/>
                </a:solidFill>
                <a:latin typeface="Calibri"/>
              </a:rPr>
              <a:t>91%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452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903976" y="534283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76544" y="532638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53%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9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808720" y="5342839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81288" y="5326380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B8621B"/>
                </a:solidFill>
                <a:latin typeface="Calibri"/>
              </a:rPr>
              <a:t>64%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9496" y="5586984"/>
            <a:ext cx="2395728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1A2744"/>
                </a:solidFill>
                <a:latin typeface="Calibri"/>
              </a:rPr>
              <a:t>EV / EBITDA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999232" y="560344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971800" y="558698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A4D8F"/>
                </a:solidFill>
                <a:latin typeface="Calibri"/>
              </a:rPr>
              <a:t>72%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357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03976" y="560344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76544" y="558698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C0392B"/>
                </a:solidFill>
                <a:latin typeface="Calibri"/>
              </a:rPr>
              <a:t>47%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8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808720" y="5603443"/>
            <a:ext cx="2795016" cy="214884"/>
          </a:xfrm>
          <a:prstGeom prst="roundRect">
            <a:avLst>
              <a:gd name="adj" fmla="val 14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81288" y="5586984"/>
            <a:ext cx="2849880" cy="2606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C0392B"/>
                </a:solidFill>
                <a:latin typeface="Calibri"/>
              </a:rPr>
              <a:t>43%  </a:t>
            </a:r>
            <a:r>
              <a:rPr sz="819" b="0" i="0">
                <a:solidFill>
                  <a:srgbClr val="6B7589"/>
                </a:solidFill>
                <a:latin typeface="Calibri"/>
              </a:rPr>
              <a:t>· 24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48640" y="601675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59" y="5989320"/>
            <a:ext cx="237744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≥ 85 % completo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200400" y="601675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474720" y="5989320"/>
            <a:ext cx="237744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70–84 % alto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852160" y="601675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26480" y="5989320"/>
            <a:ext cx="237744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50–69 % parcial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503920" y="601675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89320"/>
            <a:ext cx="237744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&lt; 50 % limitado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6272784"/>
            <a:ext cx="111556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A2744"/>
                </a:solidFill>
                <a:latin typeface="Calibri"/>
              </a:rPr>
              <a:t>Precio y market cap: 100 % / 88 % / 96 %.  </a:t>
            </a:r>
            <a:r>
              <a:rPr sz="900" b="0" i="0">
                <a:solidFill>
                  <a:srgbClr val="6B7589"/>
                </a:solidFill>
                <a:latin typeface="Calibri"/>
              </a:rPr>
              <a:t>Los múltiplos (PER, EV/EBITDA) bajan en BYMA porque dependen del precio local; el CAGR del ADR es el punto más flaco (falta histórico). Cobertura media global ≈ 84 %.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Arquitectura del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Cada bloque tiene input/output definido y se re-ejecuta solo. El raw cache de cada fuente se descarga una vez (lo caro es el rate limit, no el cómputo).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9424"/>
            <a:ext cx="2121408" cy="2834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1 · Extracción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SEC EDGAR · CNV · IAMC · Comafi · JPMorgan → raw cache local (fuente de verdad)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2344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52344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52344" y="2249424"/>
            <a:ext cx="2121408" cy="2834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2 · Ratios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3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~16 ratios fundamentales: márgenes, ROE, deuda/EBITDA, EV/EBITDA, 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1768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01768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1768" y="2249424"/>
            <a:ext cx="2121408" cy="2834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3207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3 · Ensamble 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doble precio ARS/USD, CCL, ratios CEDEAR (Comafi) y ADR (F-6/JPM)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1192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51192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51192" y="2249424"/>
            <a:ext cx="2121408" cy="2834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4 · Modelo 2 niveles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empresa + 733 instrumentos con ISIN, moneda, precio y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0616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00616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0616" y="2249424"/>
            <a:ext cx="2121408" cy="283464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92056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5 · Calidad +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flags / sanity gates / no_significativo → CSV + JSON + SQL con source_url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617720"/>
            <a:ext cx="11183112" cy="150876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4617720"/>
            <a:ext cx="64008" cy="150876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709159"/>
            <a:ext cx="10863072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821F"/>
                </a:solidFill>
                <a:latin typeface="Calibri"/>
              </a:rPr>
              <a:t>Principio de diseño + resiliencia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020055"/>
            <a:ext cx="10835640" cy="1014983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El raw cache es la fuente de verdad: se baja una vez de cada fuente y la base se reconstruye sin volver a la red. Si cambia una fórmula, se recalcula en segundos.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Resiliencia CNV (single point of failure): si la fuente argentina no responde, el pipeline </a:t>
            </a:r>
            <a:r>
              <a:rPr sz="1050" b="1" i="0">
                <a:solidFill>
                  <a:srgbClr val="F5821F"/>
                </a:solidFill>
                <a:latin typeface="Calibri"/>
              </a:rPr>
              <a:t>difiere y avisa</a:t>
            </a:r>
            <a:r>
              <a:rPr sz="1050" b="0" i="0">
                <a:solidFill>
                  <a:srgbClr val="3A4458"/>
                </a:solidFill>
                <a:latin typeface="Calibri"/>
              </a:rPr>
              <a:t> (cnv_last_status) en vez de arrastrar dato viejo en silencio. Jobs periódicos: precios diario · fundamentales trimestral · IPC mensual · universo 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Equipo de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4D8F"/>
                </a:solidFill>
                <a:latin typeface="Calibri"/>
              </a:rPr>
              <a:t>Federico — Arquitecto · Tech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Arquitectura del pipeline multi-fuente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Modelo de 2 niveles (empresa + instrumentos)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Metodología de validación (CCL, provenance)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Integración, code review y QA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Deploy y soporte post-entrega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Mateo —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Pipeline SEC EDGAR + CNV NIC-29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Ratios CEDEAR/ADR oficiales (Comafi, F-6, JPM)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Doble precio ARS/USD + CCL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Jobs periódicos + resiliencia CNV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Endpoints FastAPI + APScheduler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3A047"/>
                </a:solidFill>
                <a:latin typeface="Calibri"/>
              </a:rPr>
              <a:t>Joaquín — Frontend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Screener: tabla 572 empresas, toggle ARS/USD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Filtros por ratio + flag de calidad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Sorting + paginación + exportar CSV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Panel de jobs en tiempo real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Detalle de empresa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821F"/>
                </a:solidFill>
                <a:latin typeface="Calibri"/>
              </a:rPr>
              <a:t>Aldana — Frontend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Panel de instrumentos (ADR/CEDEAR/local)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Dividendos del ADR + yield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Vista CEDEAR + comparador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Chips de provenance por dato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Estados vacíos / loading / responsive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Cronograma — 4 semanas de productización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Fase 0 — la data ya está construida y validada (572 empresas, 3 mercados, ratios oficiales, CCL 1,3 %). El riesgo técnico más grande ya está resuelto: solo falta empaquetarla.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2121408" cy="2743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Fase 0 ·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572 empresas, 3 mercados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Ratios CEDEAR/ADR oficiales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Doble precio + CCL validado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Modelo 2 niveles + provenance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2344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2344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2344" y="2240280"/>
            <a:ext cx="2121408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Migración esquema a PostgreSQL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Endpoints base + jobs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Next.js + sidebar/topbar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1768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01768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1768" y="2240280"/>
            <a:ext cx="2121408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7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2 ·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Servir 572 empresas vía API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Screener con filtros reales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Toggle ARS/USD + detalle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1192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51192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1192" y="2240280"/>
            <a:ext cx="2121408" cy="27432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1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3 · Completo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Panel de instrumentos + dividendos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Vista CEDEAR + comparador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Jobs de actualización automática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0616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00616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0616" y="2240280"/>
            <a:ext cx="2121408" cy="274320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92056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4 · QA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A4664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Tests + manejo de errores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A4664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openapi.json documentado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A4664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QA y entrega final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69280"/>
            <a:ext cx="11183112" cy="566928"/>
          </a:xfrm>
          <a:prstGeom prst="roundRect">
            <a:avLst>
              <a:gd name="adj" fmla="val 5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669280"/>
            <a:ext cx="64008" cy="5669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60720"/>
            <a:ext cx="10863072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82F6"/>
                </a:solidFill>
                <a:latin typeface="Calibri"/>
              </a:rPr>
              <a:t>Entregas los sábados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035040"/>
            <a:ext cx="10835640" cy="1097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Cada sábado: rama, demo y checklist con referencias (épica · sprint · story points). Detalle en las 2 láminas siguientes.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Entregas de los sábados — un sábado, un avance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108 puntos de historia en 34 tareas. Cada sábado cerramos un bloque navegable y lo entregamos con sus referencias marcadas. El acumulado sube 38 → 63 → 89 → 108.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590038" cy="306324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590038" cy="548640"/>
          </a:xfrm>
          <a:prstGeom prst="roundRect">
            <a:avLst>
              <a:gd name="adj" fmla="val 7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0279"/>
            <a:ext cx="2590038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2407158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Sábado 1 · Sem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2224278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3B82F6"/>
                </a:solidFill>
                <a:latin typeface="Calibri"/>
              </a:rPr>
              <a:t>38 </a:t>
            </a:r>
            <a:r>
              <a:rPr sz="1100" b="0" i="0">
                <a:solidFill>
                  <a:srgbClr val="6B7589"/>
                </a:solidFill>
                <a:latin typeface="Calibri"/>
              </a:rPr>
              <a:t>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99815"/>
            <a:ext cx="2224278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6B7589"/>
                </a:solidFill>
                <a:latin typeface="Calibri"/>
              </a:rPr>
              <a:t>acumulado 38/108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55848"/>
            <a:ext cx="2224278" cy="82296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355848"/>
            <a:ext cx="782616" cy="822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38728"/>
            <a:ext cx="2260854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1A2744"/>
                </a:solidFill>
                <a:latin typeface="Calibri"/>
              </a:rPr>
              <a:t>Fundamentos navegables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50791"/>
            <a:ext cx="2279142" cy="8686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Infra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Postgres + 572 empresas migradas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API base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/empresas · /cobertura · /health + HTTPS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Front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screener + detalle contra mocks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6382" y="3017520"/>
            <a:ext cx="36576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AB4C8"/>
                </a:solidFill>
                <a:latin typeface="Calibri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7278" y="1965960"/>
            <a:ext cx="2590038" cy="306324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67278" y="1965960"/>
            <a:ext cx="2590038" cy="548640"/>
          </a:xfrm>
          <a:prstGeom prst="roundRect">
            <a:avLst>
              <a:gd name="adj" fmla="val 7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7278" y="2240279"/>
            <a:ext cx="2590038" cy="2743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8718" y="1965960"/>
            <a:ext cx="2407158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Sábado 2 · Sem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0158" y="2624328"/>
            <a:ext cx="2224278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43A047"/>
                </a:solidFill>
                <a:latin typeface="Calibri"/>
              </a:rPr>
              <a:t>25 </a:t>
            </a:r>
            <a:r>
              <a:rPr sz="1100" b="0" i="0">
                <a:solidFill>
                  <a:srgbClr val="6B7589"/>
                </a:solidFill>
                <a:latin typeface="Calibri"/>
              </a:rPr>
              <a:t>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158" y="3099815"/>
            <a:ext cx="2224278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6B7589"/>
                </a:solidFill>
                <a:latin typeface="Calibri"/>
              </a:rPr>
              <a:t>acumulado 63/108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0158" y="3355848"/>
            <a:ext cx="2224278" cy="82296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50158" y="3355848"/>
            <a:ext cx="1297495" cy="822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0158" y="3538728"/>
            <a:ext cx="2260854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1A2744"/>
                </a:solidFill>
                <a:latin typeface="Calibri"/>
              </a:rPr>
              <a:t>Datos reales conectados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0158" y="4050791"/>
            <a:ext cx="2279142" cy="8686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Backend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/empresas/{id} + /instrumentos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Screener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API real + toggle ARS/USD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Detalle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panel de instrumentos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0740" y="3017520"/>
            <a:ext cx="36576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AB4C8"/>
                </a:solidFill>
                <a:latin typeface="Calibri"/>
              </a:rPr>
              <a:t>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1965960"/>
            <a:ext cx="2590038" cy="306324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31636" y="1965960"/>
            <a:ext cx="2590038" cy="548640"/>
          </a:xfrm>
          <a:prstGeom prst="roundRect">
            <a:avLst>
              <a:gd name="adj" fmla="val 7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1636" y="2240279"/>
            <a:ext cx="2590038" cy="27432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3075" y="1965960"/>
            <a:ext cx="2407158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Sábado 3 · Sem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4516" y="2624328"/>
            <a:ext cx="2224278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5821F"/>
                </a:solidFill>
                <a:latin typeface="Calibri"/>
              </a:rPr>
              <a:t>26 </a:t>
            </a:r>
            <a:r>
              <a:rPr sz="1100" b="0" i="0">
                <a:solidFill>
                  <a:srgbClr val="6B7589"/>
                </a:solidFill>
                <a:latin typeface="Calibri"/>
              </a:rPr>
              <a:t>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4516" y="3099815"/>
            <a:ext cx="2224278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6B7589"/>
                </a:solidFill>
                <a:latin typeface="Calibri"/>
              </a:rPr>
              <a:t>acumulado 89/108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4516" y="3355848"/>
            <a:ext cx="2224278" cy="82296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14516" y="3355848"/>
            <a:ext cx="1832969" cy="82296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4516" y="3538728"/>
            <a:ext cx="2260854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1A2744"/>
                </a:solidFill>
                <a:latin typeface="Calibri"/>
              </a:rPr>
              <a:t>Funcionalidad completa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4516" y="4050791"/>
            <a:ext cx="2279142" cy="8686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Filtros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compuestos + export CSV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Jobs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scheduler + panel en vivo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CEDEAR/ADR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dividendos + comparador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5098" y="3017520"/>
            <a:ext cx="36576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AB4C8"/>
                </a:solidFill>
                <a:latin typeface="Calibri"/>
              </a:rPr>
              <a:t>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5994" y="1965960"/>
            <a:ext cx="2590038" cy="306324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95994" y="1965960"/>
            <a:ext cx="2590038" cy="548640"/>
          </a:xfrm>
          <a:prstGeom prst="roundRect">
            <a:avLst>
              <a:gd name="adj" fmla="val 7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95994" y="2240279"/>
            <a:ext cx="2590038" cy="274320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7434" y="1965960"/>
            <a:ext cx="2407158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Sábado 4 · Sem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8874" y="2624328"/>
            <a:ext cx="2224278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4D8F"/>
                </a:solidFill>
                <a:latin typeface="Calibri"/>
              </a:rPr>
              <a:t>19 </a:t>
            </a:r>
            <a:r>
              <a:rPr sz="1100" b="0" i="0">
                <a:solidFill>
                  <a:srgbClr val="6B7589"/>
                </a:solidFill>
                <a:latin typeface="Calibri"/>
              </a:rPr>
              <a:t>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78874" y="3099815"/>
            <a:ext cx="2224278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6B7589"/>
                </a:solidFill>
                <a:latin typeface="Calibri"/>
              </a:rPr>
              <a:t>acumulado 108/108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78874" y="3355848"/>
            <a:ext cx="2224278" cy="82296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78874" y="3355848"/>
            <a:ext cx="2224278" cy="82296"/>
          </a:xfrm>
          <a:prstGeom prst="roundRect">
            <a:avLst>
              <a:gd name="adj" fmla="val 50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78874" y="3538728"/>
            <a:ext cx="2260854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1A2744"/>
                </a:solidFill>
                <a:latin typeface="Calibri"/>
              </a:rPr>
              <a:t>QA + entrega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8874" y="4050791"/>
            <a:ext cx="2279142" cy="8686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QA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tests + e2e + openapi.json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Infra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hardening + backups + prod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850" b="1" i="0">
                <a:solidFill>
                  <a:srgbClr val="1A2744"/>
                </a:solidFill>
                <a:latin typeface="Calibri"/>
              </a:rPr>
              <a:t>Handover  </a:t>
            </a:r>
            <a:r>
              <a:rPr sz="850" b="0" i="0">
                <a:solidFill>
                  <a:srgbClr val="3A4458"/>
                </a:solidFill>
                <a:latin typeface="Calibri"/>
              </a:rPr>
              <a:t>walkthrough + README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25780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7F7E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2920" y="5257800"/>
            <a:ext cx="64008" cy="91440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349240"/>
            <a:ext cx="10863072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3A047"/>
                </a:solidFill>
                <a:latin typeface="Calibri"/>
              </a:rPr>
              <a:t>Referencias bien marcadas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641848"/>
            <a:ext cx="10835640" cy="438911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0" i="0">
                <a:solidFill>
                  <a:srgbClr val="3A4458"/>
                </a:solidFill>
                <a:latin typeface="Calibri"/>
              </a:rPr>
              <a:t>Cada entregable del sábado cita su </a:t>
            </a:r>
            <a:r>
              <a:rPr sz="1030" b="1" i="0">
                <a:solidFill>
                  <a:srgbClr val="1A2744"/>
                </a:solidFill>
                <a:latin typeface="Calibri"/>
              </a:rPr>
              <a:t>épica · sprint · story points</a:t>
            </a:r>
            <a:r>
              <a:rPr sz="1030" b="0" i="0">
                <a:solidFill>
                  <a:srgbClr val="3A4458"/>
                </a:solidFill>
                <a:latin typeface="Calibri"/>
              </a:rPr>
              <a:t> del backlog (34 tareas). El cliente sigue el avance en Jira y en la demo — sin sorpresas al final, y con la trazabilidad de siempre.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Los 108 puntos — desglose por épica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34 tareas · 7 épicas · 4 sprints. Así se referencia cada entrega de los sábados.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00400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Épica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828800"/>
            <a:ext cx="2103120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1828800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828800"/>
            <a:ext cx="1097280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1828800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Tareas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828800"/>
            <a:ext cx="1097280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59" y="1828800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Puntos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3685032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828800"/>
            <a:ext cx="3557016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Peso (proporcional)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231136"/>
            <a:ext cx="11183112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31136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B82F6"/>
                </a:solidFill>
                <a:latin typeface="Calibri"/>
              </a:rPr>
              <a:t>●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Backend · API 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2231136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Mateo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79" y="2231136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231136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27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7" y="2331720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10727" y="2331720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633472"/>
            <a:ext cx="111831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633472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3A047"/>
                </a:solidFill>
                <a:latin typeface="Calibri"/>
              </a:rPr>
              <a:t>●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Frontend · Screener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59" y="2633472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Joaquín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79" y="2633472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2633472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3A047"/>
                </a:solidFill>
                <a:latin typeface="Calibri"/>
              </a:rPr>
              <a:t>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0727" y="2734056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10727" y="2734056"/>
            <a:ext cx="2991104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035808"/>
            <a:ext cx="11183112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035808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5821F"/>
                </a:solidFill>
                <a:latin typeface="Calibri"/>
              </a:rPr>
              <a:t>●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Frontend · Detalle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59" y="3035808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Aldana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79" y="3035808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035808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821F"/>
                </a:solidFill>
                <a:latin typeface="Calibri"/>
              </a:rPr>
              <a:t>22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0727" y="3136392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10727" y="3136392"/>
            <a:ext cx="2741845" cy="20116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3438144"/>
            <a:ext cx="111831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438144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4D8F"/>
                </a:solidFill>
                <a:latin typeface="Calibri"/>
              </a:rPr>
              <a:t>●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Infra &amp; Deploy (VPS)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59" y="3438144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Federico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79" y="3438144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59" y="3438144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4D8F"/>
                </a:solidFill>
                <a:latin typeface="Calibri"/>
              </a:rPr>
              <a:t>13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0727" y="3538728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10727" y="3538728"/>
            <a:ext cx="1620181" cy="201168"/>
          </a:xfrm>
          <a:prstGeom prst="roundRect">
            <a:avLst>
              <a:gd name="adj" fmla="val 50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3840480"/>
            <a:ext cx="11183112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840480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B82F6"/>
                </a:solidFill>
                <a:latin typeface="Calibri"/>
              </a:rPr>
              <a:t>●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Datos &amp; Base de datos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59" y="3840480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Federico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79" y="3840480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59" y="3840480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11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10727" y="3941063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10727" y="3941063"/>
            <a:ext cx="1370922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242816"/>
            <a:ext cx="111831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4242816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3A047"/>
                </a:solidFill>
                <a:latin typeface="Calibri"/>
              </a:rPr>
              <a:t>●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Jobs &amp; Scheduler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59" y="4242816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Mateo · Fede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79" y="4242816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59" y="4242816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3A047"/>
                </a:solidFill>
                <a:latin typeface="Calibri"/>
              </a:rPr>
              <a:t>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10727" y="4343400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10727" y="4343400"/>
            <a:ext cx="747776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2920" y="4645152"/>
            <a:ext cx="11183112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4645152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5821F"/>
                </a:solidFill>
                <a:latin typeface="Calibri"/>
              </a:rPr>
              <a:t>●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QA &amp; Entrega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94759" y="4645152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Federico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97879" y="4645152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59" y="4645152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821F"/>
                </a:solidFill>
                <a:latin typeface="Calibri"/>
              </a:rPr>
              <a:t>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10727" y="4745736"/>
            <a:ext cx="3364992" cy="201168"/>
          </a:xfrm>
          <a:prstGeom prst="roundRect">
            <a:avLst>
              <a:gd name="adj" fmla="val 50000"/>
            </a:avLst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10727" y="4745736"/>
            <a:ext cx="623146" cy="20116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2920" y="5047488"/>
            <a:ext cx="11183112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5047488"/>
            <a:ext cx="307238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94759" y="5047488"/>
            <a:ext cx="19751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AAB4C8"/>
                </a:solidFill>
                <a:latin typeface="Calibri"/>
              </a:rPr>
              <a:t>7 épicas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79" y="5047488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95159" y="5047488"/>
            <a:ext cx="969264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821F"/>
                </a:solidFill>
                <a:latin typeface="Calibri"/>
              </a:rPr>
              <a:t>108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5468112"/>
            <a:ext cx="7315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Distribución por sprint (un sábado por sprint)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2920" y="5742432"/>
            <a:ext cx="2590038" cy="54864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02920" y="5742432"/>
            <a:ext cx="64008" cy="5486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800" y="5797296"/>
            <a:ext cx="2315718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6B7589"/>
                </a:solidFill>
                <a:latin typeface="Calibri"/>
              </a:rPr>
              <a:t>Sáb 1 · Sprint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998464"/>
            <a:ext cx="2315718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B82F6"/>
                </a:solidFill>
                <a:latin typeface="Calibri"/>
              </a:rPr>
              <a:t>38</a:t>
            </a:r>
            <a:r>
              <a:rPr sz="950" b="0" i="0">
                <a:solidFill>
                  <a:srgbClr val="6B7589"/>
                </a:solidFill>
                <a:latin typeface="Calibri"/>
              </a:rPr>
              <a:t> pts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67278" y="5742432"/>
            <a:ext cx="2590038" cy="54864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367278" y="5742432"/>
            <a:ext cx="64008" cy="54864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50158" y="5797296"/>
            <a:ext cx="2315718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6B7589"/>
                </a:solidFill>
                <a:latin typeface="Calibri"/>
              </a:rPr>
              <a:t>Sáb 2 · Sprint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50158" y="5998464"/>
            <a:ext cx="2315718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3A047"/>
                </a:solidFill>
                <a:latin typeface="Calibri"/>
              </a:rPr>
              <a:t>25</a:t>
            </a:r>
            <a:r>
              <a:rPr sz="950" b="0" i="0">
                <a:solidFill>
                  <a:srgbClr val="6B7589"/>
                </a:solidFill>
                <a:latin typeface="Calibri"/>
              </a:rPr>
              <a:t> pts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31636" y="5742432"/>
            <a:ext cx="2590038" cy="54864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31636" y="5742432"/>
            <a:ext cx="64008" cy="54864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14516" y="5797296"/>
            <a:ext cx="2315718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6B7589"/>
                </a:solidFill>
                <a:latin typeface="Calibri"/>
              </a:rPr>
              <a:t>Sáb 3 · Sprint 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14516" y="5998464"/>
            <a:ext cx="2315718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821F"/>
                </a:solidFill>
                <a:latin typeface="Calibri"/>
              </a:rPr>
              <a:t>26</a:t>
            </a:r>
            <a:r>
              <a:rPr sz="950" b="0" i="0">
                <a:solidFill>
                  <a:srgbClr val="6B7589"/>
                </a:solidFill>
                <a:latin typeface="Calibri"/>
              </a:rPr>
              <a:t> pts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95994" y="5742432"/>
            <a:ext cx="2590038" cy="54864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095994" y="5742432"/>
            <a:ext cx="64008" cy="548640"/>
          </a:xfrm>
          <a:prstGeom prst="roundRect">
            <a:avLst>
              <a:gd name="adj" fmla="val 50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78874" y="5797296"/>
            <a:ext cx="2315718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6B7589"/>
                </a:solidFill>
                <a:latin typeface="Calibri"/>
              </a:rPr>
              <a:t>Sáb 4 · Sprint 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78874" y="5998464"/>
            <a:ext cx="2315718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4D8F"/>
                </a:solidFill>
                <a:latin typeface="Calibri"/>
              </a:rPr>
              <a:t>19</a:t>
            </a:r>
            <a:r>
              <a:rPr sz="950" b="0" i="0">
                <a:solidFill>
                  <a:srgbClr val="6B7589"/>
                </a:solidFill>
                <a:latin typeface="Calibri"/>
              </a:rPr>
              <a:t> 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Inversión y Financiación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212080" cy="283464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663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AB4C8"/>
                </a:solidFill>
                <a:latin typeface="Calibri"/>
              </a:rPr>
              <a:t>Inversión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66344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USD 1.800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4663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B82F6"/>
                </a:solidFill>
                <a:latin typeface="Calibri"/>
              </a:rPr>
              <a:t>Precio fijo por proyecto · sin costos ocultos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466344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AB4C8"/>
                </a:solidFill>
                <a:latin typeface="Calibri"/>
              </a:rPr>
              <a:t>Incluye la data ya construida y validada — 572 empresas, 3 mercados, ratios oficiales — sin cargo extra.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466344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AAB4C8"/>
                </a:solidFill>
                <a:latin typeface="Calibri"/>
              </a:rPr>
              <a:t>Soporte correctivo: USD 20/mes o pago único USD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4519"/>
            <a:ext cx="5760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Opciones de pago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28600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28600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395728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Contado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8833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Pago único al firmar · 10 % off si se contrata hoy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USD 1.800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15468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315468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264408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3A047"/>
                </a:solidFill>
                <a:latin typeface="Calibri"/>
              </a:rPr>
              <a:t>3 cuotas sin interés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55701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Al firmar · a la entrega · mes posterior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5468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USD 600 ×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133088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821F"/>
                </a:solidFill>
                <a:latin typeface="Calibri"/>
              </a:rPr>
              <a:t>6 cuotas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42569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Al firmar · a la entrega · mensuales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02336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USD 320 ×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029200"/>
            <a:ext cx="57607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7589"/>
                </a:solidFill>
                <a:latin typeface="Calibri"/>
              </a:rPr>
              <a:t>Precio orientativo por el alcance ampliado (3 mercados, doble moneda, ratios oficiales); ajustable según el alcance final acordado.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¿Cómo arrancamos?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Aprobación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Confirmar la propuesta y el plan de pago.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3A04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Primer pago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50 % al inicio o primera cuota según el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5821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Kickoff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1 h con el equipo: recorrido por las 572 empresas ya validadas + contrato de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4D8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4 semanas de desarrollo + entregas cada sábado.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Empresa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webshooks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Inversión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USD 1.800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Proyecto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Screener AR + US · doble moneda · ratios oficiales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Duración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4 semanas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Inicio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Inmediato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Garantía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30 días post-entrega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B7589"/>
                </a:solidFill>
                <a:latin typeface="Calibri"/>
              </a:rPr>
              <a:t>Esta propuesta tiene validez de 7 días.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