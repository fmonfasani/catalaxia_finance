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480560" cy="10058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457200" y="457200"/>
            <a:ext cx="182880" cy="182880"/>
          </a:xfrm>
          <a:prstGeom prst="diamond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365760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web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shooks</a:t>
            </a:r>
            <a:r>
              <a:rPr sz="26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384048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B82F6"/>
                </a:solidFill>
                <a:latin typeface="Calibri"/>
              </a:rPr>
              <a:t>Desarrollo de Software · LATAM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481328"/>
            <a:ext cx="2194560" cy="36576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931920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Propuesta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3931920" cy="1280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AB4C8"/>
                </a:solidFill>
                <a:latin typeface="Calibri"/>
              </a:rPr>
              <a:t>Screener fundamental de CEDEARs y acciones argentinas, con datos oficiales y trazables.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532120"/>
            <a:ext cx="3520440" cy="12801"/>
          </a:xfrm>
          <a:prstGeom prst="rect">
            <a:avLst/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0"/>
            <a:ext cx="36576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AB4C8"/>
                </a:solidFill>
                <a:latin typeface="Calibri"/>
              </a:rPr>
              <a:t>Cliente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Catalaxia S.A.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36576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AB4C8"/>
                </a:solidFill>
                <a:latin typeface="Calibri"/>
              </a:rPr>
              <a:t>Fecha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Julio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868680"/>
            <a:ext cx="6858000" cy="19202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A2744"/>
                </a:solidFill>
                <a:latin typeface="Calibri"/>
              </a:rPr>
              <a:t>Convertí data pública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A2744"/>
                </a:solidFill>
                <a:latin typeface="Calibri"/>
              </a:rPr>
              <a:t>en decisiones de inversión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3B82F6"/>
                </a:solidFill>
                <a:latin typeface="Calibri"/>
              </a:rPr>
              <a:t>con una plataforma propia.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3063240"/>
            <a:ext cx="649224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291840"/>
            <a:ext cx="6766560" cy="914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Propuesta de Solución:  </a:t>
            </a:r>
            <a:r>
              <a:rPr sz="1300" b="0" i="0">
                <a:solidFill>
                  <a:srgbClr val="3A4458"/>
                </a:solidFill>
                <a:latin typeface="Calibri"/>
              </a:rPr>
              <a:t>Screener web que integra SEC, CNV e IAMC, calcula ~16 ratios fundamentales y expone empresa + instrumento (CEDEAR/ADR) en una sola vista.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468172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727448"/>
            <a:ext cx="93268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FastAPI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16752" y="4681728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4727448"/>
            <a:ext cx="74980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React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12864" y="4681728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2864" y="4727448"/>
            <a:ext cx="120700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PostgreSQL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66176" y="468172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4727448"/>
            <a:ext cx="84124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Docker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53728" y="4681728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4727448"/>
            <a:ext cx="166420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Datos oficiales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2743200" cy="1828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23360"/>
            <a:ext cx="9144000" cy="914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El proyecto en una vista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37760"/>
            <a:ext cx="7315200" cy="1097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AB4C8"/>
                </a:solidFill>
                <a:latin typeface="Calibri"/>
              </a:rPr>
              <a:t>Qué construimos, para quién y con qué alcance.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Resumen ejecutivo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Una plataforma de análisis fundamental lista para operar, no un prototipo.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12264"/>
            <a:ext cx="265176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733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2468879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instrumentos
CEDEAR / ADR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6704" y="1965960"/>
            <a:ext cx="2651760" cy="5486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4" y="2112264"/>
            <a:ext cx="265176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~16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807208"/>
            <a:ext cx="2468879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ratios
fundamentales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1965960"/>
            <a:ext cx="2651760" cy="54864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2112264"/>
            <a:ext cx="265176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7" y="2807208"/>
            <a:ext cx="2468879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fuentes oficiales
SEC · CNV · IAMC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4272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4272" y="1965960"/>
            <a:ext cx="2651760" cy="54864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2112264"/>
            <a:ext cx="265176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807208"/>
            <a:ext cx="2468879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semanas
de desarrollo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09728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744"/>
                </a:solidFill>
                <a:latin typeface="Calibri"/>
              </a:rPr>
              <a:t>¿Qué incluye?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023360"/>
            <a:ext cx="5486400" cy="21945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Screener web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filtros por ratio, sector y país.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Ficha de empresa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estados financieros + ratios calculados.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Doble precio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acción local y ADR/CEDEAR en la misma vista.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23360"/>
            <a:ext cx="5486400" cy="21945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API propia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FastAPI documentada (OpenAPI).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Datos trazables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cada dato guarda su source_url.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Deploy reproducible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Docker + Postgres, un comando.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Alcance del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Qué entra en esta propuesta, agrupado por capa.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3605784" cy="429768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828800"/>
            <a:ext cx="3605784" cy="5029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84831"/>
            <a:ext cx="3605784" cy="2468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3331464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3276600" cy="3566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Extracción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SEC (10-K/20-F), CNV, IAMC.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Normalización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ratios homogéneos entre fuentes.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Trazabilidad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source_url por cada campo.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Cache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re-ejecución idempotente por bloque.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1584" y="1828800"/>
            <a:ext cx="3605784" cy="429768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1584" y="1828800"/>
            <a:ext cx="3605784" cy="502920"/>
          </a:xfrm>
          <a:prstGeom prst="roundRect">
            <a:avLst>
              <a:gd name="adj" fmla="val 8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1584" y="2084831"/>
            <a:ext cx="3605784" cy="24688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8744" y="1828800"/>
            <a:ext cx="3331464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Producto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4464" y="2468880"/>
            <a:ext cx="3276600" cy="3566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Screener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tabla filtrable + orden por ratio.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Ficha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empresa + instrumento (2 niveles).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Export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CSV / JSON descargable.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Auth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login y roles básicos.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0248" y="1828800"/>
            <a:ext cx="3605784" cy="429768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0248" y="1828800"/>
            <a:ext cx="3605784" cy="502920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0248" y="2084831"/>
            <a:ext cx="3605784" cy="24688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7408" y="1828800"/>
            <a:ext cx="3331464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Plataforma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3128" y="2468880"/>
            <a:ext cx="3276600" cy="3566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API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FastAPI + OpenAPI.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DB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PostgreSQL 16.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Deploy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Docker Compose reproducible.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1" i="0">
                <a:solidFill>
                  <a:srgbClr val="1A2744"/>
                </a:solidFill>
                <a:latin typeface="Calibri"/>
              </a:rPr>
              <a:t>Handover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docs + repo + accesos.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Stack técnico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Tecnologías estándar, mantenibles y sin lock-in.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502920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95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395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Lenguaje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395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Python 3.11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529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8529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8529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FastAPI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101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3101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Base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3101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PostgreSQL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673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7673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ORM / migr.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7673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SQLAlchemy + Alembic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245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2245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2245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pandas · httpx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81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4681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681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pytest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82880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828800"/>
            <a:ext cx="502920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FRONTEND / INFRA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395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2395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395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React + Vite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8529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28529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Estilos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8529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Tailwind CSS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3101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33101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Datos/estado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3101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TanStack Query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7673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7673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Contenedores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7673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Docker Compose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2245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42245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Reverse proxy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2245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Traefik / nginx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681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4681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CI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681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GitHub Actions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640080"/>
          </a:xfrm>
          <a:prstGeom prst="roundRect">
            <a:avLst>
              <a:gd name="adj" fmla="val 5000"/>
            </a:avLst>
          </a:prstGeom>
          <a:solidFill>
            <a:srgbClr val="FDF0E4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2920" y="5806440"/>
            <a:ext cx="64008" cy="640080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897879"/>
            <a:ext cx="10863072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821F"/>
                </a:solidFill>
                <a:latin typeface="Calibri"/>
              </a:rPr>
              <a:t>Sin lock-in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190488"/>
            <a:ext cx="10835640" cy="164591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Todo el stack es open-source y estándar de industria: cualquier equipo puede continuar el proyecto sin dependencias propietarias.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Entregables por hito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Qué recibís y cuándo.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820506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874519"/>
            <a:ext cx="1710778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Semana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3426" y="1874519"/>
            <a:ext cx="5461519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6578" y="1874519"/>
            <a:ext cx="5351791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Entregable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84946" y="1874519"/>
            <a:ext cx="3901085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58098" y="1874519"/>
            <a:ext cx="3791357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Estado al cierre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7685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276856"/>
            <a:ext cx="1710778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Semana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6578" y="2276856"/>
            <a:ext cx="5351791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A4458"/>
                </a:solidFill>
                <a:latin typeface="Calibri"/>
              </a:rPr>
              <a:t>Infra + API base + esquema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8098" y="2276856"/>
            <a:ext cx="379135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43A047"/>
                </a:solidFill>
                <a:latin typeface="Calibri"/>
              </a:rPr>
              <a:t>Navegable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3405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734056"/>
            <a:ext cx="1710778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Semana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6578" y="2734056"/>
            <a:ext cx="5351791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A4458"/>
                </a:solidFill>
                <a:latin typeface="Calibri"/>
              </a:rPr>
              <a:t>Front real conectado a la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8098" y="2734056"/>
            <a:ext cx="379135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43A047"/>
                </a:solidFill>
                <a:latin typeface="Calibri"/>
              </a:rPr>
              <a:t>Navegable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9125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191256"/>
            <a:ext cx="1710778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Semana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6578" y="3191256"/>
            <a:ext cx="5351791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A4458"/>
                </a:solidFill>
                <a:latin typeface="Calibri"/>
              </a:rPr>
              <a:t>Screener + ficha + doble precio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58098" y="3191256"/>
            <a:ext cx="379135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B82F6"/>
                </a:solidFill>
                <a:latin typeface="Calibri"/>
              </a:rPr>
              <a:t>Funcional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4845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3648456"/>
            <a:ext cx="1710778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Semana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6578" y="3648456"/>
            <a:ext cx="5351791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A4458"/>
                </a:solidFill>
                <a:latin typeface="Calibri"/>
              </a:rPr>
              <a:t>QA, export, docs y handover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8098" y="3648456"/>
            <a:ext cx="379135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5821F"/>
                </a:solidFill>
                <a:latin typeface="Calibri"/>
              </a:rPr>
              <a:t>Entregado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Equipo asignado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Roles claros, un punto de contacto.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828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938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4D8F"/>
                </a:solidFill>
                <a:latin typeface="Calibri"/>
              </a:rPr>
              <a:t>Tech Lead /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359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1" i="0">
                <a:solidFill>
                  <a:srgbClr val="1A2744"/>
                </a:solidFill>
                <a:latin typeface="Calibri"/>
              </a:rPr>
              <a:t>Responsable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arquitectura y API.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1" i="0">
                <a:solidFill>
                  <a:srgbClr val="1A2744"/>
                </a:solidFill>
                <a:latin typeface="Calibri"/>
              </a:rPr>
              <a:t>Dedicación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full-time.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828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5352" y="1828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38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B82F6"/>
                </a:solidFill>
                <a:latin typeface="Calibr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359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1" i="0">
                <a:solidFill>
                  <a:srgbClr val="1A2744"/>
                </a:solidFill>
                <a:latin typeface="Calibri"/>
              </a:rPr>
              <a:t>Responsable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screener y ficha.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1" i="0">
                <a:solidFill>
                  <a:srgbClr val="1A2744"/>
                </a:solidFill>
                <a:latin typeface="Calibri"/>
              </a:rPr>
              <a:t>Dedicación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full-time.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4114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224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43A047"/>
                </a:solidFill>
                <a:latin typeface="Calibri"/>
              </a:rPr>
              <a:t>Data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645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1" i="0">
                <a:solidFill>
                  <a:srgbClr val="1A2744"/>
                </a:solidFill>
                <a:latin typeface="Calibri"/>
              </a:rPr>
              <a:t>Responsable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extracción y normalización.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1" i="0">
                <a:solidFill>
                  <a:srgbClr val="1A2744"/>
                </a:solidFill>
                <a:latin typeface="Calibri"/>
              </a:rPr>
              <a:t>Dedicación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part-time.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4114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45352" y="4114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224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5821F"/>
                </a:solidFill>
                <a:latin typeface="Calibri"/>
              </a:rPr>
              <a:t>PM / 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4645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1" i="0">
                <a:solidFill>
                  <a:srgbClr val="1A2744"/>
                </a:solidFill>
                <a:latin typeface="Calibri"/>
              </a:rPr>
              <a:t>Responsable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seguimiento y calidad.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1" i="0">
                <a:solidFill>
                  <a:srgbClr val="1A2744"/>
                </a:solidFill>
                <a:latin typeface="Calibri"/>
              </a:rPr>
              <a:t>Dedicación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part-time.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Cronograma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4 semanas · entregas navegables desde la semana 1.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699766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699766" cy="548640"/>
          </a:xfrm>
          <a:prstGeom prst="roundRect">
            <a:avLst>
              <a:gd name="adj" fmla="val 6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2699766" cy="27432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2516886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651760"/>
            <a:ext cx="2425446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Infra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VPS + Docker + Postgres.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API base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endpoints + OpenAPI.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DB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esquema + migraciones.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0702" y="1965960"/>
            <a:ext cx="2699766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0702" y="1965960"/>
            <a:ext cx="2699766" cy="5486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0702" y="2240280"/>
            <a:ext cx="2699766" cy="274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2142" y="1965960"/>
            <a:ext cx="2516886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7006" y="2651760"/>
            <a:ext cx="2425446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Front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layout + routing.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Conexión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front ↔ API real.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Auth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login básico.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8484" y="1965960"/>
            <a:ext cx="2699766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58484" y="1965960"/>
            <a:ext cx="2699766" cy="5486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8484" y="2240280"/>
            <a:ext cx="2699766" cy="274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9924" y="1965960"/>
            <a:ext cx="2516886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4788" y="2651760"/>
            <a:ext cx="2425446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Screener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filtros + orden.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Ficha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empresa + instrumento.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Doble precio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local + ADR.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86266" y="1965960"/>
            <a:ext cx="2699766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86266" y="1965960"/>
            <a:ext cx="2699766" cy="548640"/>
          </a:xfrm>
          <a:prstGeom prst="roundRect">
            <a:avLst>
              <a:gd name="adj" fmla="val 6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86266" y="2240280"/>
            <a:ext cx="2699766" cy="27432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7706" y="1965960"/>
            <a:ext cx="2516886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2651760"/>
            <a:ext cx="2425446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QA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tests + fixes.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Export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CSV / JSON.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19" b="1" i="0">
                <a:solidFill>
                  <a:srgbClr val="1A2744"/>
                </a:solidFill>
                <a:latin typeface="Calibri"/>
              </a:rPr>
              <a:t>Handover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docs + accesos.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Inversión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Precio cerrado, sin costos ocultos.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5212080" cy="283464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46634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AB4C8"/>
                </a:solidFill>
                <a:latin typeface="Calibri"/>
              </a:rPr>
              <a:t>Inversión total del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4663440" cy="914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USD 6.800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46634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B82F6"/>
                </a:solidFill>
                <a:latin typeface="Calibri"/>
              </a:rPr>
              <a:t>Alcance cerrado · 4 semanas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4663440" cy="8229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AB4C8"/>
                </a:solidFill>
                <a:latin typeface="Calibri"/>
              </a:rPr>
              <a:t>Incluye desarrollo, deploy reproducible, documentación y 2 semanas de soporte post-entrega.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74519"/>
            <a:ext cx="5760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744"/>
                </a:solidFill>
                <a:latin typeface="Calibri"/>
              </a:rPr>
              <a:t>Opciones de pago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286000"/>
            <a:ext cx="5760720" cy="74980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2286000"/>
            <a:ext cx="73152" cy="7498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395728"/>
            <a:ext cx="32004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50 / 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88336"/>
            <a:ext cx="38404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Anticipo y entrega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286000" cy="7498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Calibri"/>
              </a:rPr>
              <a:t>2 x 3.400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154680"/>
            <a:ext cx="5760720" cy="74980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0" y="3154680"/>
            <a:ext cx="73152" cy="74980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264408"/>
            <a:ext cx="32004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3A047"/>
                </a:solidFill>
                <a:latin typeface="Calibri"/>
              </a:rPr>
              <a:t>40 / 30 / 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557016"/>
            <a:ext cx="38404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Por hitos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154680"/>
            <a:ext cx="2286000" cy="7498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Calibri"/>
              </a:rPr>
              <a:t>3 pagos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023360"/>
            <a:ext cx="5760720" cy="74980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0" y="4023360"/>
            <a:ext cx="73152" cy="749808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133088"/>
            <a:ext cx="32004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821F"/>
                </a:solidFill>
                <a:latin typeface="Calibri"/>
              </a:rPr>
              <a:t>Contado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425696"/>
            <a:ext cx="38404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Pago único al inicio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023360"/>
            <a:ext cx="2286000" cy="7498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Calibri"/>
              </a:rPr>
              <a:t>6.460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Del sí al kickoff en 48 horas.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713482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2347722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Aprobación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2347722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Confirmás alcance y forma de pago.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6130" y="1920240"/>
            <a:ext cx="2713482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9010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43A047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9010" y="2697480"/>
            <a:ext cx="2347722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Anticipo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010" y="3063240"/>
            <a:ext cx="2347722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Primer pago y firma de la propuesta.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9340" y="1920240"/>
            <a:ext cx="2713482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2220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5821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2220" y="2697480"/>
            <a:ext cx="2347722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Kickoff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3063240"/>
            <a:ext cx="2347722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Accesos, repos y arranque de Semana 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1920240"/>
            <a:ext cx="2713482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5430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4D8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5430" y="2697480"/>
            <a:ext cx="2347722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Entrega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5430" y="3063240"/>
            <a:ext cx="2347722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Handover a las 4 semanas + soporte.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6908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Duración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4 semanas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Inversión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USD 6.800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Stack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FastAPI + React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Entrega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reproducible + 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Soporte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2 semanas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Contacto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webshooks.com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B7589"/>
                </a:solidFill>
                <a:latin typeface="Calibri"/>
              </a:rPr>
              <a:t>Propuesta válida por 30 días desde su emisión.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