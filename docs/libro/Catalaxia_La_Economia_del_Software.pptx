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A83F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La EconomÃ­a del Software</a:t>
            </a:r>
            <a:br/>
            <a:r>
              <a:t>CÃ³mo las decisiones tÃ©cnicas</a:t>
            </a:r>
            <a:br/>
            <a:r>
              <a:t>construyen imperios econÃ³micos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Calibri"/>
              </a:defRPr>
            </a:pPr>
            <a:r>
              <a:t>Una guÃ­a para programadores, arquitectos de software y emprendedores tecnolÃ³gicos</a:t>
            </a:r>
            <a:br/>
            <a:r>
              <a:t>sobre cÃ³mo construir empresas que cambien industrias completas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Basado en: Arthur Â· Romer Â· Schumpeter Â· Shapiro &amp; Varian Â· Parker, Van Alstyne &amp; Choudary</a:t>
            </a:r>
            <a:br/>
            <a:r>
              <a:t>Hoffman Â· Thiel Â· Brynjolfsson &amp; McAfee Â· Benkler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Ãndice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rPr b="1"/>
              <a:t>01   Los Fundamentos: Rendimientos, Costos y Bienes</a:t>
            </a:r>
            <a:r>
              <a:t/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rPr b="1"/>
              <a:t>02   Capital en la Era del Conocimiento</a:t>
            </a:r>
            <a:r>
              <a:t/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rPr b="1"/>
              <a:t>03   Crecimiento EndÃ³geno y Conocimiento Acumulativo</a:t>
            </a:r>
            <a:r>
              <a:t/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rPr b="1"/>
              <a:t>04   Path Dependence, Lock-In y Switching Costs</a:t>
            </a:r>
            <a:r>
              <a:t/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rPr b="1"/>
              <a:t>05   Network Effects y Plataformas</a:t>
            </a:r>
            <a:r>
              <a:t/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rPr b="1"/>
              <a:t>06   Estrategia TecnolÃ³gica: Monopolios, Moats y Blitzscaling</a:t>
            </a:r>
            <a:r>
              <a:t/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rPr b="1"/>
              <a:t>07   Ecosistemas, APIs y Open Source</a:t>
            </a:r>
            <a:r>
              <a:t/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rPr b="1"/>
              <a:t>08   La RevoluciÃ³n del Cloud, SaaS e IA</a:t>
            </a:r>
            <a:r>
              <a:t/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rPr b="1"/>
              <a:t>09   DestrucciÃ³n Creativa e InnovaciÃ³n</a:t>
            </a:r>
            <a:r>
              <a:t/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rPr b="1"/>
              <a:t>10   CÃ³mo Nacen las Empresas de un BillÃ³n de DÃ³lares</a:t>
            </a:r>
            <a:r>
              <a:t/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  <a:latin typeface="Calibri"/>
              </a:defRPr>
            </a:pPr>
            <a:r>
              <a:rPr b="1"/>
              <a:t>11   SÃ­ntesis: Compound Everything</a:t>
            </a:r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83F"/>
                </a:solidFill>
                <a:latin typeface="Calibri"/>
              </a:defRPr>
            </a:pPr>
            <a:r>
              <a:t>PARTE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Los Fundamentos:</a:t>
            </a:r>
            <a:br/>
            <a:r>
              <a:t>Rendimientos, Costos y Bienes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Calibri"/>
              </a:defRPr>
            </a:pPr>
            <a:r>
              <a:t>CÃ³mo la fÃ­sica de la informaciÃ³n reemplaza a la fÃ­sica de los Ã¡tomos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1. EconomÃ­a ClÃ¡sica vs EconomÃ­a del Conocimiento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EconomÃ­a ClÃ¡sica (Smith, Ricardo, Marshall)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Recursos escasos, rendimientos decrecientes, equilibrio Ãºnico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Tierra, trabajo, capital fÃ­sico como factores primarios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Modelo: agricultura, minerÃ­a, manufactura tradicional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valor estÃ¡ en la escasez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EconomÃ­a del Conocimiento (Romer, Arthur, Benkler)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Recursos no rivales, rendimientos crecientes, mÃºltiples equilibrios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Ideas, datos, software como factores primarios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Modelo: SaaS, plataformas, IA, biotech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valor estÃ¡ en la abundancia y la recombinaciÃ³n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A83F"/>
                </a:solidFill>
                <a:latin typeface="Calibri"/>
              </a:defRPr>
            </a:pPr>
            <a:r>
              <a:t>"The central economic fact of our time is the growing importance of nonrival, partially excludable goods" â€” Paul Romer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2. Rendimientos Decrecientes (Diminishing Returns)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200" b="1">
                <a:solidFill>
                  <a:srgbClr val="E8A83F"/>
                </a:solidFill>
                <a:latin typeface="Calibri"/>
              </a:defRPr>
            </a:pPr>
            <a:r>
              <a:t>Â¿QuÃ© son?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Cada unidad adicional de input produce menos output que la anterior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David Ricardo (1817): si agregas mÃ¡s trabajadores a un campo fijo, la producciÃ³n extra por trabajador cae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Domina en agricultura, minerÃ­a, manufactura con capacidad fija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200" b="1">
                <a:solidFill>
                  <a:srgbClr val="2ECCA3"/>
                </a:solidFill>
                <a:latin typeface="Calibri"/>
              </a:defRPr>
            </a:pPr>
            <a:r>
              <a:t>MatemÃ¡ticamente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f'(x) &gt; 0 pero f''(x) &lt; 0 â€” la derivada segunda es negativa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Equilibrio Ãºnico, predecible, estable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mercado converge a un punto Ã³ptimo (mano invisible de Smith)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200" b="1">
                <a:solidFill>
                  <a:srgbClr val="EF4444"/>
                </a:solidFill>
                <a:latin typeface="Calibri"/>
              </a:defRPr>
            </a:pPr>
            <a:r>
              <a:t>Â¿CuÃ¡ndo deja de cumplirse?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Cuando el input principal es conocimiento, no tierra ni capital fÃ­sico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Cuando hay costos fijos altos y costos marginales cercanos a cero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Cuando hay efectos de red (cada usuario agrega valor a los demÃ¡s)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3. Rendimientos Crecientes (Increasing Returns)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1400" b="0">
                <a:solidFill>
                  <a:srgbClr val="E8A83F"/>
                </a:solidFill>
                <a:latin typeface="Calibri"/>
              </a:defRPr>
            </a:pPr>
            <a:r>
              <a:t>"The more you have, the easier it is to get more" â€” W. Brian Arthur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200" b="1">
                <a:solidFill>
                  <a:srgbClr val="E8A83F"/>
                </a:solidFill>
                <a:latin typeface="Calibri"/>
              </a:defRPr>
            </a:pPr>
            <a:r>
              <a:t>Â¿QuÃ© son?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Cada unidad adicional de input produce MÃS output que la anterior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f'(x) &gt; 0 y f''(x) &gt; 0 â€” la derivada segunda es positiva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MÃºltiples equilibrios posibles. El resultado final depende de la historia (path dependence)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Brian Arthur: las economÃ­as modernas estÃ¡n dominadas por increasing returns en el sector conocimiento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200" b="1">
                <a:solidFill>
                  <a:srgbClr val="2ECCA3"/>
                </a:solidFill>
                <a:latin typeface="Calibri"/>
              </a:defRPr>
            </a:pPr>
            <a:r>
              <a:t>Fuentes de Increasing Returns (Arthur, 1990)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1. Costos fijos altos + costos marginales bajos (software, pharma, aeroespacial)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2. Efectos de aprendizaje (learning by doing â€” mayor producciÃ³n = mayor eficiencia)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3. Efectos de red (el valor del producto aumenta con mÃ¡s usuarios)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4. EconomÃ­as de escala en producciÃ³n (mÃ¡s unidades = menor costo unitario)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5. Complementariedades tÃ©cnicas (tecnologÃ­as que funcionan mejor juntas)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4. Costos Marginales Cercanos a Cero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1400" b="0">
                <a:solidFill>
                  <a:srgbClr val="E8A83F"/>
                </a:solidFill>
                <a:latin typeface="Calibri"/>
              </a:defRPr>
            </a:pPr>
            <a:r>
              <a:t>"Information wants to be free" â€” Stewart Brand / "Information wants to be expensive" â€” the tension defines the information economy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200" b="1">
                <a:solidFill>
                  <a:srgbClr val="E8A83F"/>
                </a:solidFill>
                <a:latin typeface="Calibri"/>
              </a:defRPr>
            </a:pPr>
            <a:r>
              <a:t>Â¿QuÃ© son?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costo de producir una copia adicional de un bien digital es ~$0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Shapiro &amp; Varian (Information Rules): los bienes de informaciÃ³n tienen costos fijos altos (producciÃ³n del primero) y costos marginales casi nulos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Esto INVIERTE la lÃ³gica clÃ¡sica de fijaciÃ³n de precios basada en costo marginal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200" b="1">
                <a:solidFill>
                  <a:srgbClr val="2ECCA3"/>
                </a:solidFill>
                <a:latin typeface="Calibri"/>
              </a:defRPr>
            </a:pPr>
            <a:r>
              <a:t>Implicaciones para SaaS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pricing no puede basarse en costo marginal â†’ debe basarse en VALOR para el cliente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 elasticidad precio es enorme: bajar precio puede multiplicar usuarios sin aumentar costos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Freemium es posible porque el costo de servir al usuario marginal es cercano a cero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 competencia por precio es destructiva â€” la diferenciaciÃ³n es obligatoria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Ejemplo: WhatsApp (55 empleados, $19B) â€” costo marginal de un mensaje adicional es 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5. Bienes Rivales, No Rivales y Parcialmente Excluibles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ClasificaciÃ³n de Bienes (Romer, 1990)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Rival: si una persona lo usa, otra no puede (manzana, martillo, servidor)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No rival: puede ser usado por muchas personas simultÃ¡neamente (idea, canciÃ³n, cÃ³digo)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Excluible: se puede impedir que alguien lo use (patente, suscripciÃ³n, DRM)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No excluible: no se puede impedir (aire, conocimiento bÃ¡sico, API pÃºblica)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El descubrimiento clave de Romer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Las IDEAS son no rivales: unæ¯”ç‰¹ de cÃ³digo puede usarse por millones sin desgastarse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software es el bien no rival perfecto: escribirlo cuesta, replicarlo no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 no rivalidad permite rendimientos crecientes a escala de toda la economÃ­a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Pero la no rivalidad tambiÃ©n dificulta la apropiaciÃ³n de valor â†’ necesidad de derechos de propiedad intelectual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AplicaciÃ³n a Arquitectura de Software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Cada microservicio bien diseÃ±ado es un bien no rival: puede ser reutilizado por mÃºltiples productos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Las bibliotecas internas (shared libraries) son bienes no rivales dentro de la empresa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Las APIs pÃºblicas convierten bienes internos no rivales en activos econÃ³micos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 documentaciÃ³n es un bien no rival cuyo ROI crece con cada reutilizaciÃ³n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100" b="0">
                <a:solidFill>
                  <a:srgbClr val="E8A83F"/>
                </a:solidFill>
                <a:latin typeface="Calibri"/>
              </a:defRPr>
            </a:pPr>
            <a:r>
              <a:t>"Nonrivalry is the fundamental economic distinction</a:t>
            </a:r>
            <a:br/>
            <a:r>
              <a:t>that makes software different from everything that came before"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83F"/>
                </a:solidFill>
                <a:latin typeface="Calibri"/>
              </a:defRPr>
            </a:pPr>
            <a:r>
              <a:t>PARTE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Capital en la Era del Conocimiento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Calibri"/>
              </a:defRPr>
            </a:pPr>
            <a:r>
              <a:t>De los activos fÃ­sicos a los activos intangibles y el capital intelectual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6. Capital Financiero vs Capital Intelectual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Capital Financiero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Tangible, medible, divisible, lÃ­quido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Se deprecia con el uso (mÃ¡quinas se desgastan)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Sujeto a rendimientos decrecientes (mÃ¡s capital en misma economÃ­a â†’ menor ROI)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Modelo de Solow (1956): el crecimiento por capital fÃ­sico converge a estado estacionario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Contabilidad tradicional puede valorarlo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Capital Intelectual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Intangible, difÃ­cil de medir, no rival, acumulativo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Se APRECIA con el uso (mÃ¡s uso = mÃ¡s refinamiento, mÃ¡s valor)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Rendimientos crecientes: cada idea nueva se construye sobre las anteriores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Modelo de Romer (1990): el crecimiento por ideas es ENDÃ“GENO y NO converge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No aparece en balances contables tradicionales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Ejemplo: el cÃ³digo fuente de Google (1998-2024) vale mÃ¡s hoy que el primer dÃ­a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A83F"/>
                </a:solidFill>
                <a:latin typeface="Calibri"/>
              </a:defRPr>
            </a:pPr>
            <a:r>
              <a:t>"Ideas are different from almost every other good that economists have studied" â€” Paul Romer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7. El Conocimiento como Acumulador de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Romer (1990): Endogenous Growth Theory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conocimiento (ideas, diseÃ±o de software, procesos) es el MOTOR del crecimiento econÃ³mico moderno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A diferencia del capital fÃ­sico, el conocimiento NO tiene rendimientos decrecientes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conocimiento es NO RIVAL â†’ puede ser usado simultÃ¡neamente por todos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conocimiento es PARCIALMENTE EXCLUIBLE â†’ patentes, copyright, secretos comerciales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La 'endogeneidad' del crecimiento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crecimiento no es un accidente externo â€” es el resultado de decisiones de inversiÃ³n en I+D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Las empresas deciden cuÃ¡nto invertir en crear nuevo conocimiento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conocimiento creado por UNA empresa beneficia a TODA la economÃ­a (spillovers)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Esto justifica subsidios pÃºblicos a I+D, ciencia bÃ¡sica, educaciÃ³n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AplicaciÃ³n directa a SaaS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Cada feature nuevo de un SaaS es 'conocimiento' que se acumula sobre el anterior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cÃ³digo bien escrito es conocimiento acumulativo que se aprecia con el tiempo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Las APIs expuestas convierten conocimiento interno en valor externo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 documentaciÃ³n y los tests son 'meta-conocimiento' que acelera el desarrollo futuro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8. El Stack de Capital en una Empresa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1600" b="0">
                <a:solidFill>
                  <a:srgbClr val="E2E8F0"/>
                </a:solidFill>
                <a:latin typeface="Calibri"/>
              </a:defRPr>
            </a:pPr>
            <a:r>
              <a:t>En la economÃ­a clÃ¡sica, el capital es una sola cosa: mÃ¡quinas + dinero.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E2E8F0"/>
                </a:solidFill>
                <a:latin typeface="Calibri"/>
              </a:defRPr>
            </a:pPr>
            <a:r>
              <a:t>En la economÃ­a del software, el capital es un stack de mÃºltiples capas que se retroalimentan: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r>
              <a:rPr sz="2000" b="1">
                <a:solidFill>
                  <a:srgbClr val="E8A83F"/>
                </a:solidFill>
                <a:latin typeface="Calibri"/>
              </a:rPr>
              <a:t>ðŸ’° Capital Financiero</a:t>
            </a:r>
          </a:p>
          <a:p>
            <a:pPr>
              <a:spcBef>
                <a:spcPts val="2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     Funding, revenue, runway â€” el combustible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r>
              <a:rPr sz="2000" b="1">
                <a:solidFill>
                  <a:srgbClr val="E8A83F"/>
                </a:solidFill>
                <a:latin typeface="Calibri"/>
              </a:rPr>
              <a:t>ðŸ§  Capital Humano</a:t>
            </a:r>
          </a:p>
          <a:p>
            <a:pPr>
              <a:spcBef>
                <a:spcPts val="2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     Talento, expertise, juicio tÃ©cnico â€” el cerebro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r>
              <a:rPr sz="2000" b="1">
                <a:solidFill>
                  <a:srgbClr val="E8A83F"/>
                </a:solidFill>
                <a:latin typeface="Calibri"/>
              </a:rPr>
              <a:t>ðŸ“¦ Capital Estructural</a:t>
            </a:r>
          </a:p>
          <a:p>
            <a:pPr>
              <a:spcBef>
                <a:spcPts val="2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     CÃ³digo, arquitectura, procesos, documentaciÃ³n â€” el sistema nervioso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r>
              <a:rPr sz="2000" b="1">
                <a:solidFill>
                  <a:srgbClr val="E8A83F"/>
                </a:solidFill>
                <a:latin typeface="Calibri"/>
              </a:rPr>
              <a:t>ðŸ”— Capital Relacional</a:t>
            </a:r>
          </a:p>
          <a:p>
            <a:pPr>
              <a:spcBef>
                <a:spcPts val="2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     Clientes, partners, comunidad, network effects â€” el ecosistema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r>
              <a:rPr sz="2000" b="1">
                <a:solidFill>
                  <a:srgbClr val="E8A83F"/>
                </a:solidFill>
                <a:latin typeface="Calibri"/>
              </a:rPr>
              <a:t>ðŸ“Š Capital de Datos</a:t>
            </a:r>
          </a:p>
          <a:p>
            <a:pPr>
              <a:spcBef>
                <a:spcPts val="2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     Datasets, modelos entrenados, seÃ±ales de usuario â€” el petrÃ³leo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r>
              <a:rPr sz="2000" b="1">
                <a:solidFill>
                  <a:srgbClr val="E8A83F"/>
                </a:solidFill>
                <a:latin typeface="Calibri"/>
              </a:rPr>
              <a:t>ðŸ·ï¸ Capital de Marca (Moats)</a:t>
            </a:r>
          </a:p>
          <a:p>
            <a:pPr>
              <a:spcBef>
                <a:spcPts val="2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     ReputaciÃ³n, confianza, switching costs â€” el foso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CCA3"/>
                </a:solidFill>
                <a:latin typeface="Calibri"/>
              </a:defRPr>
            </a:pPr>
            <a:r>
              <a:t>Las empresas que maximizan el stack completo (no solo el financiero) son las que dominan mercados enteros.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83F"/>
                </a:solidFill>
                <a:latin typeface="Calibri"/>
              </a:defRPr>
            </a:pPr>
            <a:r>
              <a:t>PARTE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Crecimiento EndÃ³geno y</a:t>
            </a:r>
            <a:br/>
            <a:r>
              <a:t>Conocimiento Acumulativo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Calibri"/>
              </a:defRPr>
            </a:pPr>
            <a:r>
              <a:t>Por quÃ© algunas economÃ­as (y empresas) crecen indefinidamente mientras otras se estancan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9. Solow (1956) vs Romer (1990)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Modelo de Solow (ExÃ³geno)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Crecimiento = aumento de capital + trabajo + 'residual' (no explicado)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progreso tecnolÃ³gico es EXÃ“GENO â€” cae del cielo como manÃ¡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Rendimientos decrecientes del capital â†’ convergencia a estado estacionario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No puede explicar por quÃ© el crecimiento se ACELERA en lugar de frenarse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Predice que paÃ­ses pobres deberÃ­an converger con ricos... pero no ocurre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Modelo de Romer (EndÃ³geno)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Crecimiento = inversiÃ³n deliberada en I+D + conocimiento acumulado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progreso tecnolÃ³gico es ENDÃ“GENO â€” resultado de decisiones econÃ³micas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Rendimientos crecientes del conocimiento â†’ NO hay convergencia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Explica la 'Gran Divergencia': paÃ­ses que invierten en I+D crecen; los que no, se estancan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conocimiento no rival se acumula y genera spillovers que benefician a todos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A83F"/>
                </a:solidFill>
                <a:latin typeface="Calibri"/>
              </a:defRPr>
            </a:pPr>
            <a:r>
              <a:t>ImplicaciÃ³n: en una startup de software, cada lÃ­nea de cÃ³digo es I+D. No es un gasto operativo â€” es inversiÃ³n en crecimiento endÃ³geno.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10. Spillovers, RecombinaciÃ³n y el Efecto 'Standing on Shoulders'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1400" b="0">
                <a:solidFill>
                  <a:srgbClr val="E8A83F"/>
                </a:solidFill>
                <a:latin typeface="Calibri"/>
              </a:defRPr>
            </a:pPr>
            <a:r>
              <a:t>"If I have seen further, it is by standing on the shoulders of giants" â€” Newton (1675)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200" b="1">
                <a:solidFill>
                  <a:srgbClr val="E8A83F"/>
                </a:solidFill>
                <a:latin typeface="Calibri"/>
              </a:defRPr>
            </a:pPr>
            <a:r>
              <a:t>Spillovers de Conocimiento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conocimiento creado por una empresa beneficia a otras (y viceversa)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Los spillovers son la razÃ³n por la que Silicon Valley existe como cluster: ideas fluyen entre empresas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software open source es el spillover perfecto: Linux beneficia a Google, AWS, Tesla, todos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200" b="1">
                <a:solidFill>
                  <a:srgbClr val="2ECCA3"/>
                </a:solidFill>
                <a:latin typeface="Calibri"/>
              </a:defRPr>
            </a:pPr>
            <a:r>
              <a:t>RecombinaciÃ³n (Weitzman, 1998)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Las nuevas ideas no se crean de la nada â€” se RECOMBINAN ideas existentes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nÃºmero de recombinaciones posibles crece exponencialmente con el nÃºmero de ideas base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Cada tecnologÃ­a (web, mobile, cloud, IA) se convierte en plataforma para nuevas recombinaciones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Ejemplo: Uber = GPS + smartphone + payment + maps + ratings. Ninguna idea era nueva sola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11. El Efecto Cluster y Knowledge Spillovers en la PrÃ¡ctica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Â¿Por quÃ© Silicon Valley?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ConcentraciÃ³n de talento â†’ mercado laboral eficiente (empleados cambian de empresa, ideas viajan)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ConcentraciÃ³n de capital de riesgo â†’ financiamiento disponible en todas las etapas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Cultura de 'abrir cÃ³digo' y compartir conocimiento (Stanford, Homebrew Club, open source)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Efecto de red: mÃ¡s startups â†’ mÃ¡s inversores â†’ mÃ¡s mentores â†’ mÃ¡s startups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Ley de Metcalfe aplicada a empresas: el valor del cluster = nÂ²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F4444"/>
                </a:solidFill>
                <a:latin typeface="Calibri"/>
              </a:defRPr>
            </a:pPr>
            <a:r>
              <a:t>El 'Reversal' del Efecto Cluster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trabajo remoto (post-2020) REDUCE los spillovers geogrÃ¡ficos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 IA generativa (2022+) REPLICA algunos spillovers sin concentraciÃ³n fÃ­sica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Â¿Se diluye el cluster cuando las ideas fluyen globalmente?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Hoffman (Blitzscaling): los clusters importan MENOS en la era del cloud y las herramientas de colaboraciÃ³n global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Pero persisten para fundraising y talento early-stage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83F"/>
                </a:solidFill>
                <a:latin typeface="Calibri"/>
              </a:defRPr>
            </a:pPr>
            <a:r>
              <a:t>PARTE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Path Dependence, Lock-In</a:t>
            </a:r>
            <a:br/>
            <a:r>
              <a:t>y Switching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Calibri"/>
              </a:defRPr>
            </a:pPr>
            <a:r>
              <a:t>Por quÃ© el pasado determina el futuro en los mercados de tecnologÃ­a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12. Path Dependence: CÃ³mo la Historia Decide el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1400" b="0">
                <a:solidFill>
                  <a:srgbClr val="E8A83F"/>
                </a:solidFill>
                <a:latin typeface="Calibri"/>
              </a:defRPr>
            </a:pPr>
            <a:r>
              <a:t>"The path we took determines where we end up, even if the path was chosen by chance" â€” W. Brian Arthur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200" b="1">
                <a:solidFill>
                  <a:srgbClr val="E8A83F"/>
                </a:solidFill>
                <a:latin typeface="Calibri"/>
              </a:defRPr>
            </a:pPr>
            <a:r>
              <a:t>Â¿QuÃ© es Path Dependence?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Eventos pequeÃ±os e idiosincrÃ¡ticos al inicio de un proceso tienen efectos grandes y duraderos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resultado final NO es necesariamente el mÃ¡s eficiente â€” es el que tuvo ventaja inicial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Contrasta con la economÃ­a clÃ¡sica: Ã©sta predice que el mercado elige el MEJOR resultado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El ejemplo clÃ¡sico: QWERTY vs Dvorak (David, 1985)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QWERTY fue diseÃ±ado para que las teclas no se trabaran en mÃ¡quinas de escribir MECÃNICAS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Dvorak (1936) es 20-40% mÃ¡s eficiente... pero QWERTY ya estaba instalado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Network effects + switching costs + institutional inertia â†’ QWERTY nunca serÃ¡ reemplazado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LECCIÃ“N: el estÃ¡ndar dominante no es el mejor tÃ©cnicamente; es el que llegÃ³ primero y lockeÃ³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13. Lock-In: Por quÃ© los Clientes No Se Van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Shapiro &amp; Varian (Information Rules)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Lock-in ocurre cuando los costos de cambiar de proveedor son altos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lock-in es la principal fuente de 'moat' (foso competitivo) en software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Se genera por: inversiÃ³n en aprendizaje, datos acumulados, integraciones, contratos, costos de bÃºsqueda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Tipos de Switching Costs (Shapiro &amp; Varian)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1800" b="1">
                <a:solidFill>
                  <a:srgbClr val="E8A83F"/>
                </a:solidFill>
                <a:latin typeface="Calibri"/>
              </a:defRPr>
            </a:pPr>
            <a:r>
              <a:t>Los 7 Tipos de Lock-In</a:t>
            </a:r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1. Datos: migrar datos de Salesforce â†’ HubSpot es un infierno</a:t>
            </a:r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2. Aprendizaje: tu equipo sabe Excel, no Google Sheets</a:t>
            </a:r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3. Integraciones: Slack estÃ¡ conectado a 200 apps</a:t>
            </a:r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4. Contratos: enterprise agreements de 2-3 aÃ±os</a:t>
            </a:r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5. PersonalizaciÃ³n: miles de horas de customizaciÃ³n</a:t>
            </a:r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6. Confianza/marca: 'nadie fue despedido por comprar IBM/Microsoft'</a:t>
            </a:r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7. Efectos de red: todos en tu industria usan esta plataforma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14. Estrategias para Crear (y Romper) Lock-In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10B981"/>
                </a:solidFill>
                <a:latin typeface="Calibri"/>
              </a:defRPr>
            </a:pPr>
            <a:r>
              <a:t>Crear Lock-In (defensivo)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APIs propietarias: no compatibles con competidores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Formatos de datos cerrados: .docx, .psd, .sketch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Integraciones deep: mÃ©tricas incrustadas en workflows del cliente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Datos histÃ³ricos: la data del cliente es insustituible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Planes multi-annual: descuentos por contratos largos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Software + Servicios: consultorÃ­a que aprende el negocio del cliente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F4444"/>
                </a:solidFill>
                <a:latin typeface="Calibri"/>
              </a:defRPr>
            </a:pPr>
            <a:r>
              <a:t>Romper Lock-In (ofensivo)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Ofrecer migraciones gratuitas (Zendesk â†’ Intercom)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APIs abiertas y estÃ¡ndares (Stripe hizo esto contra Authorize.net)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Pricing basado en uso vs licencia (SaaS vs on-premise)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Freemium: costo de entrada cero â†’ reduce barrera de prueba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Herramientas de importaciÃ³n one-click (datos del competidor al nuevo sistema)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CCA3"/>
                </a:solidFill>
                <a:latin typeface="Calibri"/>
              </a:defRPr>
            </a:pPr>
            <a:r>
              <a:t>Regla de oro: tu producto debe tener high switching costs para tus clientes, y low switching costs desde tus competidores.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15. Ecosistemas de Complementos: El Lock-In Definitivo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El concepto de Arthur y Teece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Cuando un producto tiene un ecosistema de complementos, el lock-in se vuelve colectivo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No es solo el producto â€” es toda la red de productos que dependen de Ã©l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ecosistema crea switching costs SISTÃ‰MICOS: para cambiar un componente, hay que cambiar todos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Ejemplos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iOS: App Store + iCloud + AirPods + Apple Watch + Mac + HomeKit + Apple Pay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Salesforce: AppExchange + Einstein + MuleSoft + Slack + Tableau â€” todo interconectado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AWS: 200+ servicios que funcionan mejor JUNTOS que con proveedores externos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Microsoft: Office + Teams + Azure + GitHub + LinkedIn + Dynamics â€” datos cruzados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LÃ³gica econÃ³mica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Cada complemento aumenta el valor del producto principal (complementariedad)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Cada complemento aumenta el switching cost de salir del ecosistema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ecosistema genera increasing returns: mÃ¡s complementos â†’ mÃ¡s usuarios â†’ mÃ¡s complementos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Es el cÃ­rculo virtuoso que convierte productos en plataformas y plataformas en monopolios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83F"/>
                </a:solidFill>
                <a:latin typeface="Calibri"/>
              </a:defRPr>
            </a:pPr>
            <a:r>
              <a:t>PARTE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Network Effects y Plataformas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Calibri"/>
              </a:defRPr>
            </a:pPr>
            <a:r>
              <a:t>El motor mÃ¡s potente de creaciÃ³n de valor en la era digital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16. Network Effects: DefiniciÃ³n y Tipos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1400" b="0">
                <a:solidFill>
                  <a:srgbClr val="E8A83F"/>
                </a:solidFill>
                <a:latin typeface="Calibri"/>
              </a:defRPr>
            </a:pPr>
            <a:r>
              <a:t>"The value of a network grows faster than its size" â€” Robert Metcalfe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Ley de Metcalfe: el valor de una red de n nodos ~ nÂ²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Tipos de Network Effects (Parker, Van Alstyne, Choudary)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1. Directos (same-side): mÃ¡s usuarios = mÃ¡s valor. TelÃ©fono, WhatsApp, Slack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2. Indirectos (cross-side): mÃ¡s del lado A = mÃ¡s valor para lado B. Airbnb: +hosts â†’ +huÃ©spedes â†’ +hosts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3. Data network effects: mÃ¡s usuarios â†’ mÃ¡s datos â†’ mejor producto â†’ mÃ¡s usuarios. Waze, Google Maps, TikTok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4. Social: el producto es mejor si amigos lo usan. Facebook, Instagram</a:t>
            </a:r>
          </a:p>
          <a:p>
            <a:pPr>
              <a:spcBef>
                <a:spcPts val="6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5. Platform/ecosystem: mÃ¡s desarrolladores â†’ +apps â†’ +usuarios â†’ +desarrolladores. iOS, Roblox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17. Pipeline vs Platform (Parker, Van Alstyne &amp; Choudary)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Pipeline (negocio lineal)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Cadena de valor: diseÃ±o â†’ fabricaciÃ³n â†’ distribuciÃ³n â†’ venta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Control vertical de toda la cadena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valor se CREA dentro de la empresa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EconomÃ­as de escala internas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Ej: Ford (fabrica autos), Netflix 2007 (envÃ­a DVDs), Comcast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La transformaciÃ³n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Apple pasÃ³ de pipeline (Mac fabricado) a plataforma (App Store)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Amazon pasÃ³ de pipeline (librerÃ­a online) a plataforma (Marketplace + AWS)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Netflix pasÃ³ de pipeline (DVDs por mail) a plataforma (streaming + contenido original)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Plataforma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Infraestructura que conecta productores y consumidores externos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valor se CREA FUERA de la empresa (comunidad, ecosistema)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Efectos de red cruzados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Costo marginal de agregar lado â†’ 0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Ej: Airbnb (0 propiedades), Uber (0 autos), Alibaba (0 stock)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E8A83F"/>
                </a:solidFill>
                <a:latin typeface="Calibri"/>
              </a:defRPr>
            </a:pPr>
            <a:r>
              <a:t>El core de Parker et al.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Core Interaction = Participantes + Unidad de Valor + Filtro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âœª Participantes: productores y consumidores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âœª Unidad de Valor: lo que se intercambia (ride, review, code)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âœª Filtro: algoritmo que conecta correctamente (matching)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18. El Problema del Huevo y la Gallina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El dilema fundamental de toda plataforma: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E2E8F0"/>
                </a:solidFill>
                <a:latin typeface="Calibri"/>
              </a:defRPr>
            </a:pPr>
            <a:r>
              <a:t>Sin productores â†’ sin consumidores â†’ sin valor â†’ sin productores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200" b="1">
                <a:solidFill>
                  <a:srgbClr val="2ECCA3"/>
                </a:solidFill>
                <a:latin typeface="Calibri"/>
              </a:defRPr>
            </a:pPr>
            <a:r>
              <a:t>Estrategias para resolverlo</a:t>
            </a:r>
          </a:p>
          <a:p>
            <a:pPr>
              <a:spcBef>
                <a:spcPts val="800"/>
              </a:spcBef>
              <a:defRPr sz="1600" b="1">
                <a:solidFill>
                  <a:srgbClr val="E8A83F"/>
                </a:solidFill>
                <a:latin typeface="Calibri"/>
              </a:defRPr>
            </a:pPr>
            <a:r>
              <a:t>1. Subsidio al lado mÃ¡s difÃ­cil (Darwinismo SubsÃ­dico)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Uber con conductores, Airbnb con hosts, PlayStation barata para usuarios</a:t>
            </a:r>
          </a:p>
          <a:p>
            <a:pPr>
              <a:spcBef>
                <a:spcPts val="800"/>
              </a:spcBef>
              <a:defRPr sz="1600" b="1">
                <a:solidFill>
                  <a:srgbClr val="E8A83F"/>
                </a:solidFill>
                <a:latin typeface="Calibri"/>
              </a:defRPr>
            </a:pPr>
            <a:r>
              <a:t>2. Estrategia 'Parece pipeline' (cangrejo)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Amazon empezÃ³ como librerÃ­a (pipeline), luego abriÃ³ marketplace (plataforma) â€” Thiel dice que es la mejor</a:t>
            </a:r>
          </a:p>
          <a:p>
            <a:pPr>
              <a:spcBef>
                <a:spcPts val="800"/>
              </a:spcBef>
              <a:defRPr sz="1600" b="1">
                <a:solidFill>
                  <a:srgbClr val="E8A83F"/>
                </a:solidFill>
                <a:latin typeface="Calibri"/>
              </a:defRPr>
            </a:pPr>
            <a:r>
              <a:t>3. Semilla de usuarios desde comunidad existente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PayPal desde Palm Pilots, Facebook desde Harvard, Nextdoor desde vecindarios</a:t>
            </a:r>
          </a:p>
          <a:p>
            <a:pPr>
              <a:spcBef>
                <a:spcPts val="800"/>
              </a:spcBef>
              <a:defRPr sz="1600" b="1">
                <a:solidFill>
                  <a:srgbClr val="E8A83F"/>
                </a:solidFill>
                <a:latin typeface="Calibri"/>
              </a:defRPr>
            </a:pPr>
            <a:r>
              <a:t>4. AdopciÃ³n secuencial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Atraer primero un lado, despuÃ©s el otro. Ej: OpenTable restoranes â†’ comensales</a:t>
            </a:r>
          </a:p>
          <a:p>
            <a:pPr>
              <a:spcBef>
                <a:spcPts val="800"/>
              </a:spcBef>
              <a:defRPr sz="1600" b="1">
                <a:solidFill>
                  <a:srgbClr val="E8A83F"/>
                </a:solidFill>
                <a:latin typeface="Calibri"/>
              </a:defRPr>
            </a:pPr>
            <a:r>
              <a:t>5. Por quÃ© funciona Stripe</a:t>
            </a:r>
          </a:p>
          <a:p>
            <a:pPr>
              <a:spcBef>
                <a:spcPts val="20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Si construyes un producto que UN lado necesita DESESPERADAMENTE (pagar online), ese lado atrae al otro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19. Negative Network Effects â€” El Lado Oscuro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1800" b="0">
                <a:solidFill>
                  <a:srgbClr val="E2E8F0"/>
                </a:solidFill>
                <a:latin typeface="Calibri"/>
              </a:defRPr>
            </a:pPr>
            <a:r>
              <a:t>No todos los network effects son positivos. MÃ¡s usuarios puede DESTRUIR valor: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200" b="1">
                <a:solidFill>
                  <a:srgbClr val="EF4444"/>
                </a:solidFill>
                <a:latin typeface="Calibri"/>
              </a:defRPr>
            </a:pPr>
            <a:r>
              <a:t>Tipos de Negative Network Effects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CongestiÃ³n: +usuarios â†’ peor experiencia (Twitter 2014, Clubhouse 2021)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Spam/abuso: +usuarios â†’ mÃ¡s malos actores (Facebook 2016, Reddit)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DiluciÃ³n de matching: +participantes â†’ mÃ¡s ruido (Tinder, LinkedIn, Upwork)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Desigualdad de poder: plataforma grande â†’ extractiva (Apple 30%, Amazon contra sellers)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FragmentaciÃ³n: +usuarios â†’ mÃ¡s subgrupos â†’ menos interacciÃ³n cross-grupo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Â¿CÃ³mo mitigarlos?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Gobernanza activa: algoritmos de ranking, moderaciÃ³n, reputaciÃ³n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Estructura de precios disuasoria (Uber surge pricing reduce congestiÃ³n)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LÃ­mites de crecimiento deliberados (invites-only iniciales)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AI para filtrar, rankear y recomendar en lugar de feed cronolÃ³gico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83F"/>
                </a:solidFill>
                <a:latin typeface="Calibri"/>
              </a:defRPr>
            </a:pPr>
            <a:r>
              <a:t>PARTE 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Estrategia TecnolÃ³gica:</a:t>
            </a:r>
            <a:br/>
            <a:r>
              <a:t>Monopolios, Moats y Blitzscaling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Calibri"/>
              </a:defRPr>
            </a:pPr>
            <a:r>
              <a:t>CÃ³mo construir empresas que no solo compiten, sino que definen la categorÃ­a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20. Monopolios: La Estrategia de las Empresas TecnolÃ³gicas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Thiel (Zero to One): La paradoja del monopolio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Todas las empresas felices son diferentes (cada monopolio lo es a su manera)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Todas las empresas infelices son iguales (compiten en commoditie)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Las empresas de tecnologÃ­a exageran su competencia; las no-tecnologÃ­a la minimizan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Las 4 CaracterÃ­sticas de un Monopolio TecnolÃ³gico (Thiel)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1. TecnologÃ­a propietaria: 10x mejor que la alternativa mÃ¡s cercana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2. Efectos de red: cada usuario hace el producto mÃ¡s valioso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3. EconomÃ­as de escala: SaaS escala con costo marginal ~0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4. Branding/marca: la marca es tan fuerte que es sinÃ³nimo de la categorÃ­a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Zero to One vs One to n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One to n: copiar lo que funciona (China, clones). Competencia perfecta â†’ ganancias cero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Zero to One: crear algo nuevo. Monopolio temporal â†’ ganancias extraordinarias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progreso VERTICAL (crear nuevo) es mÃ¡s valioso que el HORIZONTAL (expandir existente)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Ejemplo: Paypal vs todos los otros payment processors en 1999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E8A83F"/>
                </a:solidFill>
                <a:latin typeface="Calibri"/>
              </a:defRPr>
            </a:pPr>
            <a:r>
              <a:t>"Competition is for losers" â€” Peter Thiel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21. Moats: Los Fosos que Defienden el Monopolio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Warren Buffett â†’ aplicado a tecnologÃ­a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Moat = la ventaja competitiva sostenible que evita que competidores entren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En software, los moats son MÃS DURADEROS que en industrias tradicionales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RazÃ³n: increasing returns, lock-in, network effects â€” fortalezas que CRECEN con el tiempo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200" b="1">
                <a:solidFill>
                  <a:srgbClr val="2ECCA3"/>
                </a:solidFill>
                <a:latin typeface="Calibri"/>
              </a:defRPr>
            </a:pPr>
            <a:r>
              <a:t>Los 8 Moats TecnolÃ³gicos</a:t>
            </a:r>
          </a:p>
          <a:p>
            <a:pPr>
              <a:spcBef>
                <a:spcPts val="400"/>
              </a:spcBef>
              <a:defRPr sz="1600" b="1">
                <a:solidFill>
                  <a:srgbClr val="E8A83F"/>
                </a:solidFill>
                <a:latin typeface="Calibri"/>
              </a:defRPr>
            </a:pPr>
            <a:r>
              <a:t>1. Network Effects</a:t>
            </a:r>
          </a:p>
          <a:p>
            <a:pPr>
              <a:spcBef>
                <a:spcPts val="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     El usuario atrae a mÃ¡s usuarios. Facebook, LinkedIn, WhatsApp</a:t>
            </a:r>
          </a:p>
          <a:p>
            <a:pPr>
              <a:spcBef>
                <a:spcPts val="400"/>
              </a:spcBef>
              <a:defRPr sz="1600" b="1">
                <a:solidFill>
                  <a:srgbClr val="E8A83F"/>
                </a:solidFill>
                <a:latin typeface="Calibri"/>
              </a:defRPr>
            </a:pPr>
            <a:r>
              <a:t>2. Switching Costs</a:t>
            </a:r>
          </a:p>
          <a:p>
            <a:pPr>
              <a:spcBef>
                <a:spcPts val="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     Duele cambiar. Salesforce, SAP, Workday</a:t>
            </a:r>
          </a:p>
          <a:p>
            <a:pPr>
              <a:spcBef>
                <a:spcPts val="400"/>
              </a:spcBef>
              <a:defRPr sz="1600" b="1">
                <a:solidFill>
                  <a:srgbClr val="E8A83F"/>
                </a:solidFill>
                <a:latin typeface="Calibri"/>
              </a:defRPr>
            </a:pPr>
            <a:r>
              <a:t>3. EconomÃ­as de Escala</a:t>
            </a:r>
          </a:p>
          <a:p>
            <a:pPr>
              <a:spcBef>
                <a:spcPts val="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     Cada vez mÃ¡s barato. AWS, Azure, GCP</a:t>
            </a:r>
          </a:p>
          <a:p>
            <a:pPr>
              <a:spcBef>
                <a:spcPts val="400"/>
              </a:spcBef>
              <a:defRPr sz="1600" b="1">
                <a:solidFill>
                  <a:srgbClr val="E8A83F"/>
                </a:solidFill>
                <a:latin typeface="Calibri"/>
              </a:defRPr>
            </a:pPr>
            <a:r>
              <a:t>4. Data Network Effects</a:t>
            </a:r>
          </a:p>
          <a:p>
            <a:pPr>
              <a:spcBef>
                <a:spcPts val="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     MÃ¡s datos â†’ mejor AI â†’ mÃ¡s usuarios. Waze, Tesla, Google Search</a:t>
            </a:r>
          </a:p>
          <a:p>
            <a:pPr>
              <a:spcBef>
                <a:spcPts val="400"/>
              </a:spcBef>
              <a:defRPr sz="1600" b="1">
                <a:solidFill>
                  <a:srgbClr val="E8A83F"/>
                </a:solidFill>
                <a:latin typeface="Calibri"/>
              </a:defRPr>
            </a:pPr>
            <a:r>
              <a:t>5. Marca/Confianza</a:t>
            </a:r>
          </a:p>
          <a:p>
            <a:pPr>
              <a:spcBef>
                <a:spcPts val="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     'Nadie fue despedido por comprar...'. Stripe, Datadog</a:t>
            </a:r>
          </a:p>
          <a:p>
            <a:pPr>
              <a:spcBef>
                <a:spcPts val="400"/>
              </a:spcBef>
              <a:defRPr sz="1600" b="1">
                <a:solidFill>
                  <a:srgbClr val="E8A83F"/>
                </a:solidFill>
                <a:latin typeface="Calibri"/>
              </a:defRPr>
            </a:pPr>
            <a:r>
              <a:t>6. TecnologÃ­a Propietaria</a:t>
            </a:r>
          </a:p>
          <a:p>
            <a:pPr>
              <a:spcBef>
                <a:spcPts val="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     Algoritmos no replicables. OpenAI, Palantir, ASML</a:t>
            </a:r>
          </a:p>
          <a:p>
            <a:pPr>
              <a:spcBef>
                <a:spcPts val="400"/>
              </a:spcBef>
              <a:defRPr sz="1600" b="1">
                <a:solidFill>
                  <a:srgbClr val="E8A83F"/>
                </a:solidFill>
                <a:latin typeface="Calibri"/>
              </a:defRPr>
            </a:pPr>
            <a:r>
              <a:t>7. Licencias/RegulaciÃ³n</a:t>
            </a:r>
          </a:p>
          <a:p>
            <a:pPr>
              <a:spcBef>
                <a:spcPts val="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     Barreras legales. Bloomberg, Epic, Carta, Stripe</a:t>
            </a:r>
          </a:p>
          <a:p>
            <a:pPr>
              <a:spcBef>
                <a:spcPts val="400"/>
              </a:spcBef>
              <a:defRPr sz="1600" b="1">
                <a:solidFill>
                  <a:srgbClr val="E8A83F"/>
                </a:solidFill>
                <a:latin typeface="Calibri"/>
              </a:defRPr>
            </a:pPr>
            <a:r>
              <a:t>8. Embedding</a:t>
            </a:r>
          </a:p>
          <a:p>
            <a:pPr>
              <a:spcBef>
                <a:spcPts val="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     El producto es parte del workflow. PagerDuty embedded en DevOps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22. Blitzscaling: Crecimiento a Toda Costa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1400" b="0">
                <a:solidFill>
                  <a:srgbClr val="E8A83F"/>
                </a:solidFill>
                <a:latin typeface="Calibri"/>
              </a:defRPr>
            </a:pPr>
            <a:r>
              <a:t>"Speed is the only competitive advantage that matters" â€” Reid Hoffman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200" b="1">
                <a:solidFill>
                  <a:srgbClr val="E8A83F"/>
                </a:solidFill>
                <a:latin typeface="Calibri"/>
              </a:defRPr>
            </a:pPr>
            <a:r>
              <a:t>Â¿QuÃ© es Blitzscaling?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Priorizar velocidad sobre eficiencia en situaciones de incertidumbre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Es la estrategia para alcanzar first-scaler advantage en mercados con network effects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Se aplica solo cuando: el mercado es grande, hay network effects, y el first mover puede lockear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Las 3 Reglas del Blitzscaling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1. Ignorar la eficiencia: contratar rÃ¡pido, gastar, aunque duela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2. Aceptar el caos: procesos imperfectos &gt; no crecer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3. Pivotar agresivamente: si algo no funciona, cambio inmediato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EF4444"/>
                </a:solidFill>
                <a:latin typeface="Calibri"/>
              </a:defRPr>
            </a:pPr>
            <a:r>
              <a:t>CuÃ¡ndo NO blitzscale (los riesgos)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Si el mercado no tiene network effects â†’ vas a quemar dinero sin barreras de entrada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Si hay un incumbente con lock-in fuerte (Microsoft, Google) â†’ contraatacan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Si no hay PMF (product-market fit) â†’ escalas un producto que nadie quiere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23. First-Scaler Advantage vs First-Mover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First-Mover Advantage (Tradicional)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primero en llegar al mercado gana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Funciona con patentes, recursos escasos, ubicaciones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En tecnologÃ­a, ser first mover NO es suficiente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Friendster vs Facebook, Palm vs iPhone, AltaVista vs Google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First-Scaler Advantage (Hoffman)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primero en ESCALAR (no en llegar) gana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Facebook no fue la primera red social (Friendster, MySpace)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Facebook fue la primera en ESCALAR: Harvard â†’ 800 universidades â†’ todos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Airbnb vs Couchsurfing: ambos empezaron ~2008. Airbnb escalÃ³ a nivel global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E8A83F"/>
                </a:solidFill>
                <a:latin typeface="Calibri"/>
              </a:defRPr>
            </a:pPr>
            <a:r>
              <a:t>La clave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En mercados con network effects, el que escala primero captura el efecto de red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Una vez que el network effect se activa, es casi imposible destronar al lÃ­der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Por eso VCs financian crecimiento no rentable: compran el futuro network effect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24. Regulaciones como Estrategia Competitiva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1800" b="0">
                <a:solidFill>
                  <a:srgbClr val="E8A83F"/>
                </a:solidFill>
                <a:latin typeface="Calibri"/>
              </a:defRPr>
            </a:pPr>
            <a:r>
              <a:t>Thiel: 'No dejes que la regulaciÃ³n te impida crear un monopolio'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200" b="1">
                <a:solidFill>
                  <a:srgbClr val="2ECCA3"/>
                </a:solidFill>
                <a:latin typeface="Calibri"/>
              </a:defRPr>
            </a:pPr>
            <a:r>
              <a:t>La regulaciÃ³n es un moat SI la navegas correctamente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Uber: no ignorÃ³ regulaciones de taxis â€” las combatiÃ³ y creÃ³ una categorÃ­a nueva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Airbnb: enfrentÃ³ regulaciones de hoteles. SoluciÃ³n: lobby + self-regulation + agreements con ciudades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Stripe: navegÃ³ regulaciones financieras globales. Es el moat mÃ¡s fuerte de Stripe vs fintechs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Coinbase: regulaciÃ³n de cripto. Es su principal ventaja sobre exchanges no-US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Tesla: vendiÃ³ crÃ©ditos regulatorios. Literalmente financiÃ³ su crecimiento con regulaciÃ³n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Lecciones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 regulaciÃ³n NO es un obstÃ¡culo â€” es una barrera de entrada contra competidores menos sofisticados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Invertir en compliance es una estrategia defensiva de alto ROI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Cada nueva regulaciÃ³n que le imponen al incumbente es una oportunidad para el disruptor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Las startups mÃ¡s valiosas resuelven regulaciones complejas (fintech, healthtech, proptech)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25. Timing: CuÃ¡ndo entrar y cuÃ¡ndo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El framework de Hoffman + Thiel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Entrar demasiado temprano â†’ el mercado no existe (cobra.ai, webvan.com)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Entrar demasiado tarde â†’ el mercado estÃ¡ lockeado (Google+ contra Facebook)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timing PERFECTO: cuando la tecnologÃ­a estÃ¡ madura, el mercado crece, y hay incumbentes lentos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SeÃ±ales de que es el momento correcto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âœ… Los costos de infraestructura caen (cloud, GPUs, APIs)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âœ… Los consumidores YA usan tecnologÃ­a similar (smartphones en 2008 para Uber)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âœ… Hay regulaciones que protegen incumbentes dÃ©biles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âœ… Los incumbentes ignoran tu mercado (cable companies y streaming)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âœ… Hay un 'enabling technology' nueva (mobile, cloud, LLMs)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E8A83F"/>
                </a:solidFill>
                <a:latin typeface="Calibri"/>
              </a:defRPr>
            </a:pPr>
            <a:r>
              <a:t>Ejemplo clÃ¡sico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EF4444"/>
                </a:solidFill>
                <a:latin typeface="Calibri"/>
              </a:defRPr>
            </a:pPr>
            <a:r>
              <a:t>Apple Newton (1993) vs iPhone (2007)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Newton: demasiado temprano. Sin touch screen capacitiva, sin baterÃ­a, sin apps, sin mobile internet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iPhone: timing perfecto. Touch screen, baterÃ­a, 3G, App Store, procesador ARM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83F"/>
                </a:solidFill>
                <a:latin typeface="Calibri"/>
              </a:defRPr>
            </a:pPr>
            <a:r>
              <a:t>PARTE 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Ecosistemas, APIs</a:t>
            </a:r>
            <a:br/>
            <a:r>
              <a:t>y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Calibri"/>
              </a:defRPr>
            </a:pPr>
            <a:r>
              <a:t>Cuando tu producto se convierte en la infraestructura de otros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26. Ecosistemas: El Producto es la 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200" b="1">
                <a:solidFill>
                  <a:srgbClr val="E8A83F"/>
                </a:solidFill>
                <a:latin typeface="Calibri"/>
              </a:defRPr>
            </a:pPr>
            <a:r>
              <a:t>El concepto de 'Platform Ecosystem'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Un producto exitoso atrae complementos â†’ los complementos fortalecen el producto â†’ mÃ¡s usuarios â†’ mÃ¡s complementos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CÃ­rculo virtuoso que convierte productos en plataformas que definen ecosistemas enteros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3 Niveles de Ecosistema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ðŸ”· Nivel 1 â€” API: tu producto expone APIs para que otros construyan encima (Stripe, Twilio)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ðŸ”· Nivel 2 â€” Marketplace: terceros venden/comparten en tu plataforma (Salesforce AppExchange)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ðŸ”· Nivel 3 â€” Platform: tu producto ES la infraestructura de una industria (AWS, iOS)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El framework de Parker et al.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Core Interaction: la interacciÃ³n central que la plataforma facilita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Pull &amp; Facilitate: la plataforma atrae participantes y facilita sus interacciones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Match &amp; Curate: la plataforma conecta a los participantes correctos y filtra calidad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Monetize: la plataforma captura valor de las interacciones (comisiÃ³n, suscripciÃ³n, publicidad)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27. Las APIs como Producto: Cuando tu CÃ³digo es tu Ingreso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API como Unidad de Valor (siguiendo a Parker)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Stripe: convirtiÃ³ el pago online en una API de 7 lÃ­neas de cÃ³digo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Twilio: convirtiÃ³ SMS/voz en APIs. '$0.0075 por SMS' â€” pricing por uso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Plaid: convirtiÃ³ datos bancarios en API. $100M+ ARR con ~500 empleados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Algolia: convirtiÃ³ bÃºsqueda en API. Search-as-a-service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Mapbox: convirtiÃ³ mapas en API. Developer-friendly Google Maps alternative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OpenAI: convirtiÃ³ IA generativa en API. $0.01 por 1K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La Arquitectura del Ã‰xito API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Simplicidad: la API debe ser tan simple que un desarrollador la pruebe en 5 minutos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Pricing por uso: paga solo por lo que usas. Sin compromiso upfront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DocumentaciÃ³n excelente: la DX (Developer Experience) es el producto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Dashboard en tiempo real: los desarrolladores quieren ver uso, costos, errores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SLAs / Confiabilidad: uptime 99.99%, fallos transparentes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Sandbox / Testing: los desarrolladores quieren probar sin pagar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E8A83F"/>
                </a:solidFill>
                <a:latin typeface="Calibri"/>
              </a:defRPr>
            </a:pPr>
            <a:r>
              <a:t>Ratio mÃ¡gico: API companies â†’ $1M ARR por cada 3-5 empleados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28. La EconomÃ­a del Open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La paradoja del open source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cÃ³digo es el bien no rival perfecto (costo marginal = 0)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Open source lo hace NO excluible â†’ cualquiera puede usarlo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Entonces Â¿cÃ³mo se gana dinero? â†’ open core, SaaS, consulting, support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Modelos de Negocio Open Source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Open Core: features gratis + features premium pagas (GitLab, Nginx)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SaaS sobre open source: corre el software por el usuario (WordPress.com, GitLab.com)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Support &amp; Consulting: Red Hat ($34B adquirida por IBM)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Managed Cloud: Aiven, DigitalOcean â€” corren DBs open source por ti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Paid License (dual licensing): MySQL, MongoDB antes de SSPL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Por quÃ© las empresas contribuyen a open source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ReducciÃ³n de costos de desarrollo: no reinventar la rueda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Reclutamiento: los mejores desarrolladores quieren trabajar en open source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EstandarizaciÃ³n: usar y contribuir define el estÃ¡ndar de la industria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Marketing tÃ©cnico: un proyecto OSS popular es el mejor lead gen (Auth0, Redis)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Spillovers compartidos: todos mejoran el cÃ³digo â†’ todos se benefician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E8A83F"/>
                </a:solidFill>
                <a:latin typeface="Calibri"/>
              </a:defRPr>
            </a:pPr>
            <a:r>
              <a:t>La hipÃ³tesis de Benkler: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El open source es producciÃ³n social basada en commons,</a:t>
            </a:r>
            <a:br/>
            <a:r>
              <a:t>no en mercado ni jerarquÃ­a. Un tercer modo de producciÃ³n econÃ³mica.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83F"/>
                </a:solidFill>
                <a:latin typeface="Calibri"/>
              </a:defRPr>
            </a:pPr>
            <a:r>
              <a:t>PARTE VIII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La RevoluciÃ³n del Cloud,</a:t>
            </a:r>
            <a:br/>
            <a:r>
              <a:t>SaaS 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Calibri"/>
              </a:defRPr>
            </a:pPr>
            <a:r>
              <a:t>CÃ³mo el cambio de infraestructura estÃ¡ reescribiendo las reglas de la economÃ­a del software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29. Cloud Computing: La Mayor ExternalizaciÃ³n de la Historia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Antes del Cloud (2000-2006)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Cada startup debÃ­a comprar servidores, pagar hosting, contratar sysadmins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Costo fijo inicial: $10K-$100K en hardware + instalaciÃ³n + mantenimiento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Elasticidad: 0. Escalar = comprar mÃ¡s servidores (semanas/meses)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Fallo = perder todo el inventario (sin backups, sin redundancia)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Barrera de entrada: alta. Muchas startups morÃ­an antes de lanzar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DespuÃ©s del Cloud (2006+)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Costo marginal de lanzar: $0. Una cuenta de AWS + tarjeta de crÃ©dito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Costo fijo inicial: ~$0 (los primeros meses son gratis)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Elasticidad: infinita. De 1 a 10,000 servidores en minutos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Backup/redundancia: built-in (S3, RDS multi-AZ, Route53)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Barrera de entrada: virtualmente cero. El cloud permitiÃ³ la explosiÃ³n de SaaS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E8A83F"/>
                </a:solidFill>
                <a:latin typeface="Calibri"/>
              </a:defRPr>
            </a:pPr>
            <a:r>
              <a:t>"AWS didn't just change the cost structure of startups â€” it changed the probability distribution of which startups exist"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30. SaaS: La MaterializaciÃ³n del Conocimiento como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MÃ©tricas Clave de SaaS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ARR (Annual Recurring Revenue): la medida de valor acumulado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MRR (Monthly Recurring Revenue): el pulso semanal/mensual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LTV (Lifetime Value): el valor futuro descontado de un cliente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CAC (Customer Acquisition Cost): cuÃ¡nto cuesta ganar un cliente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Churn: el enemigo #1. Cada punto de churn anual es un agujero en el crecimiento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Net Revenue Retention (NRR): expansiÃ³n vs contracciÃ³n. &gt;120% = mÃ¡quina de crecimiento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Regla del 40 para SaaS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Growth % + Profit Margin % â‰¥ 40% â†’ saludable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Si creces 50% al aÃ±o, puedes perder 10%. Si creces 10%, debes ser rentable 30%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Refleja la realidad: sacrificas rentabilidad por crecimiento cuando hay network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El multiplicador SaaS en 2021 vs 2024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2021: ARR Ã— 30-50x (mercado eufÃ³rico, dinero barato)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2024: ARR Ã— 6-10x (mercado realista, eficiencia importa)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Pero: las mejores empresas (Stripe, Canva, Figma) trascienden los mÃºltiplos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2ECCA3"/>
                </a:solidFill>
                <a:latin typeface="Calibri"/>
              </a:defRPr>
            </a:pPr>
            <a:r>
              <a:t>El principio de Romer en acciÃ³n: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Cada suscripciÃ³n SaaS es un flujo de ingresos</a:t>
            </a:r>
            <a:br/>
            <a:r>
              <a:t>que se acumula como 'capital conocimiento'</a:t>
            </a:r>
            <a:br/>
            <a:r>
              <a:t>con rendimientos crecientes (NRR &gt; 100%)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31. IA: La Infraestructura que se Vuelve MÃ¡s Inteligente con Cada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Data Network Effects (la ventaja de la IA)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Cada interacciÃ³n del usuario genera datos que mejoran el modelo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Mejor modelo â†’ mejor predicciÃ³n/recomendaciÃ³n â†’ mÃ¡s usuarios â†’ mÃ¡s datos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Este es el increasing returns mÃ¡s puro de la economÃ­a digital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Ejemplos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Google Search: 8.5B bÃºsquedas/dÃ­a â†’ mejor algoritmo â†’ mÃ¡s bÃºsquedas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TikTok: For You Page mejora con cada like/skip que haces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Waze: cada conductor reportando un accidente mejora el mapa para TODOS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Tesla: cada milla autÃ³noma mejora la red neuronal de TODOS los Tesla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GitHub Copilot: cada aceptaciÃ³n/rechazo de sugerencia mejora el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La Nueva Ola: AI Native Companies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Los LLMs (GPT-4, Claude, Gemini) son bienes no rivales de escala masiva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Se vuelven MEJORES con mÃ¡s uso (fine-tuning, RLHF, RAG)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Cada aplicaciÃ³n construida sobre un LLM es una recombinaciÃ³n (Weitzman)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Las AI-native companies tienen costo marginal: ~$0 (generaciÃ³n de contenido)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Pero: costo fijo de training: $100M+ (barrera de entrada masiva)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E8A83F"/>
                </a:solidFill>
                <a:latin typeface="Calibri"/>
              </a:defRPr>
            </a:pPr>
            <a:r>
              <a:t>La pregunta de Brynjolfsson &amp; McAfee (2014):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Â¿La IA genera bounty (abundancia) o spread (desigualdad)?</a:t>
            </a:r>
            <a:br/>
            <a:r>
              <a:t>Respuesta: ambas. Depende de cÃ³mo la diseÃ±es.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83F"/>
                </a:solidFill>
                <a:latin typeface="Calibri"/>
              </a:defRPr>
            </a:pPr>
            <a:r>
              <a:t>PARTE 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DestrucciÃ³n Creativa</a:t>
            </a:r>
            <a:br/>
            <a:r>
              <a:t>e InnovaciÃ³n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Calibri"/>
              </a:defRPr>
            </a:pPr>
            <a:r>
              <a:t>CÃ³mo las nuevas tecnologÃ­as reemplazan a las viejas, y por quÃ© es inevitable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32. DestrucciÃ³n Creativa: El Motor del Capitalismo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1400" b="0">
                <a:solidFill>
                  <a:srgbClr val="E8A83F"/>
                </a:solidFill>
                <a:latin typeface="Calibri"/>
              </a:defRPr>
            </a:pPr>
            <a:r>
              <a:t>"The process of industrial mutation that incessantly revolutionizes the economic structure from within, incessantly destroying the old one, incessantly creating a new one" â€” Joseph Schumpeter (1942)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Los 5 Tipos de InnovaciÃ³n (Schumpeter, 1911)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1. Nuevo producto: iPhone (2007), Tesla Model S (2012)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2. Nuevo mÃ©todo de producciÃ³n: Lean manufacturing (Toyota), CI/CD (Deploy), LLM training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3. Nuevo mercado: Airbnb (gente alquilando casas), AWS Cloud (infraestructure as service)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4. Nueva fuente de insumos: Open source code, AI-generated content, APIs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5. Nueva organizaciÃ³n industrial: Platform cooperatives, DAOs, Remote-first companies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El PatrÃ³n de la DestrucciÃ³n Creativa en TecnologÃ­a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1. Incumbent ignora la nueva tecnologÃ­a (Kodak digital, Blockbuster streaming, Nokia smartphones)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2. New entrant encuentra un mercado pequeÃ±o que el incumbente desprecia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3. La nueva tecnologÃ­a mejora exponencialmente (Moore's law, scaling laws de LLMs)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4. El mercado se da vuelta: lo que era irrelevante se vuelve dominante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33. El Dilema del Innovador (Christensen)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Por quÃ© las grandes empresas existentes FALLAN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No es incompetencia â€” es que SUS clientes no quieren la nueva tecnologÃ­a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Las empresas exitosas escuchan a sus clientes â†’ invierten en lo que los clientes piden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Los clientes existentes no quieren productos disruptivos (son demasiado simples, baratos, pequeÃ±os)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 nueva tecnologÃ­a mejora â†’ eventualmente satisface a los clientes mainstream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Para cuando el incumbente reacciona, el disruptor ya tiene network effects, cost structure, y brand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Ejemplos perfectos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Kodak inventÃ³ la cÃ¡mara digital (1975) â†’ la ocultÃ³ porque amenazaba su negocio de film â†’ quebrÃ³ (2012)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Blockstreaming rechazÃ³ streaming â†’ Netflix pasÃ³ de alquilar DVDs a streaming â†’ Blockbuster liquidÃ³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Nokia tenÃ­a smartphones, rechazÃ³ touch â†’ Apple iPhone se comiÃ³ el mercado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SoluciÃ³n para incumbentes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Crear una unidad separada que compita CONTRA la empresa madre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No pedirle a la nueva unidad que sea rentable pronto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Adquirir startups en lugar de construir internamente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SoluciÃ³n para startups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Identificar mercados que los incumbentes IGNORAN (no donde compiten)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Empezar con un producto 'menos bueno' pero mÃ¡s barato/simple/accessible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Mejorar rÃ¡pidamente â†’ atacar hacia arriba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34. The Second Machine Age (Brynjolfsson &amp; McAfee)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La tesis central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Las tecnologÃ­as digitales estÃ¡n haciendo por el poder mental lo que la mÃ¡quina de vapor hizo por el poder fÃ­sico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Primera Machine Age (1760-1840): mÃ¡quinas reemplazan mÃºsculo humano/animal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Segunda Machine Age (2000+): mÃ¡quinas reemplazan MENTE humana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Las 3 CaracterÃ­sticas del Progreso Digital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1. Exponencial (Moore's Law + segunda mitad del tablero de ajedrez)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2. Digital (costo marginal de replicaciÃ³n = $0)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3. Combinatorial (las tecnologÃ­as se combinan y recombinan infinitamente)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Bounty vs Spread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Bounty (abundancia): mÃ¡s bienes, mÃ¡s servicios, mÃ¡s contenido, a menor costo, para mÃ¡s personas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Spread (dispersiÃ³n): la brecha entre quienes tienen habilidades complementarias a la IA y quienes no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spread es el mayor desafÃ­o polÃ­tico de la prÃ³xima dÃ©cada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83F"/>
                </a:solidFill>
                <a:latin typeface="Calibri"/>
              </a:defRPr>
            </a:pPr>
            <a:r>
              <a:t>PARTE 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CÃ³mo Nacen las Empresas</a:t>
            </a:r>
            <a:br/>
            <a:r>
              <a:t>de un BillÃ³n de DÃ³lares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Calibri"/>
              </a:defRPr>
            </a:pPr>
            <a:r>
              <a:t>Patrones, decisiones y principios de las compaÃ±Ã­as que redefinen industrias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35. El PatrÃ³n ComÃºn de las Empresas de $1B+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1600" b="0">
                <a:solidFill>
                  <a:srgbClr val="E2E8F0"/>
                </a:solidFill>
                <a:latin typeface="Calibri"/>
              </a:defRPr>
            </a:pPr>
            <a:r>
              <a:t>PatrÃ³n universal observado en Apple, Google, Amazon, Meta, Netflix, Salesforce, Stripe, Airbnb, Uber, Tesla, Nvidia: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E8A83F"/>
                </a:solidFill>
                <a:latin typeface="Calibri"/>
              </a:defRPr>
            </a:pPr>
            <a:r>
              <a:t>1. Founders con visiÃ³n de 10 aÃ±os</a:t>
            </a:r>
          </a:p>
          <a:p>
            <a:pPr>
              <a:spcBef>
                <a:spcPts val="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     No construyen para el IPO. Construyen para cambiar la industria (Thiel: 'Zero to One')</a:t>
            </a:r>
          </a:p>
          <a:p>
            <a:pPr>
              <a:spcBef>
                <a:spcPts val="600"/>
              </a:spcBef>
              <a:defRPr sz="1600" b="1">
                <a:solidFill>
                  <a:srgbClr val="E8A83F"/>
                </a:solidFill>
                <a:latin typeface="Calibri"/>
              </a:defRPr>
            </a:pPr>
            <a:r>
              <a:t>2. Producto 10x mejor</a:t>
            </a:r>
          </a:p>
          <a:p>
            <a:pPr>
              <a:spcBef>
                <a:spcPts val="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     No 10% mejor. 10x. Amazon: 3M tÃ­tulos vs 100K en librerÃ­a. iPhone: internet en el bolsillo</a:t>
            </a:r>
          </a:p>
          <a:p>
            <a:pPr>
              <a:spcBef>
                <a:spcPts val="600"/>
              </a:spcBef>
              <a:defRPr sz="1600" b="1">
                <a:solidFill>
                  <a:srgbClr val="E8A83F"/>
                </a:solidFill>
                <a:latin typeface="Calibri"/>
              </a:defRPr>
            </a:pPr>
            <a:r>
              <a:t>3. Efectos de red bien diseÃ±ados</a:t>
            </a:r>
          </a:p>
          <a:p>
            <a:pPr>
              <a:spcBef>
                <a:spcPts val="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     La plataforma se vuelve mÃ¡s valiosa con cada usuario (o con cada complemento)</a:t>
            </a:r>
          </a:p>
          <a:p>
            <a:pPr>
              <a:spcBef>
                <a:spcPts val="600"/>
              </a:spcBef>
              <a:defRPr sz="1600" b="1">
                <a:solidFill>
                  <a:srgbClr val="E8A83F"/>
                </a:solidFill>
                <a:latin typeface="Calibri"/>
              </a:defRPr>
            </a:pPr>
            <a:r>
              <a:t>4. Lock-in array</a:t>
            </a:r>
          </a:p>
          <a:p>
            <a:pPr>
              <a:spcBef>
                <a:spcPts val="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     MÃºltiples switching costs: datos + integraciones + aprendizaje + ecosistema</a:t>
            </a:r>
          </a:p>
          <a:p>
            <a:pPr>
              <a:spcBef>
                <a:spcPts val="600"/>
              </a:spcBef>
              <a:defRPr sz="1600" b="1">
                <a:solidFill>
                  <a:srgbClr val="E8A83F"/>
                </a:solidFill>
                <a:latin typeface="Calibri"/>
              </a:defRPr>
            </a:pPr>
            <a:r>
              <a:t>5. Escala antes de rentabilidad</a:t>
            </a:r>
          </a:p>
          <a:p>
            <a:pPr>
              <a:spcBef>
                <a:spcPts val="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     Blitzscaling: capturar el mercado primero, monetizar despuÃ©s</a:t>
            </a:r>
          </a:p>
          <a:p>
            <a:pPr>
              <a:spcBef>
                <a:spcPts val="600"/>
              </a:spcBef>
              <a:defRPr sz="1600" b="1">
                <a:solidFill>
                  <a:srgbClr val="E8A83F"/>
                </a:solidFill>
                <a:latin typeface="Calibri"/>
              </a:defRPr>
            </a:pPr>
            <a:r>
              <a:t>6. Ataque a incumbentes lentos</a:t>
            </a:r>
          </a:p>
          <a:p>
            <a:pPr>
              <a:spcBef>
                <a:spcPts val="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     No atacan a competidores Ã¡giles. Atacan a indutrias que no innovan (taxis, hoteles, bancos)</a:t>
            </a:r>
          </a:p>
          <a:p>
            <a:pPr>
              <a:spcBef>
                <a:spcPts val="600"/>
              </a:spcBef>
              <a:defRPr sz="1600" b="1">
                <a:solidFill>
                  <a:srgbClr val="E8A83F"/>
                </a:solidFill>
                <a:latin typeface="Calibri"/>
              </a:defRPr>
            </a:pPr>
            <a:r>
              <a:t>7. Cultura que multiplica talento</a:t>
            </a:r>
          </a:p>
          <a:p>
            <a:pPr>
              <a:spcBef>
                <a:spcPts val="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     Una persona excepcional &gt; 10 personas promedio (Thiel: 'un fundador de mierda arruina todo')</a:t>
            </a:r>
          </a:p>
          <a:p>
            <a:pPr>
              <a:spcBef>
                <a:spcPts val="600"/>
              </a:spcBef>
              <a:defRPr sz="1600" b="1">
                <a:solidFill>
                  <a:srgbClr val="E8A83F"/>
                </a:solidFill>
                <a:latin typeface="Calibri"/>
              </a:defRPr>
            </a:pPr>
            <a:r>
              <a:t>8. Suerte + preparaciÃ³n</a:t>
            </a:r>
          </a:p>
          <a:p>
            <a:pPr>
              <a:spcBef>
                <a:spcPts val="0"/>
              </a:spcBef>
              <a:defRPr sz="1300">
                <a:solidFill>
                  <a:srgbClr val="E2E8F0"/>
                </a:solidFill>
                <a:latin typeface="Calibri"/>
              </a:defRPr>
            </a:pPr>
            <a:r>
              <a:t>     Reconocer el momento correcto (iPhone 2007, Airbnb 2008, ChatGPT 2022)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36. Caso: NVIDIA â€” La RecombinaciÃ³n que CreÃ³ un Monopolio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La recombinaciÃ³n (Weitzman) de tecnologÃ­as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GPU (1999) fue creada para grÃ¡ficos 3D â†’ gaming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CUDA (2006) permitiÃ³ usar GPU para cÃ³mputo general (GP-GPU)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Deep Learning (2012) descubriÃ³ que las GPUs son PERFECTAS para entrenar redes neuronales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LLMs (2020+) requieren 10K+ GPUs para entrenar â†’ NVIDIA proveedor Ãºnico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Los moats de NVIDIA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Hardware: las GPUs son 10x mejores que alternativas (Google TPU, AMD)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Software: CUDA es el lenguaje estÃ¡ndar de facto para ML. No hay alternativa real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Ecosistema: todos los frameworks (PyTorch, TensorFlow, JAX) optimizados para Nvidia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Data moat: toda la investigaciÃ³n de ML asume hardware NVIDIA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Lecciones de Nvidia para la economÃ­a del software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ðŸš€ La tecnologÃ­a que parece de nicho (gaming GPUs) puede volverse infraestructura global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ðŸš€ Invertir en software (CUDA) para vender hardware (GPUs)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ðŸš€ La recombinaciÃ³n crea mercados que no existÃ­an antes (AI infrastructure)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ðŸš€ Ser el 'picks and shovels' de una revoluciÃ³n es el mejor negocio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E8A83F"/>
                </a:solidFill>
                <a:latin typeface="Calibri"/>
              </a:defRPr>
            </a:pPr>
            <a:r>
              <a:t>Nvidia pasÃ³ de $360B (2020) a $3T+ (2024).</a:t>
            </a:r>
            <a:br/>
            <a:r>
              <a:t>La mayor creaciÃ³n de valor en la historia de la humanidad,</a:t>
            </a:r>
            <a:br/>
            <a:r>
              <a:t>en 4 aÃ±os.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37. Caso: Stripe â€” La EconomÃ­a de las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La oportunidad (2010)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Aceptar pagos online era COMPLEJÃSIMO: merchant account, gateway, PCI compliance, contracts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TÃ­picamente tomaba semanas configurar, costaba cientos de dÃ³lares en fees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Los founders (Collison brothers) entendÃ­an: los desarrolladores QUERÃAN pagar online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La soluciÃ³n (Zero to One)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7 lÃ­neas de cÃ³digo â†’ aceptar pagos. 'Stripe is the first payments company that developers love'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Pricing simple: 2.9% + $0.30. Sin contracts, sin monthly fees, sin setup fees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DocumentaciÃ³n excelente: los developers podÃ­an probar en sandbox en 5 minutos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Por quÃ© Stripe es un monopolio Thieliano: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ðŸ”· TecnologÃ­a propietaria: la API de Stripe es 10x mÃ¡s simple que cualquier competidor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ðŸ”· Network effects: mÃ¡s comercios â†’ mÃ¡s datos de fraude â†’ mejor detecciÃ³n â†’ mÃ¡s comercios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ðŸ”· EconomÃ­as de escala: infraestructura de pagos es fija, procesar $1 mÃ¡s cuesta ~$0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ðŸ”· Brand: Stripe = gold standard de payments. Nadie cuestiona Stripe como elecciÃ³n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300" b="0">
                <a:solidFill>
                  <a:srgbClr val="E2E8F0"/>
                </a:solidFill>
                <a:latin typeface="Calibri"/>
              </a:defRPr>
            </a:pPr>
            <a:r>
              <a:t>Resultado: $65B valuation (2024). EBITDA positivo. Fundadores multimillonarios sin vender. Stripe Atlas, Stripe Connect, Stripe Billing â†’ ecosistema entero construido sobre la API original de 7 lÃ­neas.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38. Caso: Airbnb â€” La Plataforma que CreÃ³ un Nuevo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La oportunidad vista con ojos Thiel/Arthur: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Mercado existente: hoteles (ofrecÃ­an habitaciones estandarizadas, caras)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Mercado invisible: millones de casas con habitaciones vacÃ­as (recursos ociosos)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 plataforma desbloqueÃ³ valor LATENTE (Parker et al.)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Las decisiones tÃ©cnicas correctas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Sistema de reputaciÃ³n bidireccional: hosts califican guests y viceversa (resuelve problema de confianza)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Pagos retenidos: Airbnb retiene el pago hasta 24h despuÃ©s del check-in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FotografÃ­a profesional: pagaron fotÃ³grafos para tomar fotos profesionales de los listings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Insurance ($1M host guarantee): redujo la barrera de riesgo para hosts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Los moats de Airbnb: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ðŸ”· Network effects: +hosts â†’ +guests â†’ +hosts (cross-side, indirectos)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ðŸ”· ReputaciÃ³n: 100M+ reviews no transferibles a otro platform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ðŸ”· Inventario Ãºnico: 7M+ properties que no existen en otro lado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ðŸ”· Brand: Airbnb = home-sharing. El verbo se volviÃ³ el producto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E8A83F"/>
                </a:solidFill>
                <a:latin typeface="Calibri"/>
              </a:defRPr>
            </a:pPr>
            <a:r>
              <a:t>"We started with airbeds on a floor in San Francisco.</a:t>
            </a:r>
            <a:br/>
            <a:r>
              <a:t>Now we have the largest inventory of accommodations in the world â€” and we own zero properties."</a:t>
            </a:r>
            <a:br/>
            <a:r>
              <a:t>â€” Brian Chesky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39. Power Law: El Retorno del Inversor SegÃºn Thiel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1400" b="0">
                <a:solidFill>
                  <a:srgbClr val="E8A83F"/>
                </a:solidFill>
                <a:latin typeface="Calibri"/>
              </a:defRPr>
            </a:pPr>
            <a:r>
              <a:t>"The biggest secret in venture capital is that the best investment in a successful fund equals or outperforms the entire rest of the fund combined" â€” Peter Thiel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200" b="1">
                <a:solidFill>
                  <a:srgbClr val="E8A83F"/>
                </a:solidFill>
                <a:latin typeface="Calibri"/>
              </a:defRPr>
            </a:pPr>
            <a:r>
              <a:t>La Power Law en Venture Capital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En un portfolio VC promedio: 1 inversiÃ³n genera +50% del retorno total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70% de las inversiones fracasan. 20% devuelven 1x. 10% devuelven 5x+. 1% devuelven 50x+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secreto: no diversificar. Encontrar la inversiÃ³n que puede ser 1000x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000" b="1">
                <a:solidFill>
                  <a:srgbClr val="2ECCA3"/>
                </a:solidFill>
                <a:latin typeface="Calibri"/>
              </a:defRPr>
            </a:pPr>
            <a:r>
              <a:t>AplicaciÃ³n a la economÃ­a del software: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No todas las startups de software ganan. Pocas ganan MUCHO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Pero cuando una gana, gana a escala global (costo marginal ~$0)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'fat tail' de la distribuciÃ³n de retornos se vuelve mÃ¡s gordo en la era digital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Por quÃ© los VCs invierten en 100 startups sabiendo que 99 perderÃ¡n: la power law garantiza que 1 puede devolver el fondo completo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 power law explica por quÃ© el capital de riesgo no se parece a ninguna otra clase de activo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83F"/>
                </a:solidFill>
                <a:latin typeface="Calibri"/>
              </a:defRPr>
            </a:pPr>
            <a:r>
              <a:t>PARTE XI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SÃ­ntesis:</a:t>
            </a:r>
            <a:br/>
            <a:r>
              <a:t>Compound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2E8F0"/>
                </a:solidFill>
                <a:latin typeface="Calibri"/>
              </a:defRPr>
            </a:pPr>
            <a:r>
              <a:t>CÃ³mo todas las piezas encajan en un framework unificado para entender (y construir) empresas de software que cambien el mundo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40. La Gran IntegraciÃ³n: CÃ³mo Todo se Conecta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El Flujo Unificado de CreaciÃ³n de Valor en Software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2ECCA3"/>
                </a:solidFill>
                <a:latin typeface="Calibri"/>
              </a:defRPr>
            </a:pPr>
            <a:r>
              <a:t>1. BIEN NO RIVAL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cÃ³digo es no rival â†’ puede ser usado simultÃ¡neamente por millones â†’ costo marginal ~$0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conocimiento incorporado en el cÃ³digo se APRECIA con el uso (Romer, Arthur)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2ECCA3"/>
                </a:solidFill>
                <a:latin typeface="Calibri"/>
              </a:defRPr>
            </a:pPr>
            <a:r>
              <a:t>2. RENDIMIENTOS CRECIENTES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Cada usuario adicional genera mÃ¡s datos, feedback, y valor que el anterior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Cada lÃ­nea de cÃ³digo nueva se construye sobre todo el cÃ³digo anterior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2ECCA3"/>
                </a:solidFill>
                <a:latin typeface="Calibri"/>
              </a:defRPr>
            </a:pPr>
            <a:r>
              <a:t>3. NETWORK EFFECTS + ECOSISTEMA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producto atrae usuarios; los usuarios atraen complementos; los complementos atraen mÃ¡s usuarios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 plataforma se convierte en la infraestructura de una industria (Parker et al.)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2ECCA3"/>
                </a:solidFill>
                <a:latin typeface="Calibri"/>
              </a:defRPr>
            </a:pPr>
            <a:r>
              <a:t>4. LOCK-IN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Datos, aprendizaje, integraciones, contratos â†’ switching costs altÃ­simos (Shapiro &amp; Varian)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cliente no puede irse sin perder aÃ±os de inversiÃ³n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2ECCA3"/>
                </a:solidFill>
                <a:latin typeface="Calibri"/>
              </a:defRPr>
            </a:pPr>
            <a:r>
              <a:t>5. MONOPOLIO TEMPORAL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Network effects + lock-in + data moats = monopolio Thieliano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Los competidores no pueden entrar porque los 'moats' crecen con el tiempo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41. Compound Everything: El Principio Unificador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1600" b="0">
                <a:solidFill>
                  <a:srgbClr val="E2E8F0"/>
                </a:solidFill>
                <a:latin typeface="Calibri"/>
              </a:defRPr>
            </a:pPr>
            <a:r>
              <a:t>El principio que une a Romer, Arthur, Thiel, Hoffman, Parker, Shapiro &amp; Varian: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200" b="1">
                <a:solidFill>
                  <a:srgbClr val="E8A83F"/>
                </a:solidFill>
                <a:latin typeface="Calibri"/>
              </a:defRPr>
            </a:pPr>
            <a:r>
              <a:t>"Compounding" en economÃ­a del software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ðŸ’° Efectos de red se COMPONEN: cada usuario agrega valor NO lineal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ðŸ“Š Datos se COMPONEN: mÃ¡s datos â†’ mejor producto â†’ mÃ¡s usuarios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ðŸ”’ Lock-in se COMPONE: cada aÃ±o de uso â†’ mÃ¡s switching costs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ðŸ§  Conocimiento se COMPONE: cada idea nueva se construye sobre las anteriores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ðŸ¢ EconomÃ­as de escala se COMPONEN: mÃ¡s clientes â†’ menor costo unitario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ðŸŒ Ecosistema se COMPONE: mÃ¡s complementos â†’ mÃ¡s valor â†’ mÃ¡s complementos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F4444"/>
                </a:solidFill>
                <a:latin typeface="Calibri"/>
              </a:defRPr>
            </a:pPr>
            <a:r>
              <a:t>Compounding â‰  crecimiento lineal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Crecimiento lineal: sumas. Compounding: multiplicas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El compounding es lo que convierte una startup de 3 personas en una empresa de $1T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 mayorÃ­a de las startups NO compoundean â€” escalan linealmente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  <a:latin typeface="Calibri"/>
              </a:defRPr>
            </a:pPr>
            <a:r>
              <a:t>Las startups que dominan el compounding (Meta, Google, Amazon, Nvidia) devoran industrias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E8A83F"/>
                </a:solidFill>
                <a:latin typeface="Calibri"/>
              </a:defRPr>
            </a:pPr>
            <a:r>
              <a:t>Pregunta clave para cada fundador: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E2E8F0"/>
                </a:solidFill>
                <a:latin typeface="Calibri"/>
              </a:defRPr>
            </a:pPr>
            <a:r>
              <a:t>"Â¿Mi producto se vuelve mÃ¡s valioso con cada usuario que agrego?</a:t>
            </a:r>
            <a:br/>
            <a:r>
              <a:t>Â¿O cada usuario adicional me cuesta lo mismo que el anterior?"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2ECCA3"/>
                </a:solidFill>
                <a:latin typeface="Calibri"/>
              </a:defRPr>
            </a:pPr>
            <a:r>
              <a:t>Si la respuesta es 'cuesta lo mismo' â†’ tienes un negocio lineal.</a:t>
            </a:r>
            <a:br/>
            <a:r>
              <a:t>Si la respuesta es 'vale mÃ¡s' â†’ tienes un asset exponencial.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42. Checklist: Â¿Tu Startup Tiene las Propiedades Correctas?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1600" b="0">
                <a:solidFill>
                  <a:srgbClr val="E8A83F"/>
                </a:solidFill>
                <a:latin typeface="Calibri"/>
              </a:defRPr>
            </a:pPr>
            <a:r>
              <a:t>Basado en los 9 autores + Christensen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r>
              <a:rPr sz="1400" b="1">
                <a:solidFill>
                  <a:srgbClr val="E8A83F"/>
                </a:solidFill>
                <a:latin typeface="Calibri"/>
              </a:rPr>
              <a:t>âœ…  Â¿El producto es 10x mejor que la alternativa?</a:t>
            </a:r>
          </a:p>
          <a:p>
            <a:pPr>
              <a:spcBef>
                <a:spcPts val="0"/>
              </a:spcBef>
              <a:defRPr sz="1100">
                <a:solidFill>
                  <a:srgbClr val="E2E8F0"/>
                </a:solidFill>
                <a:latin typeface="Calibri"/>
              </a:defRPr>
            </a:pPr>
            <a:r>
              <a:t>       Thiel: monopolio requiere 10x</a:t>
            </a:r>
          </a:p>
          <a:p>
            <a:r>
              <a:rPr sz="1400" b="1">
                <a:solidFill>
                  <a:srgbClr val="E8A83F"/>
                </a:solidFill>
                <a:latin typeface="Calibri"/>
              </a:rPr>
              <a:t>âœ…  Â¿Los costos marginales son cercanos a 0?</a:t>
            </a:r>
          </a:p>
          <a:p>
            <a:pPr>
              <a:spcBef>
                <a:spcPts val="0"/>
              </a:spcBef>
              <a:defRPr sz="1100">
                <a:solidFill>
                  <a:srgbClr val="E2E8F0"/>
                </a:solidFill>
                <a:latin typeface="Calibri"/>
              </a:defRPr>
            </a:pPr>
            <a:r>
              <a:t>       Romer: bien no rival = costo marginal ~$0</a:t>
            </a:r>
          </a:p>
          <a:p>
            <a:r>
              <a:rPr sz="1400" b="1">
                <a:solidFill>
                  <a:srgbClr val="E8A83F"/>
                </a:solidFill>
                <a:latin typeface="Calibri"/>
              </a:rPr>
              <a:t>âœ…  Â¿El producto mejora con mÃ¡s usuarios?</a:t>
            </a:r>
          </a:p>
          <a:p>
            <a:pPr>
              <a:spcBef>
                <a:spcPts val="0"/>
              </a:spcBef>
              <a:defRPr sz="1100">
                <a:solidFill>
                  <a:srgbClr val="E2E8F0"/>
                </a:solidFill>
                <a:latin typeface="Calibri"/>
              </a:defRPr>
            </a:pPr>
            <a:r>
              <a:t>       Arthur + Hoffman: network effects + data compounding</a:t>
            </a:r>
          </a:p>
          <a:p>
            <a:r>
              <a:rPr sz="1400" b="1">
                <a:solidFill>
                  <a:srgbClr val="E8A83F"/>
                </a:solidFill>
                <a:latin typeface="Calibri"/>
              </a:rPr>
              <a:t>âœ…  Â¿Hay switching costs altos?</a:t>
            </a:r>
          </a:p>
          <a:p>
            <a:pPr>
              <a:spcBef>
                <a:spcPts val="0"/>
              </a:spcBef>
              <a:defRPr sz="1100">
                <a:solidFill>
                  <a:srgbClr val="E2E8F0"/>
                </a:solidFill>
                <a:latin typeface="Calibri"/>
              </a:defRPr>
            </a:pPr>
            <a:r>
              <a:t>       Shapiro &amp; Varian: lock-in protege de competencia</a:t>
            </a:r>
          </a:p>
          <a:p>
            <a:r>
              <a:rPr sz="1400" b="1">
                <a:solidFill>
                  <a:srgbClr val="E8A83F"/>
                </a:solidFill>
                <a:latin typeface="Calibri"/>
              </a:rPr>
              <a:t>âœ…  Â¿Puedes escalar sin aumentar proporcionalmente costos?</a:t>
            </a:r>
          </a:p>
          <a:p>
            <a:pPr>
              <a:spcBef>
                <a:spcPts val="0"/>
              </a:spcBef>
              <a:defRPr sz="1100">
                <a:solidFill>
                  <a:srgbClr val="E2E8F0"/>
                </a:solidFill>
                <a:latin typeface="Calibri"/>
              </a:defRPr>
            </a:pPr>
            <a:r>
              <a:t>       AWS + SaaS: escalabilidad infinita</a:t>
            </a:r>
          </a:p>
          <a:p>
            <a:r>
              <a:rPr sz="1400" b="1">
                <a:solidFill>
                  <a:srgbClr val="E8A83F"/>
                </a:solidFill>
                <a:latin typeface="Calibri"/>
              </a:rPr>
              <a:t>âœ…  Â¿Hay algÃºn tipo de efecto de red?</a:t>
            </a:r>
          </a:p>
          <a:p>
            <a:pPr>
              <a:spcBef>
                <a:spcPts val="0"/>
              </a:spcBef>
              <a:defRPr sz="1100">
                <a:solidFill>
                  <a:srgbClr val="E2E8F0"/>
                </a:solidFill>
                <a:latin typeface="Calibri"/>
              </a:defRPr>
            </a:pPr>
            <a:r>
              <a:t>       Parker et al.: directo, indirecto, cross-side, data</a:t>
            </a:r>
          </a:p>
          <a:p>
            <a:r>
              <a:rPr sz="1400" b="1">
                <a:solidFill>
                  <a:srgbClr val="E8A83F"/>
                </a:solidFill>
                <a:latin typeface="Calibri"/>
              </a:rPr>
              <a:t>âœ…  Â¿El mercado es grande y el incumbente lento?</a:t>
            </a:r>
          </a:p>
          <a:p>
            <a:pPr>
              <a:spcBef>
                <a:spcPts val="0"/>
              </a:spcBef>
              <a:defRPr sz="1100">
                <a:solidFill>
                  <a:srgbClr val="E2E8F0"/>
                </a:solidFill>
                <a:latin typeface="Calibri"/>
              </a:defRPr>
            </a:pPr>
            <a:r>
              <a:t>       Christensen: dilema del innovador</a:t>
            </a:r>
          </a:p>
          <a:p>
            <a:r>
              <a:rPr sz="1400" b="1">
                <a:solidFill>
                  <a:srgbClr val="E8A83F"/>
                </a:solidFill>
                <a:latin typeface="Calibri"/>
              </a:rPr>
              <a:t>âœ…  Â¿Puedes capturar valor de la recombinaciÃ³n?</a:t>
            </a:r>
          </a:p>
          <a:p>
            <a:pPr>
              <a:spcBef>
                <a:spcPts val="0"/>
              </a:spcBef>
              <a:defRPr sz="1100">
                <a:solidFill>
                  <a:srgbClr val="E2E8F0"/>
                </a:solidFill>
                <a:latin typeface="Calibri"/>
              </a:defRPr>
            </a:pPr>
            <a:r>
              <a:t>       Weitzman: las ideas se combinan</a:t>
            </a:r>
          </a:p>
          <a:p>
            <a:r>
              <a:rPr sz="1400" b="1">
                <a:solidFill>
                  <a:srgbClr val="E8A83F"/>
                </a:solidFill>
                <a:latin typeface="Calibri"/>
              </a:rPr>
              <a:t>âœ…  Â¿Tu conocimiento se acumula aÃ±o a aÃ±o?</a:t>
            </a:r>
          </a:p>
          <a:p>
            <a:pPr>
              <a:spcBef>
                <a:spcPts val="0"/>
              </a:spcBef>
              <a:defRPr sz="1100">
                <a:solidFill>
                  <a:srgbClr val="E2E8F0"/>
                </a:solidFill>
                <a:latin typeface="Calibri"/>
              </a:defRPr>
            </a:pPr>
            <a:r>
              <a:t>       Romer: crecimiento endÃ³geno</a:t>
            </a:r>
          </a:p>
          <a:p>
            <a:r>
              <a:rPr sz="1400" b="1">
                <a:solidFill>
                  <a:srgbClr val="E8A83F"/>
                </a:solidFill>
                <a:latin typeface="Calibri"/>
              </a:rPr>
              <a:t>âœ…  Â¿Es 'Zero to One' (nueva categorÃ­a)?</a:t>
            </a:r>
          </a:p>
          <a:p>
            <a:pPr>
              <a:spcBef>
                <a:spcPts val="0"/>
              </a:spcBef>
              <a:defRPr sz="1100">
                <a:solidFill>
                  <a:srgbClr val="E2E8F0"/>
                </a:solidFill>
                <a:latin typeface="Calibri"/>
              </a:defRPr>
            </a:pPr>
            <a:r>
              <a:t>       Thiel: monopoly &gt; competition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A83F"/>
                </a:solidFill>
                <a:latin typeface="Calibri"/>
              </a:defRPr>
            </a:pPr>
            <a:r>
              <a:t>"Does your business get better the more you use it?"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2E8F0"/>
                </a:solidFill>
                <a:latin typeface="Calibri"/>
              </a:defRPr>
            </a:pPr>
            <a:r>
              <a:t>Si la respuesta es SÃ, tienes un asset exponencial.</a:t>
            </a:r>
            <a:br/>
            <a:r>
              <a:t>Si la respuesta es NO, tienes un commodity.</a:t>
            </a:r>
            <a:br/>
            <a:br/>
            <a:r>
              <a:t>Arthur Â· Romer Â· Weitzman Â· Schumpeter</a:t>
            </a:r>
            <a:br/>
            <a:r>
              <a:t>Shapiro &amp; Varian Â· Benkler</a:t>
            </a:r>
            <a:br/>
            <a:r>
              <a:t>Parker, Van Alstyne &amp; Choudary</a:t>
            </a:r>
            <a:br/>
            <a:r>
              <a:t>Hoffman Â· Thiel Â· Brynjolfsson &amp; McAfee</a:t>
            </a:r>
            <a:br/>
            <a:r>
              <a:t>â€” todos llegan a la misma conclusiÃ³n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48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A83F"/>
                </a:solidFill>
                <a:latin typeface="Calibri"/>
              </a:defRPr>
            </a:pPr>
            <a:r>
              <a:t>CATALAXIA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La EconomÃ­a del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2E8F0"/>
                </a:solidFill>
                <a:latin typeface="Calibri"/>
              </a:defRPr>
            </a:pPr>
            <a:r>
              <a:t>Las decisiones tÃ©cnicas que tomamos hoy</a:t>
            </a:r>
            <a:br/>
            <a:r>
              <a:t>crean el valor econÃ³mico que cosecharemos maÃ±ana.</a:t>
            </a:r>
            <a:br/>
            <a:br/>
            <a:r>
              <a:t>Cada lÃ­nea de cÃ³digo es capital intelectual.</a:t>
            </a:r>
            <a:br/>
            <a:r>
              <a:t>Cada API es una puerta a la recombinaciÃ³n.</a:t>
            </a:r>
            <a:br/>
            <a:r>
              <a:t>Cada usuario es un contribuyente al compounding.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Julio 2026 Â· 11 Grandes Libros Â· 1 Framework Unificado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A83F"/>
                </a:solidFill>
                <a:latin typeface="Calibri"/>
              </a:defRPr>
            </a:pPr>
            <a:r>
              <a:t>BibliografÃ­a Esencial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600"/>
              </a:spcBef>
              <a:defRPr sz="2000" b="1">
                <a:solidFill>
                  <a:srgbClr val="E8A83F"/>
                </a:solidFill>
                <a:latin typeface="Calibri"/>
              </a:defRPr>
            </a:pPr>
            <a:r>
              <a:t>Lecturas Fundamentales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  <a:latin typeface="Calibri"/>
              </a:defRPr>
            </a:pPr>
            <a:r>
              <a:t>  â†’  Romer, P. (1990). Endogenous Technological Change. Journal of Political Economy, 98(5), S71-S102.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  <a:latin typeface="Calibri"/>
              </a:defRPr>
            </a:pPr>
            <a:r>
              <a:t>  â†’  Arthur, W.B. (1996). Increasing Returns and the New World of Business. Harvard Business Review.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  <a:latin typeface="Calibri"/>
              </a:defRPr>
            </a:pPr>
            <a:r>
              <a:t>  â†’  Shapiro, C. &amp; Varian, H. (1999). Information Rules. Harvard Business School Press.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  <a:latin typeface="Calibri"/>
              </a:defRPr>
            </a:pPr>
            <a:r>
              <a:t>  â†’  Parker, G., Van Alstyne, M. &amp; Choudary, S.P. (2016). Platform Revolution. W.W. Norton.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  <a:latin typeface="Calibri"/>
              </a:defRPr>
            </a:pPr>
            <a:r>
              <a:t>  â†’  Benkler, Y. (2006). The Wealth of Networks. Yale University Press.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  <a:latin typeface="Calibri"/>
              </a:defRPr>
            </a:pPr>
            <a:r>
              <a:t>  â†’  Brynjolfsson, E. &amp; McAfee, A. (2014). The Second Machine Age. W.W. Norton.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  <a:latin typeface="Calibri"/>
              </a:defRPr>
            </a:pPr>
            <a:r>
              <a:t>  â†’  Schumpeter, J. (1942). Capitalism, Socialism and Democracy. Harper &amp; Brothers.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  <a:latin typeface="Calibri"/>
              </a:defRPr>
            </a:pPr>
            <a:r>
              <a:t>  â†’  Thiel, P. (2014). Zero to One. Crown Business.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  <a:latin typeface="Calibri"/>
              </a:defRPr>
            </a:pPr>
            <a:r>
              <a:t>  â†’  Hoffman, R. (2018). Blitzscaling. Currency.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  <a:latin typeface="Calibri"/>
              </a:defRPr>
            </a:pPr>
            <a:r>
              <a:t>  â†’  Christensen, C. (1997). The Innovator's Dilemma. Harvard Business Review Press.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  <a:latin typeface="Calibri"/>
              </a:defRPr>
            </a:pPr>
            <a:r>
              <a:t>  â†’  David, P. (1985). Clio and the Economics of QWERTY. American Economic Review, 75(2), 332-337.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A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E8A83F"/>
                </a:solidFill>
                <a:latin typeface="Calibri"/>
              </a:defRPr>
            </a:pPr>
            <a: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2E8F0"/>
                </a:solidFill>
                <a:latin typeface="Calibri"/>
              </a:defRPr>
            </a:pPr>
            <a:r>
              <a:t>El software no es solo tecnologÃ­a.</a:t>
            </a:r>
            <a:br/>
            <a:r>
              <a:t>Es la mÃ¡quina de compounding mÃ¡s poderosa jamÃ¡s creada.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A83F"/>
                </a:solidFill>
                <a:latin typeface="Calibri"/>
              </a:defRPr>
            </a:pPr>
            <a:r>
              <a:t>catalaxiaresearch.com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Catalaxia Research Â· Slide 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