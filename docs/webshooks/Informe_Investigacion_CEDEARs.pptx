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SPrxxWZoyE+vQkm235kgQKO7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5a6b7f5e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e5a6b7f5e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5a6b7f5e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0" y="0"/>
            <a:ext cx="45720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20040"/>
            <a:ext cx="128016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411480" y="8412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Informe de Investigación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1480" y="1234440"/>
            <a:ext cx="4754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de Datos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CEDEARs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2633472"/>
            <a:ext cx="4754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De la API de BYMA al Excel de Seguimiento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3163824"/>
            <a:ext cx="2560320" cy="3657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11480" y="332841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Fase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828800" y="332841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Investigación y desarrollo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11480" y="36301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Scripts ejecutados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828800" y="363016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pasos (02 → 08)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11480" y="39319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Tickers procesados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828800" y="39319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2.176 BYMA → 502 únicos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1480" y="42336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con datos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828800" y="42336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415 con ratios calculados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11480" y="453542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Fecha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828800" y="453542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Mayo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852160" y="64008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2.176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852160" y="12344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Tickers raw BYMA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852160" y="173736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502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852160" y="23317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CEDEARs únicos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852160" y="283464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295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852160" y="34290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en 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5852160" y="393192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415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852160" y="45262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Ratios calculados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Módulo Análisis Financiero CEDEARs  ·  Confidencial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Problema — ¿Por qué se desarrolló esto?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47472" y="786384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El equipo de Catalaxia realizaba el seguimiento de CEDEARs de forma completamente manual: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precios buscados a mano, ratios copiados de Investing o Bloomberg, Excel actualizado una vez por semana.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47472" y="1417320"/>
            <a:ext cx="2724912" cy="2816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47472" y="1417320"/>
            <a:ext cx="2724912" cy="475488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38912" y="1417320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Proceso manual insostenible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1956816"/>
            <a:ext cx="2487168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502 CEDEARs × 16 ratios = 8.032 datos a actualizar. Una persona tardaba 2-3 horas semanales solo en copiar y pegar precios y fundamentals.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0" y="1417320"/>
            <a:ext cx="2724912" cy="2816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200400" y="1417320"/>
            <a:ext cx="2724912" cy="47548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91840" y="1417320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inconsistentes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310128" y="1956816"/>
            <a:ext cx="2487168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Diferentes fuentes (Investing, Yahoo, Bloomberg) daban valores distintos para el mismo ratio. Sin auditoría posible de de dónde venía cada número.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053328" y="1417320"/>
            <a:ext cx="2724912" cy="2816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053328" y="1417320"/>
            <a:ext cx="2724912" cy="475488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144768" y="1417320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historia ni trazabilidad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163056" y="1956816"/>
            <a:ext cx="2487168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El Excel era estático. No había serie histórica de precios, no había versiones anteriores, no era posible ver la evolución de los ratios en el tiempo.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47472" y="4334256"/>
            <a:ext cx="8449056" cy="34747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57200" y="433425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Solución: pipeline automatizado de 8 pasos que descarga, mapea, calcula y exporta 415 empresas en menos de 3 minutos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Completo — 8 Pasos de ETL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47472" y="768096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Cada script es un paso independiente con input y output definidos. Se pueden correr secuencialmente o de forma selectiva.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47472" y="11704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47472" y="1170432"/>
            <a:ext cx="2029968" cy="32918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106424" y="9875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106424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20624" y="11887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cedears_base_ars.json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38912" y="15544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BYMA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502 tickers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505456" y="11704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505456" y="1170432"/>
            <a:ext cx="2029968" cy="32918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264408" y="9875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264408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578608" y="11887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02_mapear_cedears_sec.py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596896" y="15544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BYMA ticker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→ CIK SEC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422 mapeados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663440" y="11704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663440" y="1170432"/>
            <a:ext cx="2029968" cy="32918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422392" y="9875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422392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736592" y="11887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03_descargar_financials_sec.py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754880" y="15544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SEC EDGAR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XBRL 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295 empresas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821424" y="11704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821424" y="1170432"/>
            <a:ext cx="2029968" cy="329184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580376" y="9875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580376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94576" y="11887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04_descargar_precios.py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912864" y="15544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Yahoo Finance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yfinance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295 precios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47472" y="29992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347472" y="2999232"/>
            <a:ext cx="2029968" cy="329184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106424" y="28163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106424" y="28163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20624" y="30175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05_calcular_ratios.py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38912" y="33832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TTM, CAGR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16 ratios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415 filas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505456" y="29992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505456" y="2999232"/>
            <a:ext cx="2029968" cy="32918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3264408" y="28163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3264408" y="28163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578608" y="30175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06_precios_historicos.py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596896" y="33832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OHLCV diario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5+ años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295 CSVs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663440" y="29992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663440" y="2999232"/>
            <a:ext cx="2029968" cy="329184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5422392" y="28163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422392" y="28163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736592" y="30175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07_byma_locales.py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754880" y="33832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Acciones ARG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yfinance .BA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79 locales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821424" y="2999232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821424" y="2999232"/>
            <a:ext cx="2029968" cy="329184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7580376" y="281635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580376" y="28163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894576" y="30175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08_generar_dataset_etl.py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912864" y="3383280"/>
            <a:ext cx="18470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company_master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PostgreSQL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data_export/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297680" y="27614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5a6b7f5e2_0_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5a6b7f5e2_0_0"/>
          <p:cNvSpPr/>
          <p:nvPr/>
        </p:nvSpPr>
        <p:spPr>
          <a:xfrm>
            <a:off x="5486400" y="0"/>
            <a:ext cx="45600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g3e5a6b7f5e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20040"/>
            <a:ext cx="128016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e5a6b7f5e2_0_0"/>
          <p:cNvSpPr/>
          <p:nvPr/>
        </p:nvSpPr>
        <p:spPr>
          <a:xfrm>
            <a:off x="411480" y="841248"/>
            <a:ext cx="475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Informe de Investigación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5a6b7f5e2_0_0"/>
          <p:cNvSpPr/>
          <p:nvPr/>
        </p:nvSpPr>
        <p:spPr>
          <a:xfrm>
            <a:off x="411480" y="1234440"/>
            <a:ext cx="4755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de Datos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CEDEARs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5a6b7f5e2_0_0"/>
          <p:cNvSpPr/>
          <p:nvPr/>
        </p:nvSpPr>
        <p:spPr>
          <a:xfrm>
            <a:off x="411480" y="2633472"/>
            <a:ext cx="4755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De la API de BYMA al Excel de Seguimiento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5a6b7f5e2_0_0"/>
          <p:cNvSpPr/>
          <p:nvPr/>
        </p:nvSpPr>
        <p:spPr>
          <a:xfrm>
            <a:off x="411480" y="3163824"/>
            <a:ext cx="2560200" cy="366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5a6b7f5e2_0_0"/>
          <p:cNvSpPr/>
          <p:nvPr/>
        </p:nvSpPr>
        <p:spPr>
          <a:xfrm>
            <a:off x="411480" y="332841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Fase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5a6b7f5e2_0_0"/>
          <p:cNvSpPr/>
          <p:nvPr/>
        </p:nvSpPr>
        <p:spPr>
          <a:xfrm>
            <a:off x="1828800" y="3328416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Investigación y desarrollo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e5a6b7f5e2_0_0"/>
          <p:cNvSpPr/>
          <p:nvPr/>
        </p:nvSpPr>
        <p:spPr>
          <a:xfrm>
            <a:off x="411480" y="363016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Scripts ejecutados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5a6b7f5e2_0_0"/>
          <p:cNvSpPr/>
          <p:nvPr/>
        </p:nvSpPr>
        <p:spPr>
          <a:xfrm>
            <a:off x="1828800" y="3630168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pasos (02 → 08)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5a6b7f5e2_0_0"/>
          <p:cNvSpPr/>
          <p:nvPr/>
        </p:nvSpPr>
        <p:spPr>
          <a:xfrm>
            <a:off x="411480" y="393192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Tickers procesados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5a6b7f5e2_0_0"/>
          <p:cNvSpPr/>
          <p:nvPr/>
        </p:nvSpPr>
        <p:spPr>
          <a:xfrm>
            <a:off x="1828800" y="393192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2.176 BYMA → 502 únicos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5a6b7f5e2_0_0"/>
          <p:cNvSpPr/>
          <p:nvPr/>
        </p:nvSpPr>
        <p:spPr>
          <a:xfrm>
            <a:off x="411480" y="423367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con datos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5a6b7f5e2_0_0"/>
          <p:cNvSpPr/>
          <p:nvPr/>
        </p:nvSpPr>
        <p:spPr>
          <a:xfrm>
            <a:off x="1828800" y="4233672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415 con ratios calculados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5a6b7f5e2_0_0"/>
          <p:cNvSpPr/>
          <p:nvPr/>
        </p:nvSpPr>
        <p:spPr>
          <a:xfrm>
            <a:off x="411480" y="453542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Fecha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5a6b7f5e2_0_0"/>
          <p:cNvSpPr/>
          <p:nvPr/>
        </p:nvSpPr>
        <p:spPr>
          <a:xfrm>
            <a:off x="1828800" y="4535424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Mayo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5a6b7f5e2_0_0"/>
          <p:cNvSpPr/>
          <p:nvPr/>
        </p:nvSpPr>
        <p:spPr>
          <a:xfrm>
            <a:off x="5852160" y="64008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2.176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5a6b7f5e2_0_0"/>
          <p:cNvSpPr/>
          <p:nvPr/>
        </p:nvSpPr>
        <p:spPr>
          <a:xfrm>
            <a:off x="5852160" y="123444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Tickers raw BYMA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5a6b7f5e2_0_0"/>
          <p:cNvSpPr/>
          <p:nvPr/>
        </p:nvSpPr>
        <p:spPr>
          <a:xfrm>
            <a:off x="5852160" y="173736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502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5a6b7f5e2_0_0"/>
          <p:cNvSpPr/>
          <p:nvPr/>
        </p:nvSpPr>
        <p:spPr>
          <a:xfrm>
            <a:off x="5852160" y="233172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CEDEARs únicos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5a6b7f5e2_0_0"/>
          <p:cNvSpPr/>
          <p:nvPr/>
        </p:nvSpPr>
        <p:spPr>
          <a:xfrm>
            <a:off x="5852160" y="283464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295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e5a6b7f5e2_0_0"/>
          <p:cNvSpPr/>
          <p:nvPr/>
        </p:nvSpPr>
        <p:spPr>
          <a:xfrm>
            <a:off x="5852160" y="342900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en 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5a6b7f5e2_0_0"/>
          <p:cNvSpPr/>
          <p:nvPr/>
        </p:nvSpPr>
        <p:spPr>
          <a:xfrm>
            <a:off x="5852160" y="393192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415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e5a6b7f5e2_0_0"/>
          <p:cNvSpPr/>
          <p:nvPr/>
        </p:nvSpPr>
        <p:spPr>
          <a:xfrm>
            <a:off x="5852160" y="452628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Ratios calculados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5a6b7f5e2_0_0"/>
          <p:cNvSpPr/>
          <p:nvPr/>
        </p:nvSpPr>
        <p:spPr>
          <a:xfrm>
            <a:off x="411480" y="4892040"/>
            <a:ext cx="832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Módulo Análisis Financiero CEDEARs  ·  Confidencial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2 — Mapeo BYMA → SEC EDGAR (el más complejo)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El mayor desafío técnico del proyecto: los tickers de BYMA no coinciden 1:1 con los de SEC EDGAR. Requirió investigación manual y reglas de normalización.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347472" y="1207008"/>
            <a:ext cx="1993392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347472" y="1207008"/>
            <a:ext cx="45720" cy="98755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38912" y="1261872"/>
            <a:ext cx="1828800" cy="553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502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20624" y="1799539"/>
            <a:ext cx="1865376" cy="23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Tickers BYMA 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20624" y="2036552"/>
            <a:ext cx="1865376" cy="138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cedears_base_ars.json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2505456" y="1207008"/>
            <a:ext cx="1993392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2505456" y="1207008"/>
            <a:ext cx="45720" cy="987552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2596896" y="1261872"/>
            <a:ext cx="1828800" cy="553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422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2578608" y="1799539"/>
            <a:ext cx="1865376" cy="23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Mapeados con CIK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2578608" y="2036552"/>
            <a:ext cx="1865376" cy="138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84% de cobertura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4663440" y="1207008"/>
            <a:ext cx="1993392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4663440" y="1207008"/>
            <a:ext cx="45720" cy="987552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4754880" y="1261872"/>
            <a:ext cx="1828800" cy="553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~50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736592" y="1799539"/>
            <a:ext cx="1865376" cy="23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ETFs (sin fundamentals)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4736592" y="2036552"/>
            <a:ext cx="1865376" cy="138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sin CIK en SEC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6821424" y="1207008"/>
            <a:ext cx="1993392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6821424" y="1207008"/>
            <a:ext cx="45720" cy="987552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6912864" y="1261872"/>
            <a:ext cx="1828800" cy="553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~30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6894576" y="1799539"/>
            <a:ext cx="1865376" cy="23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No-USA sin ADR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6894576" y="2036552"/>
            <a:ext cx="1865376" cy="138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BBDC3, PETR3, etc.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47472" y="2322576"/>
            <a:ext cx="4133088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347472" y="2322576"/>
            <a:ext cx="45720" cy="118872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457200" y="237744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Sufijos BYMA duplicados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457200" y="2615184"/>
            <a:ext cx="391363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AAPL vs AAPLB (misma acción, distintos precios ARS)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BRK-B mapeado como BRKB y BRKBB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Regla: remover sufijo B y buscar en SEC primero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347472" y="3602736"/>
            <a:ext cx="4133088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347472" y="3602736"/>
            <a:ext cx="45720" cy="118872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457200" y="365760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Tickers con puntos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457200" y="3895344"/>
            <a:ext cx="391363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AKO.B → AKO-B en Yahoo Finance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ADS.B → BFH (Alliance Data cambió nombre)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30+ casos de normalización manual en MANUALES dict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4608576" y="2322576"/>
            <a:ext cx="4133088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4608576" y="2322576"/>
            <a:ext cx="45720" cy="11887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4718304" y="237744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Brasileños con ADR NYSE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4718304" y="2615184"/>
            <a:ext cx="391363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ABEV3 → ABEV (NYSE), ITUB3 → ITUB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VALE3 → VALE, PETR3 → PBR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BBDC3 → BBD, CSNA3 → SID, TIMS3 → TIMB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4608576" y="3602736"/>
            <a:ext cx="4133088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4608576" y="3602736"/>
            <a:ext cx="45720" cy="11887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4718304" y="365760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ETFs sin datos fundamentales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4718304" y="3895344"/>
            <a:ext cx="391363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~50 ETFs excluidos (IVV, QQQ, GDX, etc.)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ETFs no reportan 10-K ni 20-F a SEC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 conservan en el dataset como tipo='etf'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3 — Descarga de Financials desde SEC EDGAR XBRL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47472" y="768096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Fuente primaria de fundamentals: data.sec.gov/api/xbrl/companyfacts/{CIK}.json · Gratis · Sin auth · Rate limit respetado (0.15s entre requests)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47472" y="1133856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347472" y="1133856"/>
            <a:ext cx="45720" cy="877824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438912" y="1188720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295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20624" y="1660550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Empresas descargadas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2505456" y="1133856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2505456" y="1133856"/>
            <a:ext cx="45720" cy="877824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2596896" y="1188720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291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2578608" y="1660550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Con datos OK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663440" y="1133856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4663440" y="1133856"/>
            <a:ext cx="45720" cy="877824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4754880" y="1188720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736592" y="1660550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Errores HTTP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6821424" y="1133856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6821424" y="1133856"/>
            <a:ext cx="45720" cy="87782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6912864" y="1188720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894576" y="1660550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Métricas GAAP extraídas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347472" y="2103120"/>
            <a:ext cx="2724912" cy="2670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347472" y="2103120"/>
            <a:ext cx="2724912" cy="38404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38912" y="210312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Income Statement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38912" y="2523744"/>
            <a:ext cx="2560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Revenues (+ 2 tags alt.)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NetIncomeLoss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GrossProfit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OperatingIncomeLoss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EPS Básico y Diluido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Shares ponderadas diluted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3200400" y="2103120"/>
            <a:ext cx="2724912" cy="2670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3200400" y="2103120"/>
            <a:ext cx="2724912" cy="38404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3291840" y="210312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 Sheet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291840" y="2523744"/>
            <a:ext cx="2560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Assets + AssetsCurrent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Liabilities + LiabilitiesCurrent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StockholdersEquity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LongTermDebt (3 variantes)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ShortTermBorrowings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Cash &amp; Equivalents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6053328" y="2103120"/>
            <a:ext cx="2724912" cy="2670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6053328" y="2103120"/>
            <a:ext cx="2724912" cy="38404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6144768" y="210312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Cash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6144768" y="2523744"/>
            <a:ext cx="2560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CFO (Operating Activities)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CapEx (PaymentsToAcquire...)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Investing Activities total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Financing Activities total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Dividendos (2 tags)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D&amp;A (3 tags alternativos)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347472" y="4809744"/>
            <a:ext cx="8449056" cy="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347472" y="4809744"/>
            <a:ext cx="84490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Dedup: por (start, end) conservando el filed más reciente — maneja restatements automáticamente. Schema v3.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5 — Cálculo de Ratios: el corazón del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05_calcular_ratios.py toma los financials crudos de SEC EDGAR + precios de yfinance y produce el seguimiento.csv final — 415 empresas con 16 ratios cada una.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347472" y="1188720"/>
            <a:ext cx="8449056" cy="2743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402336" y="1188720"/>
            <a:ext cx="3419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3895344" y="1188720"/>
            <a:ext cx="2944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Fórmula (inputs de SEC EDGAR)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6912864" y="118872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Cobertura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47472" y="1463040"/>
            <a:ext cx="844905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402336" y="1499616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Precio USD + 52w Hi/Lo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3895344" y="1499616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yfinance fast_info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6912864" y="1517904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6912864" y="15179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347472" y="1773936"/>
            <a:ext cx="8449056" cy="310896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402336" y="1810512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Dif. vs Máx / Dif. vs Mín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3895344" y="1810512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(precio/52w_hi)-1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6912864" y="1828800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6912864" y="18288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347472" y="2084832"/>
            <a:ext cx="844905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402336" y="2121408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PER TTM (diluted)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3895344" y="2121408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precio / (NetIncome_TTM / shares)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6912864" y="2139696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6912864" y="21396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65.1%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347472" y="2395728"/>
            <a:ext cx="8449056" cy="310896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/>
          <p:nvPr/>
        </p:nvSpPr>
        <p:spPr>
          <a:xfrm>
            <a:off x="402336" y="2432304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EPS TTM diluted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3895344" y="2432304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NetIncomeLoss_TTM / diluted_shares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6912864" y="2450592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6912864" y="24505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65.1%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347472" y="2706624"/>
            <a:ext cx="844905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402336" y="2743200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Margen Neto TTM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3895344" y="2743200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NetIncome / Revenue (fallback 2 tags)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6912864" y="2761488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6912864" y="27614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71.6%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347472" y="3017520"/>
            <a:ext cx="8449056" cy="310896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02336" y="3054096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Deuda LP / EBITDA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3895344" y="3054096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LongTermDebt / (OpInc + D&amp;A)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6912864" y="3072384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6912864" y="30723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56.1%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347472" y="3328416"/>
            <a:ext cx="844905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402336" y="3364992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Deuda Total / EBITDA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3895344" y="3364992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(LT+ST+Curr) / EBITDA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6912864" y="3383280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6912864" y="33832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56.1%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347472" y="3639312"/>
            <a:ext cx="8449056" cy="310896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402336" y="3675888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FCFonCE (variante 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895344" y="3675888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FCF / (Equity + LTDebt)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6912864" y="3694176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6912864" y="369417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60.7%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47472" y="3950208"/>
            <a:ext cx="844905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402336" y="3986784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FCFonCE (variante B)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3895344" y="3986784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FCF / (Equity + Deuda - Cash)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6912864" y="4005072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6912864" y="40050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60.7%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347472" y="4261104"/>
            <a:ext cx="8449056" cy="310896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402336" y="4297680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ROE CAGR 5 años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3895344" y="4297680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CAGR(ROE_anual, 5 años)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6912864" y="4315968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6912864" y="43159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41.2%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347472" y="4572000"/>
            <a:ext cx="844905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402336" y="4608576"/>
            <a:ext cx="3364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Payout TTM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3895344" y="4608576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Dividendos_TTM / NetIncome_TTM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6912864" y="4626864"/>
            <a:ext cx="91440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6912864" y="46268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~35%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6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7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Decisión Técnica — Cómo se calcula el TTM correctamente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TTM (Trailing Twelve Months) no se puede obtener directamente de SEC EDGAR. Hay que construirlo desde los datos crudos — y esta fue la parte más difícil del script 05.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347472" y="1225296"/>
            <a:ext cx="413308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347472" y="1225296"/>
            <a:ext cx="4133088" cy="329184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457200" y="1225296"/>
            <a:ext cx="3913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problema — Valores YTD acumulados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457200" y="1609344"/>
            <a:ext cx="391363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Las empresas USA reportan 10-Q con valores YTD acumulados desde inicio del año fiscal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El Q3 de Income Statement = Q1+Q2+Q3 (no solo Q3)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Sumar los 4 últimos 10-Q ingenuamente triplica Q1 y duplica 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Hay que detectar si es standalone (~90 días) o YTD (~180-270 días)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4663440" y="1225296"/>
            <a:ext cx="413308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4663440" y="1225296"/>
            <a:ext cx="4133088" cy="329184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4773168" y="1225296"/>
            <a:ext cx="3913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solución — Estrategia A→B→C en orden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4773168" y="1609344"/>
            <a:ext cx="391363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A) 4 trimestres standalone (~90 días) → sumar directamente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B) TTM = Anual + YTD_actual − YTD_año_anterior (canónico)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C) Último anual solo (~365 días) como fallback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Detección por (end - start) en días: &lt;120 = Q, &lt;210 = semi, &lt;300 = 9M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347472" y="3035808"/>
            <a:ext cx="4133088" cy="14996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347472" y="3035808"/>
            <a:ext cx="4133088" cy="32918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457200" y="3035808"/>
            <a:ext cx="3913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Fallback entre tags XBRL equivalentes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457200" y="3419856"/>
            <a:ext cx="3913632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Revenue: Revenues → RevenueFromContract... → SalesRevenueNet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D&amp;A: DepreciationDepletionAndAmortization → Depreciation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CapEx: PaymentsToAcquirePP&amp;E → PaymentsToAcquireProductiveAssets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Siempre se elige el tag con el dato más reciente (no el primero)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4663440" y="3035808"/>
            <a:ext cx="4133088" cy="14996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7"/>
          <p:cNvSpPr/>
          <p:nvPr/>
        </p:nvSpPr>
        <p:spPr>
          <a:xfrm>
            <a:off x="4663440" y="3035808"/>
            <a:ext cx="4133088" cy="329184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"/>
          <p:cNvSpPr/>
          <p:nvPr/>
        </p:nvSpPr>
        <p:spPr>
          <a:xfrm>
            <a:off x="4773168" y="3035808"/>
            <a:ext cx="3913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CAGR 5 años — ROE y EPS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4773168" y="3419856"/>
            <a:ext cx="3913632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 construye una serie de ROE anual: NetIncome_FY / Equity_FY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CAGR = (ROE_fin / ROE_ini)^(1/5) − 1 sobre 5 años consecutivos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Para CAGR EPS: EPS calculado año a año y luego CAGR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Cobertura menor (~41%) porque requiere 5 años de historia continua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7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8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Pasos 6, 7 y 8 — Historia, Locales y ETL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347472" y="786384"/>
            <a:ext cx="2724912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347472" y="786384"/>
            <a:ext cx="2724912" cy="347472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438912" y="78638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6 — Precios Históricos (5 años)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57200" y="1188720"/>
            <a:ext cx="254203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Script: 06_descargar_precios_historicos.py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295 tickers × OHLCV diario desde 2021-01-01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Formato: 1 CSV por ticker con columnas date, open, high, low, close, volume, adj_close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Manejo dual: auto_adjust=False primero, luego True como fallback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Resume automáticamente si se interrumpe (skip si CSV existe)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Total estimado: ~350.000 filas de precios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Uso futuro: gráficos de evolución, backtesting, series de ratios históricos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3200400" y="786384"/>
            <a:ext cx="2724912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3200400" y="786384"/>
            <a:ext cx="2724912" cy="347472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3291840" y="78638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7 — Acciones BYMA Locales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310128" y="1188720"/>
            <a:ext cx="254203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Script: 07_descargar_byma_locales.py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169 candidatos identificados (lista curada de ARG)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79 con datos en yfinance con sufijo .BA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90 sin datos — muchas micro-caps sin cobertura Yahoo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Incluye: GGAL, YPFD, TXAR, PAMP, TECO2, IRSA, BMA...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Excluye CEDEARs que compartan símbolo con una local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PyOBD como fuente alternativa si está instalado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6053328" y="786384"/>
            <a:ext cx="27432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6053328" y="786384"/>
            <a:ext cx="2743200" cy="347472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6144768" y="786384"/>
            <a:ext cx="2578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8 — Dataset ETL para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6163056" y="1188720"/>
            <a:ext cx="25603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Script: 08_generar_dataset_etl.py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Genera data_export/ con 4 subcarpetas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company_master.csv: todos los tickers (CEDEARs + locales)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current_ratios.csv: seguimiento.csv normalizado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quarterly_fundamentals/: un CSV por empresa con datos trimestrales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daily_prices/: copia de los históricos con metadatos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byma_locales/: acciones ARG con su metadata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Listo para import directo a PostgreSQL con COPY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8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9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Resultado — seguimiento.csv: el Excel final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El output del Paso 5 es seguimiento.csv — la versión automatizada del Excel manual que llevaba Catalaxia. 415 empresas, 16 ratios, generado en ~3 minutos.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47472" y="1188720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347472" y="1188720"/>
            <a:ext cx="45720" cy="877824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438912" y="1243584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415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420624" y="1715414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Empresas con ratios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2505456" y="1188720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2505456" y="1188720"/>
            <a:ext cx="45720" cy="87782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2596896" y="1243584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2578608" y="1715414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Columnas de ratios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663440" y="1188720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4663440" y="1188720"/>
            <a:ext cx="45720" cy="877824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4754880" y="1243584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4736592" y="1715414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Cobertura PER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6821424" y="1188720"/>
            <a:ext cx="1993392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6821424" y="1188720"/>
            <a:ext cx="45720" cy="877824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6912864" y="1243584"/>
            <a:ext cx="1828800" cy="4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894576" y="1715414"/>
            <a:ext cx="1865376" cy="21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Cobertura Margen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347472" y="2176272"/>
            <a:ext cx="4133088" cy="25054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347472" y="2176272"/>
            <a:ext cx="4133088" cy="329184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438912" y="2176272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Columnas de precios (100% cobertura)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457200" y="2560320"/>
            <a:ext cx="3950208" cy="2066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byma_ticker — ticker BYMA (ej: AAPL)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ticker_sec — ticker SEC (puede diferir)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nombre — nombre oficial SEC EDGAR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cik — ID único en SEC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exchange — NMS, NYQ, NGM...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precio_usd — último precio USD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year_high / year_low — rango 52 semanas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dif_max_52w / dif_min_52w — % vs rango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4663440" y="2176272"/>
            <a:ext cx="4133088" cy="25054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4663440" y="2176272"/>
            <a:ext cx="4133088" cy="32918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4754880" y="2176272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Columnas de ratios fundamentales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4773168" y="2560320"/>
            <a:ext cx="3950208" cy="2066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per_ttm — PER Trailing 12 Months diluted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eps_ttm_diluted — EPS TTM en USD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cagr_eps_5y — CAGR EPS últimos 5 años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margen_neto_ttm — Margen neto TTM 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roe_cagr_5y — CAGR del ROE 5 años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fcfonce_equity_lp / fcfonce_neto_caja — 2 variantes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deuda_lp_sobre_ebitda / deuda_total_sobre_ebitda — 2 variantes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payout_ttm — Payout Ratio TTM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347472" y="4754880"/>
            <a:ext cx="84490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El CSV incluye también columnas _debug (_revenue_ttm, _netincome_ttm, etc.) que permiten auditar de dónde vino cada ratio calculado.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9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2" name="Google Shape;4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0"/>
          <p:cNvSpPr/>
          <p:nvPr/>
        </p:nvSpPr>
        <p:spPr>
          <a:xfrm>
            <a:off x="2926080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Cobertura Real y Limitaciones Conocidas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347472" y="768096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La investigación identificó los límites exactos del pipeline basándose en analizar_cobertura.py corrido contra los 291 archivos de financials_sec/.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347472" y="115214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Precio USD + 52w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2468880" y="1197864"/>
            <a:ext cx="5303520" cy="20116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2468880" y="1197864"/>
            <a:ext cx="5303520" cy="20116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7863840" y="11521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100.0%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347472" y="15819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Margen Neto TTM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468880" y="1627632"/>
            <a:ext cx="5303520" cy="20116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2468880" y="1627632"/>
            <a:ext cx="3797320" cy="20116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7863840" y="15819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71.6%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347472" y="20116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PER TTM diluted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2468880" y="2057400"/>
            <a:ext cx="5303520" cy="20116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2468880" y="2057400"/>
            <a:ext cx="3452592" cy="20116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7863840" y="20116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65.1%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347472" y="24414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FCFonCE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2468880" y="2487168"/>
            <a:ext cx="5303520" cy="20116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2468880" y="2487168"/>
            <a:ext cx="3219237" cy="20116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7863840" y="24414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60.7%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347472" y="28712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Deuda / EBITDA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2468880" y="2916936"/>
            <a:ext cx="5303520" cy="20116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2468880" y="2916936"/>
            <a:ext cx="2975275" cy="20116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7863840" y="28712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56.1%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347472" y="33009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ROE CAGR 5 años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2468880" y="3346704"/>
            <a:ext cx="5303520" cy="20116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2468880" y="3346704"/>
            <a:ext cx="2185050" cy="201168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7863840" y="330098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41.2%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347472" y="37307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Payout TTM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2468880" y="3776472"/>
            <a:ext cx="5303520" cy="20116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2468880" y="3776472"/>
            <a:ext cx="1856232" cy="201168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7863840" y="37307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35.0%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347472" y="4169664"/>
            <a:ext cx="8449056" cy="34747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qué la cobertura no es del 100% en todos los ratios: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con esquema IFRS (20-F) en vez de us-gaap: ~15 casos (INFY, BBDO, etc.)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sin dividendos: payout = NULL (no es error, es correcto)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sin 5 años de historia continua para CAGR: spin-offs y recientes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EBITDA incompleto: requiere D&amp;A que algunas empresas no reportan por separado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274320" y="4937760"/>
            <a:ext cx="859536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956048"/>
            <a:ext cx="65836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0"/>
          <p:cNvSpPr/>
          <p:nvPr/>
        </p:nvSpPr>
        <p:spPr>
          <a:xfrm>
            <a:off x="1005840" y="49560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8686800" y="4956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E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56032"/>
            <a:ext cx="118872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1"/>
          <p:cNvSpPr/>
          <p:nvPr/>
        </p:nvSpPr>
        <p:spPr>
          <a:xfrm>
            <a:off x="365760" y="84124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la Investigación al Producto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365760" y="1389888"/>
            <a:ext cx="2194560" cy="3657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365760" y="1554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Los 8 scripts de investigación son la base exacta del módulo de producción: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365760" y="1920240"/>
            <a:ext cx="841248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365760" y="1920240"/>
            <a:ext cx="45720" cy="38404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475488" y="19751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02_mapear_cedears_sec.py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3621024" y="1975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4023360" y="197510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Tabla cedears en PostgreSQL + lógica de mapeo BYMA→CIK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365760" y="2377440"/>
            <a:ext cx="841248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365760" y="2377440"/>
            <a:ext cx="45720" cy="38404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475488" y="24323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03_descargar_financials_sec.py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3621024" y="24323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4023360" y="243230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Job 1B → tabla financials_raw (Backend B)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365760" y="2834640"/>
            <a:ext cx="841248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365760" y="2834640"/>
            <a:ext cx="45720" cy="38404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475488" y="28895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04_descargar_precios.py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3621024" y="28895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4023360" y="288950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Job 1A → tabla precios_raw (Backend 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365760" y="3291840"/>
            <a:ext cx="841248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365760" y="3291840"/>
            <a:ext cx="45720" cy="38404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475488" y="33467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05_calcular_ratios.py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3621024" y="33467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4023360" y="334670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Job 2 → tabla ratios calculados (Backend B)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365760" y="3749040"/>
            <a:ext cx="841248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365760" y="3749040"/>
            <a:ext cx="45720" cy="38404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1"/>
          <p:cNvSpPr/>
          <p:nvPr/>
        </p:nvSpPr>
        <p:spPr>
          <a:xfrm>
            <a:off x="475488" y="38039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06_precios_historicos.py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3621024" y="38039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4023360" y="380390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Tabla daily_prices → gráficos históricos futuros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365760" y="4206240"/>
            <a:ext cx="841248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365760" y="4206240"/>
            <a:ext cx="45720" cy="38404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475488" y="42611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08_generar_dataset_etl.py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3621024" y="4261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4023360" y="426110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Script de migración inicial a PostgreSQL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365760" y="484632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  ·  Mayo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3200400" y="4846320"/>
            <a:ext cx="5577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Pipeline de investigación → Módulo de producción listo para Catalaxia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2026-05-30T03:02:21Z</dcterms:created>
  <dc:creator>PptxGenJS</dc:creator>
</cp:coreProperties>
</file>