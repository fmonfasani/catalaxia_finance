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shooks.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TÍTULO DEL DOCUMENTO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ECAFF"/>
                </a:solidFill>
                <a:latin typeface="Calibri"/>
              </a:rPr>
              <a:t>Subtítulo / mensaje principal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20440"/>
            <a:ext cx="1737360" cy="4572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6DC"/>
                </a:solidFill>
                <a:latin typeface="Calibri"/>
              </a:rPr>
              <a:t>Proyecto · versión · fecha · clasificación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Resumen 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Un mensaje principal y evidencia suficiente para sostenerlo.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3566160" cy="141732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744"/>
                </a:solidFill>
                <a:latin typeface="Calibri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589"/>
                </a:solidFill>
                <a:latin typeface="Calibri"/>
              </a:rPr>
              <a:t>KPI / dato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83080"/>
            <a:ext cx="3566160" cy="141732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744"/>
                </a:solidFill>
                <a:latin typeface="Calibri"/>
              </a:rPr>
              <a:t>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589"/>
                </a:solidFill>
                <a:latin typeface="Calibri"/>
              </a:rPr>
              <a:t>KPI / dato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83080"/>
            <a:ext cx="3566160" cy="141732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9659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744"/>
                </a:solidFill>
                <a:latin typeface="Calibri"/>
              </a:rPr>
              <a:t>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4688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589"/>
                </a:solidFill>
                <a:latin typeface="Calibri"/>
              </a:rPr>
              <a:t>KPI / dato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A4458"/>
                </a:solidFill>
                <a:latin typeface="Calibri"/>
              </a:rPr>
              <a:t>• Hallazgo principal
• Riesgo / limitación
• Decisión recomendada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Arquitectura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Fuentes → ingesta → procesamiento → modelo → publicación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148840"/>
            <a:ext cx="2011680" cy="182880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2148840"/>
            <a:ext cx="54864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286000"/>
            <a:ext cx="1737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FUENTES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7432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Propósito
Componente
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2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2148840"/>
            <a:ext cx="2011680" cy="1828800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2148840"/>
            <a:ext cx="54864" cy="18288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3784" y="2286000"/>
            <a:ext cx="1737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INGESTA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27432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Propósito
Componente
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2148840"/>
            <a:ext cx="2011680" cy="1828800"/>
          </a:xfrm>
          <a:prstGeom prst="roundRect">
            <a:avLst/>
          </a:prstGeom>
          <a:solidFill>
            <a:srgbClr val="FFF5DA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38344" y="2148840"/>
            <a:ext cx="54864" cy="18288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2936" y="2286000"/>
            <a:ext cx="1737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PROCESAMIENTO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936" y="27432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Propósito
Componente
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1736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2148840"/>
            <a:ext cx="2011680" cy="1828800"/>
          </a:xfrm>
          <a:prstGeom prst="roundRect">
            <a:avLst/>
          </a:prstGeom>
          <a:solidFill>
            <a:srgbClr val="FBE8F0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97496" y="2148840"/>
            <a:ext cx="54864" cy="1828800"/>
          </a:xfrm>
          <a:prstGeom prst="rect">
            <a:avLst/>
          </a:prstGeom>
          <a:solidFill>
            <a:srgbClr val="C72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2286000"/>
            <a:ext cx="1737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MODELO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27432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Propósito
Componente
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90888" y="2743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6648" y="2148840"/>
            <a:ext cx="2011680" cy="1828800"/>
          </a:xfrm>
          <a:prstGeom prst="roundRect">
            <a:avLst/>
          </a:prstGeom>
          <a:solidFill>
            <a:srgbClr val="EEEAFE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56648" y="2148840"/>
            <a:ext cx="54864" cy="1828800"/>
          </a:xfrm>
          <a:prstGeom prst="rect">
            <a:avLst/>
          </a:prstGeom>
          <a:solidFill>
            <a:srgbClr val="6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2286000"/>
            <a:ext cx="17373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PUBLICACIÓN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74320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Propósito
Componente
Output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Arquitectura por capas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Responsabilidades separadas y dependencias explícitas.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7955279" cy="621792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CONSUMO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4708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API · Dashboard · Reportes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42032"/>
            <a:ext cx="7955279" cy="621792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APLICACIÓN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Servicios · lógica de negocio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46704"/>
            <a:ext cx="7955279" cy="621792"/>
          </a:xfrm>
          <a:prstGeom prst="roundRect">
            <a:avLst/>
          </a:prstGeom>
          <a:solidFill>
            <a:srgbClr val="FFF5DA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564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45643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Financial Model · Ratios ·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151376"/>
            <a:ext cx="7955279" cy="621792"/>
          </a:xfrm>
          <a:prstGeom prst="roundRect">
            <a:avLst/>
          </a:prstGeom>
          <a:solidFill>
            <a:srgbClr val="FBE8F0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611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6110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Economic Facts · Normalized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956048"/>
            <a:ext cx="7955279" cy="621792"/>
          </a:xfrm>
          <a:prstGeom prst="roundRect">
            <a:avLst/>
          </a:prstGeom>
          <a:solidFill>
            <a:srgbClr val="EEEAFE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6577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INGESTA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0657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RAW · Parsers · Fuentes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737360"/>
            <a:ext cx="2377440" cy="256032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1737360"/>
            <a:ext cx="54864" cy="2560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2" y="1874519"/>
            <a:ext cx="21031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Gobierno transversal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24028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A4458"/>
                </a:solidFill>
                <a:latin typeface="Calibri"/>
              </a:rPr>
              <a:t>Identidad
Taxonomía
Reglas
Metadatos
Auditoría
Seguridad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Diagrama de procesos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Etapas, responsables, decisiones y controles.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37360"/>
            <a:ext cx="2057400" cy="59436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744"/>
                </a:solidFill>
                <a:latin typeface="Calibri"/>
              </a:rPr>
              <a:t>1 INGESTA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1901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737360"/>
            <a:ext cx="2057400" cy="594360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9019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744"/>
                </a:solidFill>
                <a:latin typeface="Calibri"/>
              </a:rPr>
              <a:t>2 TRANSFORMACIÓN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901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737360"/>
            <a:ext cx="2057400" cy="594360"/>
          </a:xfrm>
          <a:prstGeom prst="roundRect">
            <a:avLst/>
          </a:prstGeom>
          <a:solidFill>
            <a:srgbClr val="FFF5DA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59" y="19019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744"/>
                </a:solidFill>
                <a:latin typeface="Calibri"/>
              </a:rPr>
              <a:t>3 CÁLCULO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4888" y="1901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737360"/>
            <a:ext cx="2057400" cy="594360"/>
          </a:xfrm>
          <a:prstGeom prst="roundRect">
            <a:avLst/>
          </a:prstGeom>
          <a:solidFill>
            <a:srgbClr val="FBE8F0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9019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744"/>
                </a:solidFill>
                <a:latin typeface="Calibri"/>
              </a:rPr>
              <a:t>4 VALIDACIÓN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1901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59" y="1737360"/>
            <a:ext cx="2057400" cy="594360"/>
          </a:xfrm>
          <a:prstGeom prst="roundRect">
            <a:avLst/>
          </a:prstGeom>
          <a:solidFill>
            <a:srgbClr val="EEEAFE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799" y="1901952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744"/>
                </a:solidFill>
                <a:latin typeface="Calibri"/>
              </a:rPr>
              <a:t>5 PUBLICACIÓN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517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89"/>
                </a:solidFill>
                <a:latin typeface="Calibri"/>
              </a:rPr>
              <a:t>Fuentes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23160" y="260604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23160" y="260604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87752" y="27432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79" y="260604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260604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62271" y="27432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260604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60604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27432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260604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19" y="260604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1" y="27432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40" y="260604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21240" y="260604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5832" y="27432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474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89"/>
                </a:solidFill>
                <a:latin typeface="Calibri"/>
              </a:rPr>
              <a:t>Extracción / transformación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423160" y="342900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423160" y="342900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87752" y="35661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79" y="342900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79" y="342900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1" y="35661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342900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72200" y="342900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36792" y="35661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46719" y="342900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6719" y="342900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1" y="35661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21240" y="342900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21240" y="342900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85832" y="35661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4297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89"/>
                </a:solidFill>
                <a:latin typeface="Calibri"/>
              </a:rPr>
              <a:t>Cálculo / modelo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423160" y="425196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423160" y="42519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87752" y="4389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97679" y="425196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97679" y="42519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62271" y="4389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172200" y="425196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72200" y="42519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36792" y="4389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46719" y="425196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46719" y="42519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11311" y="4389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21240" y="425196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21240" y="4251960"/>
            <a:ext cx="54864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85832" y="43891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120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89"/>
                </a:solidFill>
                <a:latin typeface="Calibri"/>
              </a:rPr>
              <a:t>Validación / publicación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423160" y="507492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423160" y="507492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87752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97679" y="507492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97679" y="507492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62271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172200" y="507492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72200" y="507492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36792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46719" y="507492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046719" y="507492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11311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921240" y="5074920"/>
            <a:ext cx="160020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921240" y="5074920"/>
            <a:ext cx="54864" cy="50292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085832" y="52120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Actividad / output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Diagrama de estados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Lifecycle de una entidad.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51760"/>
            <a:ext cx="1828800" cy="68580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651760"/>
            <a:ext cx="54864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NUEVA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651760"/>
            <a:ext cx="1828800" cy="68580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651760"/>
            <a:ext cx="54864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7792" y="27889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EN EXTRACCIÓN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645920"/>
            <a:ext cx="1828800" cy="685800"/>
          </a:xfrm>
          <a:prstGeom prst="roundRect">
            <a:avLst/>
          </a:prstGeom>
          <a:solidFill>
            <a:srgbClr val="FFF5DA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57800" y="1645920"/>
            <a:ext cx="54864" cy="68580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EN REVISIÓN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3474720"/>
            <a:ext cx="1828800" cy="685800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800" y="3474720"/>
            <a:ext cx="54864" cy="6858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22392" y="361187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ACTIVA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3474720"/>
            <a:ext cx="1828800" cy="685800"/>
          </a:xfrm>
          <a:prstGeom prst="roundRect">
            <a:avLst/>
          </a:prstGeom>
          <a:solidFill>
            <a:srgbClr val="FCECE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3474720"/>
            <a:ext cx="54864" cy="685800"/>
          </a:xfrm>
          <a:prstGeom prst="rect">
            <a:avLst/>
          </a:prstGeom>
          <a:solidFill>
            <a:srgbClr val="D94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3611879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645920"/>
            <a:ext cx="1828800" cy="685800"/>
          </a:xfrm>
          <a:prstGeom prst="roundRect">
            <a:avLst/>
          </a:prstGeom>
          <a:solidFill>
            <a:srgbClr val="EEF1F7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645920"/>
            <a:ext cx="54864" cy="685800"/>
          </a:xfrm>
          <a:prstGeom prst="rect">
            <a:avLst/>
          </a:prstGeom>
          <a:solidFill>
            <a:srgbClr val="6B75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17830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744"/>
                </a:solidFill>
                <a:latin typeface="Calibri"/>
              </a:rPr>
              <a:t>INACTIVA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834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8346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37744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5821F"/>
                </a:solidFill>
                <a:latin typeface="Calibri"/>
              </a:rPr>
              <a:t>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17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B7589"/>
                </a:solidFill>
                <a:latin typeface="Calibri"/>
              </a:rPr>
              <a:t>Corrección / reintento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Contrato de cálculo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Especificación formal de una métrica.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669280" cy="3977639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50292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744"/>
                </a:solidFill>
                <a:latin typeface="Calibri"/>
              </a:rPr>
              <a:t>ratio_id: PE
version: 1.0
formula: price / eps_ttm
inputs:
  - price
  - eps_ttm
frequency: diaria
scope: CONSOLIDATED
validation:
  - eps_ttm != 0
  - price &gt; 0
output: derived.ratio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737360"/>
            <a:ext cx="5166360" cy="822960"/>
          </a:xfrm>
          <a:prstGeom prst="roundRect">
            <a:avLst/>
          </a:prstGeom>
          <a:solidFill>
            <a:srgbClr val="FFF5DA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5623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744"/>
                </a:solidFill>
                <a:latin typeface="Calibri"/>
              </a:rPr>
              <a:t>Descripción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8470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Qué mide y para qué sirve.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724912"/>
            <a:ext cx="5166360" cy="82296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8437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744"/>
                </a:solidFill>
                <a:latin typeface="Calibri"/>
              </a:rPr>
              <a:t>Insumos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8346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Origen, unidad, moneda y período.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712464"/>
            <a:ext cx="5166360" cy="822960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83133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744"/>
                </a:solidFill>
                <a:latin typeface="Calibri"/>
              </a:rPr>
              <a:t>Validaciones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22192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Reglas y condiciones de cálculo.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4700016"/>
            <a:ext cx="5166360" cy="822960"/>
          </a:xfrm>
          <a:prstGeom prst="roundRect">
            <a:avLst/>
          </a:prstGeom>
          <a:solidFill>
            <a:srgbClr val="FBE8F0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818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2744"/>
                </a:solidFill>
                <a:latin typeface="Calibri"/>
              </a:rPr>
              <a:t>Salida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09744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A4458"/>
                </a:solidFill>
                <a:latin typeface="Calibri"/>
              </a:rPr>
              <a:t>Valor, estado y metadata.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Familia de ratios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Taxonomía reutilizable para métricas financieras.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886200" cy="621792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RENTABILIDAD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91640"/>
            <a:ext cx="6812280" cy="621792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82880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ROE · ROA · ROIC · Margen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532888"/>
            <a:ext cx="3886200" cy="621792"/>
          </a:xfrm>
          <a:prstGeom prst="roundRect">
            <a:avLst/>
          </a:prstGeom>
          <a:solidFill>
            <a:srgbClr val="FFF5DA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7004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VALUACIÓN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532888"/>
            <a:ext cx="6812280" cy="621792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46320" y="2670048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P/E · P/B · EV/EBITDA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74136"/>
            <a:ext cx="3886200" cy="621792"/>
          </a:xfrm>
          <a:prstGeom prst="roundRect">
            <a:avLst/>
          </a:prstGeom>
          <a:solidFill>
            <a:srgbClr val="EEEAFE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112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SOLVENCIA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374136"/>
            <a:ext cx="6812280" cy="621792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511296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Deuda/Patrimonio · Deuda/EBITDA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15384"/>
            <a:ext cx="3886200" cy="621792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5254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EFICIENCIA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215384"/>
            <a:ext cx="6812280" cy="621792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4352544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Rotación · Días de cobro/pago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56632"/>
            <a:ext cx="3886200" cy="621792"/>
          </a:xfrm>
          <a:prstGeom prst="roundRect">
            <a:avLst/>
          </a:prstGeom>
          <a:solidFill>
            <a:srgbClr val="FBE8F0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9379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744"/>
                </a:solidFill>
                <a:latin typeface="Calibri"/>
              </a:rPr>
              <a:t>CRECIMIENTO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5056632"/>
            <a:ext cx="6812280" cy="621792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5193792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A4458"/>
                </a:solidFill>
                <a:latin typeface="Calibri"/>
              </a:rPr>
              <a:t>CAGR ingresos · CAGR EBITDA · CAGR 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KPI /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Valor + contexto + estado + evidencia.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2468880" cy="182880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2744"/>
                </a:solidFill>
                <a:latin typeface="Calibri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89"/>
                </a:solidFill>
                <a:latin typeface="Calibri"/>
              </a:rPr>
              <a:t>KPI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A4458"/>
                </a:solidFill>
                <a:latin typeface="Calibri"/>
              </a:rPr>
              <a:t>Unidad · objetivo · fuente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468880" cy="1828800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57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2744"/>
                </a:solidFill>
                <a:latin typeface="Calibri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89"/>
                </a:solidFill>
                <a:latin typeface="Calibri"/>
              </a:rPr>
              <a:t>KPI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A4458"/>
                </a:solidFill>
                <a:latin typeface="Calibri"/>
              </a:rPr>
              <a:t>Unidad · objetivo · fuente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828800"/>
            <a:ext cx="2468880" cy="182880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2744"/>
                </a:solidFill>
                <a:latin typeface="Calibri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89"/>
                </a:solidFill>
                <a:latin typeface="Calibri"/>
              </a:rPr>
              <a:t>KPI label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A4458"/>
                </a:solidFill>
                <a:latin typeface="Calibri"/>
              </a:rPr>
              <a:t>Unidad · objetivo · fuente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828800"/>
            <a:ext cx="2468880" cy="1828800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0574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2744"/>
                </a:solidFill>
                <a:latin typeface="Calibri"/>
              </a:rPr>
              <a:t>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589"/>
                </a:solidFill>
                <a:latin typeface="Calibri"/>
              </a:rPr>
              <a:t>KPI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971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A4458"/>
                </a:solidFill>
                <a:latin typeface="Calibri"/>
              </a:rPr>
              <a:t>Unidad · objetivo · fuente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589"/>
                </a:solidFill>
                <a:latin typeface="Calibri"/>
              </a:rPr>
              <a:t>Nota: nunca mostrar un número sin unidad, fecha/período y contexto cuando sean relevantes.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Roadmap /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Fases, objetivos, entregables y criterios de salida.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874519" cy="731520"/>
          </a:xfrm>
          <a:prstGeom prst="roundRect">
            <a:avLst/>
          </a:prstGeom>
          <a:solidFill>
            <a:srgbClr val="DCEA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FASE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2240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971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4458"/>
                </a:solidFill>
                <a:latin typeface="Calibri"/>
              </a:rPr>
              <a:t>Período
Objetivo
Entregable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2011680"/>
            <a:ext cx="1874519" cy="731520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22402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FASE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240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971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4458"/>
                </a:solidFill>
                <a:latin typeface="Calibri"/>
              </a:rPr>
              <a:t>Período
Objetivo
Entregable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2011680"/>
            <a:ext cx="1874519" cy="731520"/>
          </a:xfrm>
          <a:prstGeom prst="roundRect">
            <a:avLst/>
          </a:prstGeom>
          <a:solidFill>
            <a:srgbClr val="EEEAFE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9783" y="22402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FASE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240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2971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4458"/>
                </a:solidFill>
                <a:latin typeface="Calibri"/>
              </a:rPr>
              <a:t>Período
Objetivo
Entregable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6055" y="2011680"/>
            <a:ext cx="1874519" cy="731520"/>
          </a:xfrm>
          <a:prstGeom prst="roundRect">
            <a:avLst/>
          </a:prstGeom>
          <a:solidFill>
            <a:srgbClr val="FFF5DA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97496" y="22402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FASE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24028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971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4458"/>
                </a:solidFill>
                <a:latin typeface="Calibri"/>
              </a:rPr>
              <a:t>Período
Objetivo
Entregable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73768" y="2011680"/>
            <a:ext cx="1874519" cy="731520"/>
          </a:xfrm>
          <a:prstGeom prst="roundRect">
            <a:avLst/>
          </a:prstGeom>
          <a:solidFill>
            <a:srgbClr val="FBE8F0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5208" y="224028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2744"/>
                </a:solidFill>
                <a:latin typeface="Calibri"/>
              </a:rPr>
              <a:t>FASE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29718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A4458"/>
                </a:solidFill>
                <a:latin typeface="Calibri"/>
              </a:rPr>
              <a:t>Período
Objetivo
Entregable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011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shooks.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21792"/>
            <a:ext cx="502920" cy="27432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744"/>
                </a:solidFill>
                <a:latin typeface="Calibri"/>
              </a:rPr>
              <a:t>AS-IS / TO-BE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29844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B82F6"/>
                </a:solidFill>
                <a:latin typeface="Calibri"/>
              </a:rPr>
              <a:t>Comparar situación actual y estado objetivo.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212080" cy="3566160"/>
          </a:xfrm>
          <a:prstGeom prst="roundRect">
            <a:avLst/>
          </a:prstGeom>
          <a:solidFill>
            <a:srgbClr val="F8FBFF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1737360"/>
            <a:ext cx="5212080" cy="3566160"/>
          </a:xfrm>
          <a:prstGeom prst="roundRect">
            <a:avLst/>
          </a:prstGeom>
          <a:solidFill>
            <a:srgbClr val="E7F7EC"/>
          </a:solidFill>
          <a:ln w="10160">
            <a:solidFill>
              <a:srgbClr val="D6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744"/>
                </a:solidFill>
                <a:latin typeface="Calibri"/>
              </a:rPr>
              <a:t>AS-IS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A047"/>
                </a:solidFill>
                <a:latin typeface="Calibri"/>
              </a:rPr>
              <a:t>TO-BE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6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458"/>
                </a:solidFill>
                <a:latin typeface="Calibri"/>
              </a:rPr>
              <a:t>• Proceso actual
• Problemas
• Controles manuales
• Riesgos
• Limitaciones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65176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A4458"/>
                </a:solidFill>
                <a:latin typeface="Calibri"/>
              </a:rPr>
              <a:t>• Proceso objetivo
• Automatización
• Quality gates
• Trazabilidad
• Beneficios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15468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B82F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428232"/>
            <a:ext cx="11338560" cy="9144"/>
          </a:xfrm>
          <a:prstGeom prst="rect">
            <a:avLst/>
          </a:prstGeom>
          <a:solidFill>
            <a:srgbClr val="D6E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4739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6B7589"/>
                </a:solidFill>
                <a:latin typeface="Calibri"/>
              </a:rPr>
              <a:t>webshooks.com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7395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>
                <a:solidFill>
                  <a:srgbClr val="6B758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B82F6"/>
                </a:solidFill>
                <a:latin typeface="Calibri"/>
              </a:rPr>
              <a:t>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shooks.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DECISIÓN / SIGUIENTE PASO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1737360" cy="45720"/>
          </a:xfrm>
          <a:prstGeom prst="rect">
            <a:avLst/>
          </a:prstGeom>
          <a:solidFill>
            <a:srgbClr val="F58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ECAFF"/>
                </a:solidFill>
                <a:latin typeface="Calibri"/>
              </a:rPr>
              <a:t>Qué debe decidirse · responsable · fecha · criterio de éxito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9C6DC"/>
                </a:solidFill>
                <a:latin typeface="Calibri"/>
              </a:rPr>
              <a:t>webshooks. — datos con sentido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