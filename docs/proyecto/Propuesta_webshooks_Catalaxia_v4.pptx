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480560" cy="685800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480560" cy="100584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iamond 4"/>
          <p:cNvSpPr/>
          <p:nvPr/>
        </p:nvSpPr>
        <p:spPr>
          <a:xfrm>
            <a:off x="457200" y="457200"/>
            <a:ext cx="182880" cy="182880"/>
          </a:xfrm>
          <a:prstGeom prst="diamond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3657600" cy="4572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Calibri"/>
              </a:rPr>
              <a:t>web</a:t>
            </a:r>
            <a:r>
              <a:rPr sz="2600" b="1" i="0">
                <a:solidFill>
                  <a:srgbClr val="FFFFFF"/>
                </a:solidFill>
                <a:latin typeface="Calibri"/>
              </a:rPr>
              <a:t>shooks</a:t>
            </a:r>
            <a:r>
              <a:rPr sz="2600" b="1" i="0">
                <a:solidFill>
                  <a:srgbClr val="F5821F"/>
                </a:solidFill>
                <a:latin typeface="Calibr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024128"/>
            <a:ext cx="3840480" cy="3200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3B82F6"/>
                </a:solidFill>
                <a:latin typeface="Calibri"/>
              </a:rPr>
              <a:t>Desarrollo de Software · LATAM</a:t>
            </a:r>
          </a:p>
        </p:txBody>
      </p:sp>
      <p:sp>
        <p:nvSpPr>
          <p:cNvPr id="8" name="Rectangle 7"/>
          <p:cNvSpPr/>
          <p:nvPr/>
        </p:nvSpPr>
        <p:spPr>
          <a:xfrm>
            <a:off x="521207" y="1481328"/>
            <a:ext cx="2194560" cy="36576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3840480" cy="14630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Propuesta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Comercial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611880"/>
            <a:ext cx="3931920" cy="12801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AAB4C8"/>
                </a:solidFill>
                <a:latin typeface="Calibri"/>
              </a:rPr>
              <a:t>Screener Financiero AR + US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AAB4C8"/>
                </a:solidFill>
                <a:latin typeface="Calibri"/>
              </a:rPr>
              <a:t>Base de datos unificada · doble moneda · ratios oficiales — Backoffice Catalaxia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532120"/>
            <a:ext cx="3520440" cy="12801"/>
          </a:xfrm>
          <a:prstGeom prst="rect">
            <a:avLst/>
          </a:prstGeom>
          <a:solidFill>
            <a:srgbClr val="3A4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5669280"/>
            <a:ext cx="3657600" cy="3200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AB4C8"/>
                </a:solidFill>
                <a:latin typeface="Calibri"/>
              </a:rPr>
              <a:t>Cliente   </a:t>
            </a:r>
            <a:r>
              <a:rPr sz="1100" b="1" i="0">
                <a:solidFill>
                  <a:srgbClr val="FFFFFF"/>
                </a:solidFill>
                <a:latin typeface="Calibri"/>
              </a:rPr>
              <a:t>Catalaxia S.A.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035040"/>
            <a:ext cx="3657600" cy="3200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AAB4C8"/>
                </a:solidFill>
                <a:latin typeface="Calibri"/>
              </a:rPr>
              <a:t>Fecha   </a:t>
            </a:r>
            <a:r>
              <a:rPr sz="1100" b="1" i="0">
                <a:solidFill>
                  <a:srgbClr val="FFFFFF"/>
                </a:solidFill>
                <a:latin typeface="Calibri"/>
              </a:rPr>
              <a:t>Julio 2026  ·  v4.0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868680"/>
            <a:ext cx="6858000" cy="19202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3300" b="1" i="0">
                <a:solidFill>
                  <a:srgbClr val="1A2744"/>
                </a:solidFill>
                <a:latin typeface="Calibri"/>
              </a:rPr>
              <a:t>Iniciá tu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3300" b="1" i="0">
                <a:solidFill>
                  <a:srgbClr val="1A2744"/>
                </a:solidFill>
                <a:latin typeface="Calibri"/>
              </a:rPr>
              <a:t>transformación digital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200"/>
              </a:spcAft>
            </a:pPr>
            <a:r>
              <a:rPr sz="3300" b="1" i="0">
                <a:solidFill>
                  <a:srgbClr val="3B82F6"/>
                </a:solidFill>
                <a:latin typeface="Calibri"/>
              </a:rPr>
              <a:t>con nosotros.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0" y="3063240"/>
            <a:ext cx="6492240" cy="36576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92040" y="3291840"/>
            <a:ext cx="6766560" cy="9144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A2744"/>
                </a:solidFill>
                <a:latin typeface="Calibri"/>
              </a:rPr>
              <a:t>Propuesta de Solución (v4): </a:t>
            </a:r>
            <a:r>
              <a:rPr sz="1300" b="0" i="0">
                <a:solidFill>
                  <a:srgbClr val="3A4458"/>
                </a:solidFill>
                <a:latin typeface="Calibri"/>
              </a:rPr>
              <a:t>base de datos financiera que unifica Argentina y Estados Unidos, en ARS y USD, con ratios CEDEAR/ADR oficiales y trazabilidad por dato.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37760" y="4681728"/>
            <a:ext cx="841248" cy="329184"/>
          </a:xfrm>
          <a:prstGeom prst="roundRect">
            <a:avLst>
              <a:gd name="adj" fmla="val 50000"/>
            </a:avLst>
          </a:prstGeom>
          <a:solidFill>
            <a:srgbClr val="DC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937760" y="4727448"/>
            <a:ext cx="841248" cy="256032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A4D8F"/>
                </a:solidFill>
                <a:latin typeface="Calibri"/>
              </a:rPr>
              <a:t>Python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25312" y="4681728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DC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25312" y="4727448"/>
            <a:ext cx="932688" cy="256032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A4D8F"/>
                </a:solidFill>
                <a:latin typeface="Calibri"/>
              </a:rPr>
              <a:t>Next.js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04304" y="4681728"/>
            <a:ext cx="1207008" cy="329184"/>
          </a:xfrm>
          <a:prstGeom prst="roundRect">
            <a:avLst>
              <a:gd name="adj" fmla="val 50000"/>
            </a:avLst>
          </a:prstGeom>
          <a:solidFill>
            <a:srgbClr val="DC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04304" y="4727448"/>
            <a:ext cx="1207008" cy="256032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A4D8F"/>
                </a:solidFill>
                <a:latin typeface="Calibri"/>
              </a:rPr>
              <a:t>PostgreSQL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57616" y="4681728"/>
            <a:ext cx="932688" cy="329184"/>
          </a:xfrm>
          <a:prstGeom prst="roundRect">
            <a:avLst>
              <a:gd name="adj" fmla="val 50000"/>
            </a:avLst>
          </a:prstGeom>
          <a:solidFill>
            <a:srgbClr val="DC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57616" y="4727448"/>
            <a:ext cx="932688" cy="256032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A4D8F"/>
                </a:solidFill>
                <a:latin typeface="Calibri"/>
              </a:rPr>
              <a:t>FastAPI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436608" y="4681728"/>
            <a:ext cx="1115568" cy="329184"/>
          </a:xfrm>
          <a:prstGeom prst="roundRect">
            <a:avLst>
              <a:gd name="adj" fmla="val 50000"/>
            </a:avLst>
          </a:prstGeom>
          <a:solidFill>
            <a:srgbClr val="DC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4727448"/>
            <a:ext cx="1115568" cy="256032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A4D8F"/>
                </a:solidFill>
                <a:latin typeface="Calibri"/>
              </a:rPr>
              <a:t>SEC EDGAR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37760" y="5138928"/>
            <a:ext cx="1207008" cy="329184"/>
          </a:xfrm>
          <a:prstGeom prst="roundRect">
            <a:avLst>
              <a:gd name="adj" fmla="val 50000"/>
            </a:avLst>
          </a:prstGeom>
          <a:solidFill>
            <a:srgbClr val="DC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37760" y="5184648"/>
            <a:ext cx="1207008" cy="256032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A4D8F"/>
                </a:solidFill>
                <a:latin typeface="Calibri"/>
              </a:rPr>
              <a:t>CNV · BYMA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91072" y="5138928"/>
            <a:ext cx="841248" cy="329184"/>
          </a:xfrm>
          <a:prstGeom prst="roundRect">
            <a:avLst>
              <a:gd name="adj" fmla="val 50000"/>
            </a:avLst>
          </a:prstGeom>
          <a:solidFill>
            <a:srgbClr val="DC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91072" y="5184648"/>
            <a:ext cx="841248" cy="256032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1A4D8F"/>
                </a:solidFill>
                <a:latin typeface="Calibri"/>
              </a:rPr>
              <a:t>Comafi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B82F6"/>
                </a:solidFill>
                <a:latin typeface="Calibri"/>
              </a:rPr>
              <a:t>web</a:t>
            </a:r>
            <a:r>
              <a:rPr sz="1500" b="1" i="0">
                <a:solidFill>
                  <a:srgbClr val="1A2744"/>
                </a:solidFill>
                <a:latin typeface="Calibri"/>
              </a:rPr>
              <a:t>shooks</a:t>
            </a:r>
            <a:r>
              <a:rPr sz="1500" b="1" i="0">
                <a:solidFill>
                  <a:srgbClr val="F5821F"/>
                </a:solidFill>
                <a:latin typeface="Calibri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5486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A2744"/>
                </a:solidFill>
                <a:latin typeface="Calibri"/>
              </a:rPr>
              <a:t>Resumen Ejecutivo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07008"/>
            <a:ext cx="822960" cy="41148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1298448"/>
            <a:ext cx="11155680" cy="5029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B7589"/>
                </a:solidFill>
                <a:latin typeface="Calibri"/>
              </a:rPr>
              <a:t>Base de datos financiera única en el mercado argentino: 572 empresas en 3 mercados, con doble precio ARS/USD y ratios CEDEAR/ADR oficiales. El pipeline ya está construido, validado y se actualiza solo.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55664"/>
            <a:ext cx="11183112" cy="12801"/>
          </a:xfrm>
          <a:prstGeom prst="rect">
            <a:avLst/>
          </a:prstGeom>
          <a:solidFill>
            <a:srgbClr val="D6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webshooks.com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6596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DC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965960"/>
            <a:ext cx="2606040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112264"/>
            <a:ext cx="2606040" cy="6400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A2744"/>
                </a:solidFill>
                <a:latin typeface="Calibri"/>
              </a:rPr>
              <a:t>572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807208"/>
            <a:ext cx="2423160" cy="47548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589"/>
                </a:solidFill>
                <a:latin typeface="Calibri"/>
              </a:rPr>
              <a:t>Empresas · 3 mercados (S&amp;P 500 + ADR + BYMA)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00984" y="196596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DC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00984" y="1965960"/>
            <a:ext cx="2606040" cy="54864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00984" y="2112264"/>
            <a:ext cx="2606040" cy="6400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A2744"/>
                </a:solidFill>
                <a:latin typeface="Calibri"/>
              </a:rPr>
              <a:t>144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92424" y="2807208"/>
            <a:ext cx="2423160" cy="47548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589"/>
                </a:solidFill>
                <a:latin typeface="Calibri"/>
              </a:rPr>
              <a:t>CEDEARs con ratio oficial (Banco Comafi)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99048" y="196596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DC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99048" y="1965960"/>
            <a:ext cx="2606040" cy="54864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9048" y="2112264"/>
            <a:ext cx="2606040" cy="6400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A2744"/>
                </a:solidFill>
                <a:latin typeface="Calibri"/>
              </a:rPr>
              <a:t>733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0488" y="2807208"/>
            <a:ext cx="2423160" cy="47548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589"/>
                </a:solidFill>
                <a:latin typeface="Calibri"/>
              </a:rPr>
              <a:t>Instrumentos con ISIN (modelo de 2 niveles)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97112" y="196596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DC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97112" y="1965960"/>
            <a:ext cx="2606040" cy="54864"/>
          </a:xfrm>
          <a:prstGeom prst="rect">
            <a:avLst/>
          </a:prstGeom>
          <a:solidFill>
            <a:srgbClr val="1A4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97112" y="2112264"/>
            <a:ext cx="2606040" cy="6400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A2744"/>
                </a:solidFill>
                <a:latin typeface="Calibri"/>
              </a:rPr>
              <a:t>1,3%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8552" y="2807208"/>
            <a:ext cx="2423160" cy="47548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589"/>
                </a:solidFill>
                <a:latin typeface="Calibri"/>
              </a:rPr>
              <a:t>Dispersión del CCL — valida los ratios de paso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3611880"/>
            <a:ext cx="11155680" cy="3200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A2744"/>
                </a:solidFill>
                <a:latin typeface="Calibri"/>
              </a:rPr>
              <a:t>¿Qué incluye?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023360"/>
            <a:ext cx="5486400" cy="21945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19" b="1" i="0">
                <a:solidFill>
                  <a:srgbClr val="3B82F6"/>
                </a:solidFill>
                <a:latin typeface="Calibri"/>
              </a:rPr>
              <a:t>▸  </a:t>
            </a:r>
            <a:r>
              <a:rPr sz="1019" b="0" i="0">
                <a:solidFill>
                  <a:srgbClr val="3A4458"/>
                </a:solidFill>
                <a:latin typeface="Calibri"/>
              </a:rPr>
              <a:t>3 universos: 499 S&amp;P 500 (US) + 17 ADR + 56 BYMA-only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19" b="1" i="0">
                <a:solidFill>
                  <a:srgbClr val="3B82F6"/>
                </a:solidFill>
                <a:latin typeface="Calibri"/>
              </a:rPr>
              <a:t>▸  </a:t>
            </a:r>
            <a:r>
              <a:rPr sz="1019" b="0" i="0">
                <a:solidFill>
                  <a:srgbClr val="3A4458"/>
                </a:solidFill>
                <a:latin typeface="Calibri"/>
              </a:rPr>
              <a:t>Doble precio ARS/USD + CCL calculado desde ADRs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19" b="1" i="0">
                <a:solidFill>
                  <a:srgbClr val="3B82F6"/>
                </a:solidFill>
                <a:latin typeface="Calibri"/>
              </a:rPr>
              <a:t>▸  </a:t>
            </a:r>
            <a:r>
              <a:rPr sz="1019" b="0" i="0">
                <a:solidFill>
                  <a:srgbClr val="3A4458"/>
                </a:solidFill>
                <a:latin typeface="Calibri"/>
              </a:rPr>
              <a:t>Ratios CEDEAR oficiales (Comafi) — N:1 por instrumento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19" b="1" i="0">
                <a:solidFill>
                  <a:srgbClr val="3B82F6"/>
                </a:solidFill>
                <a:latin typeface="Calibri"/>
              </a:rPr>
              <a:t>▸  </a:t>
            </a:r>
            <a:r>
              <a:rPr sz="1019" b="0" i="0">
                <a:solidFill>
                  <a:srgbClr val="3A4458"/>
                </a:solidFill>
                <a:latin typeface="Calibri"/>
              </a:rPr>
              <a:t>Ratios/datos ADR: SEC F-6/20-F + JPMorgan (adr.com)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4023360"/>
            <a:ext cx="5486400" cy="21945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19" b="1" i="0">
                <a:solidFill>
                  <a:srgbClr val="43A047"/>
                </a:solidFill>
                <a:latin typeface="Calibri"/>
              </a:rPr>
              <a:t>▸  </a:t>
            </a:r>
            <a:r>
              <a:rPr sz="1019" b="0" i="0">
                <a:solidFill>
                  <a:srgbClr val="3A4458"/>
                </a:solidFill>
                <a:latin typeface="Calibri"/>
              </a:rPr>
              <a:t>Modelo de 2 niveles: empresa + 733 instrumentos (ISIN)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19" b="1" i="0">
                <a:solidFill>
                  <a:srgbClr val="43A047"/>
                </a:solidFill>
                <a:latin typeface="Calibri"/>
              </a:rPr>
              <a:t>▸  </a:t>
            </a:r>
            <a:r>
              <a:rPr sz="1019" b="0" i="0">
                <a:solidFill>
                  <a:srgbClr val="3A4458"/>
                </a:solidFill>
                <a:latin typeface="Calibri"/>
              </a:rPr>
              <a:t>~16 ratios fundamentales (SEC EDGAR + CNV NIC-29)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19" b="1" i="0">
                <a:solidFill>
                  <a:srgbClr val="43A047"/>
                </a:solidFill>
                <a:latin typeface="Calibri"/>
              </a:rPr>
              <a:t>▸  </a:t>
            </a:r>
            <a:r>
              <a:rPr sz="1019" b="0" i="0">
                <a:solidFill>
                  <a:srgbClr val="3A4458"/>
                </a:solidFill>
                <a:latin typeface="Calibri"/>
              </a:rPr>
              <a:t>Provenance: source_url por dato — auditable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019" b="1" i="0">
                <a:solidFill>
                  <a:srgbClr val="43A047"/>
                </a:solidFill>
                <a:latin typeface="Calibri"/>
              </a:rPr>
              <a:t>▸  </a:t>
            </a:r>
            <a:r>
              <a:rPr sz="1019" b="0" i="0">
                <a:solidFill>
                  <a:srgbClr val="3A4458"/>
                </a:solidFill>
                <a:latin typeface="Calibri"/>
              </a:rPr>
              <a:t>Pipeline replicable (run_all) + jobs (diario/trimestral/anual)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B82F6"/>
                </a:solidFill>
                <a:latin typeface="Calibri"/>
              </a:rPr>
              <a:t>web</a:t>
            </a:r>
            <a:r>
              <a:rPr sz="1500" b="1" i="0">
                <a:solidFill>
                  <a:srgbClr val="1A2744"/>
                </a:solidFill>
                <a:latin typeface="Calibri"/>
              </a:rPr>
              <a:t>shooks</a:t>
            </a:r>
            <a:r>
              <a:rPr sz="1500" b="1" i="0">
                <a:solidFill>
                  <a:srgbClr val="F5821F"/>
                </a:solidFill>
                <a:latin typeface="Calibri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5486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A2744"/>
                </a:solidFill>
                <a:latin typeface="Calibri"/>
              </a:rPr>
              <a:t>Lo nuevo desde la v3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07008"/>
            <a:ext cx="822960" cy="41148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1298448"/>
            <a:ext cx="11155680" cy="5029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B7589"/>
                </a:solidFill>
                <a:latin typeface="Calibri"/>
              </a:rPr>
              <a:t>La v3 (junio) era EE.UU. + ADRs desde SEC EDGAR. La v4 suma el lado argentino oficial, la doble moneda y los ratios de conversión — sin perder trazabilidad.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55664"/>
            <a:ext cx="11183112" cy="12801"/>
          </a:xfrm>
          <a:prstGeom prst="rect">
            <a:avLst/>
          </a:prstGeom>
          <a:solidFill>
            <a:srgbClr val="D6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webshooks.com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74519"/>
            <a:ext cx="2199956" cy="402336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1874519"/>
            <a:ext cx="2090228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Dimensión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02876" y="1874519"/>
            <a:ext cx="3849923" cy="402336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76028" y="1874519"/>
            <a:ext cx="3740195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v3 · Junio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52800" y="1874519"/>
            <a:ext cx="5133231" cy="402336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5952" y="1874519"/>
            <a:ext cx="5023503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v4 · Ahora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276856"/>
            <a:ext cx="11183112" cy="512064"/>
          </a:xfrm>
          <a:prstGeom prst="rect">
            <a:avLst/>
          </a:prstGeom>
          <a:solidFill>
            <a:srgbClr val="F4F8FE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" y="2276856"/>
            <a:ext cx="2090228" cy="512064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A2744"/>
                </a:solidFill>
                <a:latin typeface="Calibri"/>
              </a:rPr>
              <a:t>Universo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76028" y="2276856"/>
            <a:ext cx="3740195" cy="512064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A4458"/>
                </a:solidFill>
                <a:latin typeface="Calibri"/>
              </a:rPr>
              <a:t>553 US + ADR (solo EDGAR)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5952" y="2276856"/>
            <a:ext cx="5023503" cy="512064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F6B35"/>
                </a:solidFill>
                <a:latin typeface="Calibri"/>
              </a:rPr>
              <a:t>572 en 3 mercados: S&amp;P 500 + ADR + BYMA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788920"/>
            <a:ext cx="11183112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" y="2788920"/>
            <a:ext cx="2090228" cy="512064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A2744"/>
                </a:solidFill>
                <a:latin typeface="Calibri"/>
              </a:rPr>
              <a:t>Precio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76028" y="2788920"/>
            <a:ext cx="3740195" cy="512064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A4458"/>
                </a:solidFill>
                <a:latin typeface="Calibri"/>
              </a:rPr>
              <a:t>USD (EDGAR / yfinance)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5952" y="2788920"/>
            <a:ext cx="5023503" cy="512064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F6B35"/>
                </a:solidFill>
                <a:latin typeface="Calibri"/>
              </a:rPr>
              <a:t>doble ARS/USD + CCL calculado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300984"/>
            <a:ext cx="11183112" cy="512064"/>
          </a:xfrm>
          <a:prstGeom prst="rect">
            <a:avLst/>
          </a:prstGeom>
          <a:solidFill>
            <a:srgbClr val="F4F8FE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" y="3300984"/>
            <a:ext cx="2090228" cy="512064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A2744"/>
                </a:solidFill>
                <a:latin typeface="Calibri"/>
              </a:rPr>
              <a:t>Ratio CEDEAR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76028" y="3300984"/>
            <a:ext cx="3740195" cy="512064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A4458"/>
                </a:solidFill>
                <a:latin typeface="Calibri"/>
              </a:rPr>
              <a:t>— (no estaba)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5952" y="3300984"/>
            <a:ext cx="5023503" cy="512064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F6B35"/>
                </a:solidFill>
                <a:latin typeface="Calibri"/>
              </a:rPr>
              <a:t>144 oficiales del emisor (Comafi)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3813048"/>
            <a:ext cx="11183112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6072" y="3813048"/>
            <a:ext cx="2090228" cy="512064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A2744"/>
                </a:solidFill>
                <a:latin typeface="Calibri"/>
              </a:rPr>
              <a:t>Ratio ADR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76028" y="3813048"/>
            <a:ext cx="3740195" cy="512064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A4458"/>
                </a:solidFill>
                <a:latin typeface="Calibri"/>
              </a:rPr>
              <a:t>— (no estaba)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5952" y="3813048"/>
            <a:ext cx="5023503" cy="512064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F6B35"/>
                </a:solidFill>
                <a:latin typeface="Calibri"/>
              </a:rPr>
              <a:t>SEC F-6 / 20-F + JPMorgan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4325112"/>
            <a:ext cx="11183112" cy="512064"/>
          </a:xfrm>
          <a:prstGeom prst="rect">
            <a:avLst/>
          </a:prstGeom>
          <a:solidFill>
            <a:srgbClr val="F4F8FE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6072" y="4325112"/>
            <a:ext cx="2090228" cy="512064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A2744"/>
                </a:solidFill>
                <a:latin typeface="Calibri"/>
              </a:rPr>
              <a:t>Modelo de datos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76028" y="4325112"/>
            <a:ext cx="3740195" cy="512064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A4458"/>
                </a:solidFill>
                <a:latin typeface="Calibri"/>
              </a:rPr>
              <a:t>1 fila por empresa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5952" y="4325112"/>
            <a:ext cx="5023503" cy="512064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F6B35"/>
                </a:solidFill>
                <a:latin typeface="Calibri"/>
              </a:rPr>
              <a:t>2 niveles: empresa + 733 instrumentos con ISIN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4837176"/>
            <a:ext cx="11183112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6072" y="4837176"/>
            <a:ext cx="2090228" cy="512064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A2744"/>
                </a:solidFill>
                <a:latin typeface="Calibri"/>
              </a:rPr>
              <a:t>Fuentes AR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76028" y="4837176"/>
            <a:ext cx="3740195" cy="512064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A4458"/>
                </a:solidFill>
                <a:latin typeface="Calibri"/>
              </a:rPr>
              <a:t>— (no estaba)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5952" y="4837176"/>
            <a:ext cx="5023503" cy="512064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F6B35"/>
                </a:solidFill>
                <a:latin typeface="Calibri"/>
              </a:rPr>
              <a:t>CNV NIC-29 · BYMA/IAMC · Comafi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5212080"/>
            <a:ext cx="11183112" cy="960120"/>
          </a:xfrm>
          <a:prstGeom prst="roundRect">
            <a:avLst>
              <a:gd name="adj" fmla="val 5000"/>
            </a:avLst>
          </a:prstGeom>
          <a:solidFill>
            <a:srgbClr val="E7F7EC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02920" y="5212080"/>
            <a:ext cx="64008" cy="960120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5303520"/>
            <a:ext cx="10863072" cy="365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43A047"/>
                </a:solidFill>
                <a:latin typeface="Calibri"/>
              </a:rPr>
              <a:t>Validación cruzada — el CCL como prueba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5669280"/>
            <a:ext cx="10835640" cy="4114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3A4458"/>
                </a:solidFill>
                <a:latin typeface="Calibri"/>
              </a:rPr>
              <a:t>El CCL (contado con liqui) calculado desde 11 ADRs da una mediana de ~1.578 con solo </a:t>
            </a:r>
            <a:r>
              <a:rPr sz="1050" b="1" i="0">
                <a:solidFill>
                  <a:srgbClr val="1F6B35"/>
                </a:solidFill>
                <a:latin typeface="Calibri"/>
              </a:rPr>
              <a:t>1,3% de dispersión</a:t>
            </a:r>
            <a:r>
              <a:rPr sz="1050" b="0" i="0">
                <a:solidFill>
                  <a:srgbClr val="3A4458"/>
                </a:solidFill>
                <a:latin typeface="Calibri"/>
              </a:rPr>
              <a:t>. Esa coherencia valida, de forma independiente, que los ratios ADR/CEDEAR oficiales están bien cargados.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B82F6"/>
                </a:solidFill>
                <a:latin typeface="Calibri"/>
              </a:rPr>
              <a:t>web</a:t>
            </a:r>
            <a:r>
              <a:rPr sz="1500" b="1" i="0">
                <a:solidFill>
                  <a:srgbClr val="1A2744"/>
                </a:solidFill>
                <a:latin typeface="Calibri"/>
              </a:rPr>
              <a:t>shooks</a:t>
            </a:r>
            <a:r>
              <a:rPr sz="1500" b="1" i="0">
                <a:solidFill>
                  <a:srgbClr val="F5821F"/>
                </a:solidFill>
                <a:latin typeface="Calibri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5486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A2744"/>
                </a:solidFill>
                <a:latin typeface="Calibri"/>
              </a:rPr>
              <a:t>El diferenciador — datos oficiales con trazabilidad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07008"/>
            <a:ext cx="822960" cy="41148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1298448"/>
            <a:ext cx="11155680" cy="5029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B7589"/>
                </a:solidFill>
                <a:latin typeface="Calibri"/>
              </a:rPr>
              <a:t>No es otro screener con scraping frágil. Cada dato tiene su fuente oficial y su source_url; los ratios de conversión vienen del emisor, no “a ojo”.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55664"/>
            <a:ext cx="11183112" cy="12801"/>
          </a:xfrm>
          <a:prstGeom prst="rect">
            <a:avLst/>
          </a:prstGeom>
          <a:solidFill>
            <a:srgbClr val="D6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webshooks.com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74519"/>
            <a:ext cx="4216583" cy="402336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1874519"/>
            <a:ext cx="4106855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Dato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19503" y="1874519"/>
            <a:ext cx="4216583" cy="402336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92655" y="1874519"/>
            <a:ext cx="4106855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Fuente oficial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36086" y="1874519"/>
            <a:ext cx="2749945" cy="402336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9238" y="1874519"/>
            <a:ext cx="2640217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Cobertura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276856"/>
            <a:ext cx="11183112" cy="457200"/>
          </a:xfrm>
          <a:prstGeom prst="rect">
            <a:avLst/>
          </a:prstGeom>
          <a:solidFill>
            <a:srgbClr val="F4F8FE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" y="2276856"/>
            <a:ext cx="4106855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A2744"/>
                </a:solidFill>
                <a:latin typeface="Calibri"/>
              </a:rPr>
              <a:t>Ratio CEDEAR (N CEDEARs = 1 acción)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92655" y="2276856"/>
            <a:ext cx="4106855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A4458"/>
                </a:solidFill>
                <a:latin typeface="Calibri"/>
              </a:rPr>
              <a:t>Banco Comafi (el emisor)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9238" y="2276856"/>
            <a:ext cx="2640217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A4458"/>
                </a:solidFill>
                <a:latin typeface="Calibri"/>
              </a:rPr>
              <a:t>144 · S&amp;P 500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2734056"/>
            <a:ext cx="1118311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072" y="2734056"/>
            <a:ext cx="4106855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A2744"/>
                </a:solidFill>
                <a:latin typeface="Calibri"/>
              </a:rPr>
              <a:t>Ratio ADR (1 ADR = N acciones)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92655" y="2734056"/>
            <a:ext cx="4106855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A4458"/>
                </a:solidFill>
                <a:latin typeface="Calibri"/>
              </a:rPr>
              <a:t>SEC — formularios F-6 / 20-F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9238" y="2734056"/>
            <a:ext cx="2640217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A4458"/>
                </a:solidFill>
                <a:latin typeface="Calibri"/>
              </a:rPr>
              <a:t>17 · ADR AR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191256"/>
            <a:ext cx="11183112" cy="457200"/>
          </a:xfrm>
          <a:prstGeom prst="rect">
            <a:avLst/>
          </a:prstGeom>
          <a:solidFill>
            <a:srgbClr val="F4F8FE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76072" y="3191256"/>
            <a:ext cx="4106855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A2744"/>
                </a:solidFill>
                <a:latin typeface="Calibri"/>
              </a:rPr>
              <a:t>Precio de cierre BYMA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92655" y="3191256"/>
            <a:ext cx="4106855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A4458"/>
                </a:solidFill>
                <a:latin typeface="Calibri"/>
              </a:rPr>
              <a:t>BYMA · IAMC (informe diario oficial)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9238" y="3191256"/>
            <a:ext cx="2640217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A4458"/>
                </a:solidFill>
                <a:latin typeface="Calibri"/>
              </a:rPr>
              <a:t>73 · AR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3648456"/>
            <a:ext cx="1118311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6072" y="3648456"/>
            <a:ext cx="4106855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A2744"/>
                </a:solidFill>
                <a:latin typeface="Calibri"/>
              </a:rPr>
              <a:t>Fundamentales EE.UU.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92655" y="3648456"/>
            <a:ext cx="4106855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A4458"/>
                </a:solidFill>
                <a:latin typeface="Calibri"/>
              </a:rPr>
              <a:t>SEC EDGAR — companyfacts (GAAP+IFRS)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9238" y="3648456"/>
            <a:ext cx="2640217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A4458"/>
                </a:solidFill>
                <a:latin typeface="Calibri"/>
              </a:rPr>
              <a:t>499 · S&amp;P 500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4105656"/>
            <a:ext cx="11183112" cy="457200"/>
          </a:xfrm>
          <a:prstGeom prst="rect">
            <a:avLst/>
          </a:prstGeom>
          <a:solidFill>
            <a:srgbClr val="F4F8FE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6072" y="4105656"/>
            <a:ext cx="4106855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A2744"/>
                </a:solidFill>
                <a:latin typeface="Calibri"/>
              </a:rPr>
              <a:t>Fundamentales BYMA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92655" y="4105656"/>
            <a:ext cx="4106855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A4458"/>
                </a:solidFill>
                <a:latin typeface="Calibri"/>
              </a:rPr>
              <a:t>CNV — estados contables NIC 29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09238" y="4105656"/>
            <a:ext cx="2640217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A4458"/>
                </a:solidFill>
                <a:latin typeface="Calibri"/>
              </a:rPr>
              <a:t>56 · BYMA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4562856"/>
            <a:ext cx="1118311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6072" y="4562856"/>
            <a:ext cx="4106855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A2744"/>
                </a:solidFill>
                <a:latin typeface="Calibri"/>
              </a:rPr>
              <a:t>Dividendos + DR level del ADR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92655" y="4562856"/>
            <a:ext cx="4106855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A4458"/>
                </a:solidFill>
                <a:latin typeface="Calibri"/>
              </a:rPr>
              <a:t>JPMorgan — adr.com (API pública)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09238" y="4562856"/>
            <a:ext cx="2640217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3A4458"/>
                </a:solidFill>
                <a:latin typeface="Calibri"/>
              </a:rPr>
              <a:t>17 · ADR AR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02920" y="5074920"/>
            <a:ext cx="11183112" cy="1051560"/>
          </a:xfrm>
          <a:prstGeom prst="roundRect">
            <a:avLst>
              <a:gd name="adj" fmla="val 5000"/>
            </a:avLst>
          </a:prstGeom>
          <a:solidFill>
            <a:srgbClr val="DCEAFF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02920" y="5074920"/>
            <a:ext cx="64008" cy="105156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5166359"/>
            <a:ext cx="10863072" cy="365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B82F6"/>
                </a:solidFill>
                <a:latin typeface="Calibri"/>
              </a:rPr>
              <a:t>source_url por dato — auditable ante un cliente o un regulador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5532120"/>
            <a:ext cx="10835640" cy="502919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3A4458"/>
                </a:solidFill>
                <a:latin typeface="Calibri"/>
              </a:rPr>
              <a:t>A diferencia de un Excel armado a mano o de un scraping de portales, cada número del screener guarda de dónde salió. Se puede auditar, y las limitaciones están publicadas (no comparamos BYMA vs S&amp;P 1:1 sin ajuste). Vendemos </a:t>
            </a:r>
            <a:r>
              <a:rPr sz="1050" b="1" i="0">
                <a:solidFill>
                  <a:srgbClr val="1A2744"/>
                </a:solidFill>
                <a:latin typeface="Calibri"/>
              </a:rPr>
              <a:t>medido, trazable y honesto</a:t>
            </a:r>
            <a:r>
              <a:rPr sz="1050" b="0" i="0">
                <a:solidFill>
                  <a:srgbClr val="3A4458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B82F6"/>
                </a:solidFill>
                <a:latin typeface="Calibri"/>
              </a:rPr>
              <a:t>web</a:t>
            </a:r>
            <a:r>
              <a:rPr sz="1500" b="1" i="0">
                <a:solidFill>
                  <a:srgbClr val="1A2744"/>
                </a:solidFill>
                <a:latin typeface="Calibri"/>
              </a:rPr>
              <a:t>shooks</a:t>
            </a:r>
            <a:r>
              <a:rPr sz="1500" b="1" i="0">
                <a:solidFill>
                  <a:srgbClr val="F5821F"/>
                </a:solidFill>
                <a:latin typeface="Calibri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5486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A2744"/>
                </a:solidFill>
                <a:latin typeface="Calibri"/>
              </a:rPr>
              <a:t>Alcance del Proyecto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07008"/>
            <a:ext cx="822960" cy="41148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2801"/>
          </a:xfrm>
          <a:prstGeom prst="rect">
            <a:avLst/>
          </a:prstGeom>
          <a:solidFill>
            <a:srgbClr val="D6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webshooks.com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28800"/>
            <a:ext cx="3602736" cy="4297680"/>
          </a:xfrm>
          <a:prstGeom prst="roundRect">
            <a:avLst>
              <a:gd name="adj" fmla="val 4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828800"/>
            <a:ext cx="3602736" cy="502920"/>
          </a:xfrm>
          <a:prstGeom prst="roundRect">
            <a:avLst>
              <a:gd name="adj" fmla="val 8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084831"/>
            <a:ext cx="3602736" cy="24688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828800"/>
            <a:ext cx="3328416" cy="50292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Base de datos &amp;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468880"/>
            <a:ext cx="3273552" cy="35661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80" b="1" i="0">
                <a:solidFill>
                  <a:srgbClr val="3B82F6"/>
                </a:solidFill>
                <a:latin typeface="Calibri"/>
              </a:rPr>
              <a:t>▸  </a:t>
            </a:r>
            <a:r>
              <a:rPr sz="980" b="0" i="0">
                <a:solidFill>
                  <a:srgbClr val="3A4458"/>
                </a:solidFill>
                <a:latin typeface="Calibri"/>
              </a:rPr>
              <a:t>572 empresas + 733 instrumentos (modelo 2 niveles)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80" b="1" i="0">
                <a:solidFill>
                  <a:srgbClr val="3B82F6"/>
                </a:solidFill>
                <a:latin typeface="Calibri"/>
              </a:rPr>
              <a:t>▸  </a:t>
            </a:r>
            <a:r>
              <a:rPr sz="980" b="0" i="0">
                <a:solidFill>
                  <a:srgbClr val="3A4458"/>
                </a:solidFill>
                <a:latin typeface="Calibri"/>
              </a:rPr>
              <a:t>Doble precio ARS/USD + CCL + precio_fuente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80" b="1" i="0">
                <a:solidFill>
                  <a:srgbClr val="3B82F6"/>
                </a:solidFill>
                <a:latin typeface="Calibri"/>
              </a:rPr>
              <a:t>▸  </a:t>
            </a:r>
            <a:r>
              <a:rPr sz="980" b="0" i="0">
                <a:solidFill>
                  <a:srgbClr val="3A4458"/>
                </a:solidFill>
                <a:latin typeface="Calibri"/>
              </a:rPr>
              <a:t>Multi-fuente: SEC · CNV · IAMC · Comafi · JPMorgan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80" b="1" i="0">
                <a:solidFill>
                  <a:srgbClr val="3B82F6"/>
                </a:solidFill>
                <a:latin typeface="Calibri"/>
              </a:rPr>
              <a:t>▸  </a:t>
            </a:r>
            <a:r>
              <a:rPr sz="980" b="0" i="0">
                <a:solidFill>
                  <a:srgbClr val="3A4458"/>
                </a:solidFill>
                <a:latin typeface="Calibri"/>
              </a:rPr>
              <a:t>Jobs: diario (precios) · trimestral · mensual · anual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80" b="1" i="0">
                <a:solidFill>
                  <a:srgbClr val="3B82F6"/>
                </a:solidFill>
                <a:latin typeface="Calibri"/>
              </a:rPr>
              <a:t>▸  </a:t>
            </a:r>
            <a:r>
              <a:rPr sz="980" b="0" i="0">
                <a:solidFill>
                  <a:srgbClr val="3A4458"/>
                </a:solidFill>
                <a:latin typeface="Calibri"/>
              </a:rPr>
              <a:t>Resiliente: si la CNV cae, difiere y avisa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80" b="1" i="0">
                <a:solidFill>
                  <a:srgbClr val="3B82F6"/>
                </a:solidFill>
                <a:latin typeface="Calibri"/>
              </a:rPr>
              <a:t>▸  </a:t>
            </a:r>
            <a:r>
              <a:rPr sz="980" b="0" i="0">
                <a:solidFill>
                  <a:srgbClr val="3A4458"/>
                </a:solidFill>
                <a:latin typeface="Calibri"/>
              </a:rPr>
              <a:t>Migración SQLite → PostgreSQL (esquema definido)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15383" y="1828800"/>
            <a:ext cx="3602736" cy="4297680"/>
          </a:xfrm>
          <a:prstGeom prst="roundRect">
            <a:avLst>
              <a:gd name="adj" fmla="val 4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15383" y="1828800"/>
            <a:ext cx="3602736" cy="502920"/>
          </a:xfrm>
          <a:prstGeom prst="roundRect">
            <a:avLst>
              <a:gd name="adj" fmla="val 8000"/>
            </a:avLst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15383" y="2084831"/>
            <a:ext cx="3602736" cy="246888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52544" y="1828800"/>
            <a:ext cx="3328416" cy="50292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API REST · FastAPI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98264" y="2468880"/>
            <a:ext cx="3273552" cy="35661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80" b="1" i="0">
                <a:solidFill>
                  <a:srgbClr val="F5821F"/>
                </a:solidFill>
                <a:latin typeface="Calibri"/>
              </a:rPr>
              <a:t>▸  </a:t>
            </a:r>
            <a:r>
              <a:rPr sz="980" b="0" i="0">
                <a:solidFill>
                  <a:srgbClr val="3A4458"/>
                </a:solidFill>
                <a:latin typeface="Calibri"/>
              </a:rPr>
              <a:t>GET /empresas (screener, filtros, orden)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80" b="1" i="0">
                <a:solidFill>
                  <a:srgbClr val="F5821F"/>
                </a:solidFill>
                <a:latin typeface="Calibri"/>
              </a:rPr>
              <a:t>▸  </a:t>
            </a:r>
            <a:r>
              <a:rPr sz="980" b="0" i="0">
                <a:solidFill>
                  <a:srgbClr val="3A4458"/>
                </a:solidFill>
                <a:latin typeface="Calibri"/>
              </a:rPr>
              <a:t>GET /empresas/{id} (fundamentales + instrumentos)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80" b="1" i="0">
                <a:solidFill>
                  <a:srgbClr val="F5821F"/>
                </a:solidFill>
                <a:latin typeface="Calibri"/>
              </a:rPr>
              <a:t>▸  </a:t>
            </a:r>
            <a:r>
              <a:rPr sz="980" b="0" i="0">
                <a:solidFill>
                  <a:srgbClr val="3A4458"/>
                </a:solidFill>
                <a:latin typeface="Calibri"/>
              </a:rPr>
              <a:t>GET /instrumentos?tipo=cedear&amp;mercado=BYMA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80" b="1" i="0">
                <a:solidFill>
                  <a:srgbClr val="F5821F"/>
                </a:solidFill>
                <a:latin typeface="Calibri"/>
              </a:rPr>
              <a:t>▸  </a:t>
            </a:r>
            <a:r>
              <a:rPr sz="980" b="0" i="0">
                <a:solidFill>
                  <a:srgbClr val="3A4458"/>
                </a:solidFill>
                <a:latin typeface="Calibri"/>
              </a:rPr>
              <a:t>GET /cobertura (validar_final) — salud del dataset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80" b="1" i="0">
                <a:solidFill>
                  <a:srgbClr val="F5821F"/>
                </a:solidFill>
                <a:latin typeface="Calibri"/>
              </a:rPr>
              <a:t>▸  </a:t>
            </a:r>
            <a:r>
              <a:rPr sz="980" b="0" i="0">
                <a:solidFill>
                  <a:srgbClr val="3A4458"/>
                </a:solidFill>
                <a:latin typeface="Calibri"/>
              </a:rPr>
              <a:t>POST /jobs/{rebuild} · GET /jobs/{id}/status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80" b="1" i="0">
                <a:solidFill>
                  <a:srgbClr val="F5821F"/>
                </a:solidFill>
                <a:latin typeface="Calibri"/>
              </a:rPr>
              <a:t>▸  </a:t>
            </a:r>
            <a:r>
              <a:rPr sz="980" b="0" i="0">
                <a:solidFill>
                  <a:srgbClr val="3A4458"/>
                </a:solidFill>
                <a:latin typeface="Calibri"/>
              </a:rPr>
              <a:t>openapi.json documentado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1828800"/>
            <a:ext cx="3602736" cy="4297680"/>
          </a:xfrm>
          <a:prstGeom prst="roundRect">
            <a:avLst>
              <a:gd name="adj" fmla="val 4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927848" y="1828800"/>
            <a:ext cx="3602736" cy="502920"/>
          </a:xfrm>
          <a:prstGeom prst="roundRect">
            <a:avLst>
              <a:gd name="adj" fmla="val 8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27848" y="2084831"/>
            <a:ext cx="3602736" cy="246888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65008" y="1828800"/>
            <a:ext cx="3328416" cy="50292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FFFFF"/>
                </a:solidFill>
                <a:latin typeface="Calibri"/>
              </a:rPr>
              <a:t>Frontend · Next.js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10727" y="2468880"/>
            <a:ext cx="3273552" cy="35661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80" b="1" i="0">
                <a:solidFill>
                  <a:srgbClr val="43A047"/>
                </a:solidFill>
                <a:latin typeface="Calibri"/>
              </a:rPr>
              <a:t>▸  </a:t>
            </a:r>
            <a:r>
              <a:rPr sz="980" b="0" i="0">
                <a:solidFill>
                  <a:srgbClr val="3A4458"/>
                </a:solidFill>
                <a:latin typeface="Calibri"/>
              </a:rPr>
              <a:t>Screener: 572 empresas, toggle ARS / USD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80" b="1" i="0">
                <a:solidFill>
                  <a:srgbClr val="43A047"/>
                </a:solidFill>
                <a:latin typeface="Calibri"/>
              </a:rPr>
              <a:t>▸  </a:t>
            </a:r>
            <a:r>
              <a:rPr sz="980" b="0" i="0">
                <a:solidFill>
                  <a:srgbClr val="3A4458"/>
                </a:solidFill>
                <a:latin typeface="Calibri"/>
              </a:rPr>
              <a:t>Filtros por ratio + por flag de calidad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80" b="1" i="0">
                <a:solidFill>
                  <a:srgbClr val="43A047"/>
                </a:solidFill>
                <a:latin typeface="Calibri"/>
              </a:rPr>
              <a:t>▸  </a:t>
            </a:r>
            <a:r>
              <a:rPr sz="980" b="0" i="0">
                <a:solidFill>
                  <a:srgbClr val="3A4458"/>
                </a:solidFill>
                <a:latin typeface="Calibri"/>
              </a:rPr>
              <a:t>Detalle: fundamentales + panel de instrumentos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80" b="1" i="0">
                <a:solidFill>
                  <a:srgbClr val="43A047"/>
                </a:solidFill>
                <a:latin typeface="Calibri"/>
              </a:rPr>
              <a:t>▸  </a:t>
            </a:r>
            <a:r>
              <a:rPr sz="980" b="0" i="0">
                <a:solidFill>
                  <a:srgbClr val="3A4458"/>
                </a:solidFill>
                <a:latin typeface="Calibri"/>
              </a:rPr>
              <a:t>Dividendos del ADR + yield · vista CEDEAR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80" b="1" i="0">
                <a:solidFill>
                  <a:srgbClr val="43A047"/>
                </a:solidFill>
                <a:latin typeface="Calibri"/>
              </a:rPr>
              <a:t>▸  </a:t>
            </a:r>
            <a:r>
              <a:rPr sz="980" b="0" i="0">
                <a:solidFill>
                  <a:srgbClr val="3A4458"/>
                </a:solidFill>
                <a:latin typeface="Calibri"/>
              </a:rPr>
              <a:t>Comparador (mismo universo) + provenance por dato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980" b="1" i="0">
                <a:solidFill>
                  <a:srgbClr val="43A047"/>
                </a:solidFill>
                <a:latin typeface="Calibri"/>
              </a:rPr>
              <a:t>▸  </a:t>
            </a:r>
            <a:r>
              <a:rPr sz="980" b="0" i="0">
                <a:solidFill>
                  <a:srgbClr val="3A4458"/>
                </a:solidFill>
                <a:latin typeface="Calibri"/>
              </a:rPr>
              <a:t>Exportar CSV · estados de jobs en vivo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B82F6"/>
                </a:solidFill>
                <a:latin typeface="Calibri"/>
              </a:rPr>
              <a:t>web</a:t>
            </a:r>
            <a:r>
              <a:rPr sz="1500" b="1" i="0">
                <a:solidFill>
                  <a:srgbClr val="1A2744"/>
                </a:solidFill>
                <a:latin typeface="Calibri"/>
              </a:rPr>
              <a:t>shooks</a:t>
            </a:r>
            <a:r>
              <a:rPr sz="1500" b="1" i="0">
                <a:solidFill>
                  <a:srgbClr val="F5821F"/>
                </a:solidFill>
                <a:latin typeface="Calibri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5486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A2744"/>
                </a:solidFill>
                <a:latin typeface="Calibri"/>
              </a:rPr>
              <a:t>Stack Tecnológico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07008"/>
            <a:ext cx="822960" cy="41148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2801"/>
          </a:xfrm>
          <a:prstGeom prst="rect">
            <a:avLst/>
          </a:prstGeom>
          <a:solidFill>
            <a:srgbClr val="D6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webshooks.com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28800"/>
            <a:ext cx="5394960" cy="457200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5029200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395728"/>
            <a:ext cx="5394960" cy="402336"/>
          </a:xfrm>
          <a:prstGeom prst="rect">
            <a:avLst/>
          </a:prstGeom>
          <a:solidFill>
            <a:srgbClr val="F4F8FE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2395728"/>
            <a:ext cx="2011680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589"/>
                </a:solidFill>
                <a:latin typeface="Calibri"/>
              </a:rPr>
              <a:t>Lenguaje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395728"/>
            <a:ext cx="3017520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A2744"/>
                </a:solidFill>
                <a:latin typeface="Calibri"/>
              </a:rPr>
              <a:t>Python 3.11+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852928"/>
            <a:ext cx="5394960" cy="402336"/>
          </a:xfrm>
          <a:prstGeom prst="rect">
            <a:avLst/>
          </a:prstGeom>
          <a:solidFill>
            <a:srgbClr val="F4F8FE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" y="2852928"/>
            <a:ext cx="2011680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589"/>
                </a:solidFill>
                <a:latin typeface="Calibri"/>
              </a:rPr>
              <a:t>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2852928"/>
            <a:ext cx="3017520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A2744"/>
                </a:solidFill>
                <a:latin typeface="Calibri"/>
              </a:rPr>
              <a:t>FastAPI + Uvicorn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310128"/>
            <a:ext cx="5394960" cy="402336"/>
          </a:xfrm>
          <a:prstGeom prst="rect">
            <a:avLst/>
          </a:prstGeom>
          <a:solidFill>
            <a:srgbClr val="F4F8FE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3310128"/>
            <a:ext cx="2011680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589"/>
                </a:solidFill>
                <a:latin typeface="Calibri"/>
              </a:rPr>
              <a:t>Precios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3310128"/>
            <a:ext cx="3017520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A2744"/>
                </a:solidFill>
                <a:latin typeface="Calibri"/>
              </a:rPr>
              <a:t>yfinance + IAMC (BYMA)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767328"/>
            <a:ext cx="5394960" cy="402336"/>
          </a:xfrm>
          <a:prstGeom prst="rect">
            <a:avLst/>
          </a:prstGeom>
          <a:solidFill>
            <a:srgbClr val="F4F8FE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" y="3767328"/>
            <a:ext cx="2011680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589"/>
                </a:solidFill>
                <a:latin typeface="Calibri"/>
              </a:rPr>
              <a:t>Fundamentales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3767328"/>
            <a:ext cx="3017520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A2744"/>
                </a:solidFill>
                <a:latin typeface="Calibri"/>
              </a:rPr>
              <a:t>SEC EDGAR + CNV NIC-29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224528"/>
            <a:ext cx="5394960" cy="402336"/>
          </a:xfrm>
          <a:prstGeom prst="rect">
            <a:avLst/>
          </a:prstGeom>
          <a:solidFill>
            <a:srgbClr val="F4F8FE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7512" y="4224528"/>
            <a:ext cx="2011680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589"/>
                </a:solidFill>
                <a:latin typeface="Calibri"/>
              </a:rPr>
              <a:t>Ratios oficiales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88920" y="4224528"/>
            <a:ext cx="3017520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A2744"/>
                </a:solidFill>
                <a:latin typeface="Calibri"/>
              </a:rPr>
              <a:t>Comafi · SEC F-6 · JPMorgan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4681728"/>
            <a:ext cx="5394960" cy="402336"/>
          </a:xfrm>
          <a:prstGeom prst="rect">
            <a:avLst/>
          </a:prstGeom>
          <a:solidFill>
            <a:srgbClr val="F4F8FE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7512" y="4681728"/>
            <a:ext cx="2011680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589"/>
                </a:solidFill>
                <a:latin typeface="Calibri"/>
              </a:rPr>
              <a:t>Base de datos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88920" y="4681728"/>
            <a:ext cx="3017520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A2744"/>
                </a:solidFill>
                <a:latin typeface="Calibri"/>
              </a:rPr>
              <a:t>PostgreSQL 16 (hoy SQLite)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138928"/>
            <a:ext cx="5394960" cy="402336"/>
          </a:xfrm>
          <a:prstGeom prst="rect">
            <a:avLst/>
          </a:prstGeom>
          <a:solidFill>
            <a:srgbClr val="F4F8FE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" y="5138928"/>
            <a:ext cx="2011680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589"/>
                </a:solidFill>
                <a:latin typeface="Calibri"/>
              </a:rPr>
              <a:t>ORM / Scheduler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88920" y="5138928"/>
            <a:ext cx="3017520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A2744"/>
                </a:solidFill>
                <a:latin typeface="Calibri"/>
              </a:rPr>
              <a:t>SQLAlchemy 2.0 · APScheduler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1828800"/>
            <a:ext cx="5394960" cy="457200"/>
          </a:xfrm>
          <a:prstGeom prst="roundRect">
            <a:avLst>
              <a:gd name="adj" fmla="val 6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1828800"/>
            <a:ext cx="5029200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2395728"/>
            <a:ext cx="5394960" cy="402336"/>
          </a:xfrm>
          <a:prstGeom prst="rect">
            <a:avLst/>
          </a:prstGeom>
          <a:solidFill>
            <a:srgbClr val="F4F8FE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73952" y="2395728"/>
            <a:ext cx="2011680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589"/>
                </a:solidFill>
                <a:latin typeface="Calibri"/>
              </a:rPr>
              <a:t>Framework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0" y="2395728"/>
            <a:ext cx="3017520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A2744"/>
                </a:solidFill>
                <a:latin typeface="Calibri"/>
              </a:rPr>
              <a:t>Next.js 14 (App Router)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2852928"/>
            <a:ext cx="5394960" cy="402336"/>
          </a:xfrm>
          <a:prstGeom prst="rect">
            <a:avLst/>
          </a:prstGeom>
          <a:solidFill>
            <a:srgbClr val="F4F8FE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73952" y="2852928"/>
            <a:ext cx="2011680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589"/>
                </a:solidFill>
                <a:latin typeface="Calibri"/>
              </a:rPr>
              <a:t>Lenguaje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60" y="2852928"/>
            <a:ext cx="3017520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A2744"/>
                </a:solidFill>
                <a:latin typeface="Calibri"/>
              </a:rPr>
              <a:t>TypeScript 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09360" y="3310128"/>
            <a:ext cx="5394960" cy="402336"/>
          </a:xfrm>
          <a:prstGeom prst="rect">
            <a:avLst/>
          </a:prstGeom>
          <a:solidFill>
            <a:srgbClr val="F4F8FE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73952" y="3310128"/>
            <a:ext cx="2011680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589"/>
                </a:solidFill>
                <a:latin typeface="Calibri"/>
              </a:rPr>
              <a:t>Estilos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5360" y="3310128"/>
            <a:ext cx="3017520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A2744"/>
                </a:solidFill>
                <a:latin typeface="Calibri"/>
              </a:rPr>
              <a:t>Tailwind CSS 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09360" y="3767328"/>
            <a:ext cx="5394960" cy="402336"/>
          </a:xfrm>
          <a:prstGeom prst="rect">
            <a:avLst/>
          </a:prstGeom>
          <a:solidFill>
            <a:srgbClr val="F4F8FE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73952" y="3767328"/>
            <a:ext cx="2011680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589"/>
                </a:solidFill>
                <a:latin typeface="Calibri"/>
              </a:rPr>
              <a:t>Componentes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95360" y="3767328"/>
            <a:ext cx="3017520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A2744"/>
                </a:solidFill>
                <a:latin typeface="Calibri"/>
              </a:rPr>
              <a:t>shadcn/ui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309360" y="4224528"/>
            <a:ext cx="5394960" cy="402336"/>
          </a:xfrm>
          <a:prstGeom prst="rect">
            <a:avLst/>
          </a:prstGeom>
          <a:solidFill>
            <a:srgbClr val="F4F8FE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73952" y="4224528"/>
            <a:ext cx="2011680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589"/>
                </a:solidFill>
                <a:latin typeface="Calibri"/>
              </a:rPr>
              <a:t>Fetch / cache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95360" y="4224528"/>
            <a:ext cx="3017520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A2744"/>
                </a:solidFill>
                <a:latin typeface="Calibri"/>
              </a:rPr>
              <a:t>SWR + React Query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09360" y="4681728"/>
            <a:ext cx="5394960" cy="402336"/>
          </a:xfrm>
          <a:prstGeom prst="rect">
            <a:avLst/>
          </a:prstGeom>
          <a:solidFill>
            <a:srgbClr val="F4F8FE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73952" y="4681728"/>
            <a:ext cx="2011680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589"/>
                </a:solidFill>
                <a:latin typeface="Calibri"/>
              </a:rPr>
              <a:t>Iconos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95360" y="4681728"/>
            <a:ext cx="3017520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A2744"/>
                </a:solidFill>
                <a:latin typeface="Calibri"/>
              </a:rPr>
              <a:t>Tabler Icons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09360" y="5138928"/>
            <a:ext cx="5394960" cy="402336"/>
          </a:xfrm>
          <a:prstGeom prst="rect">
            <a:avLst/>
          </a:prstGeom>
          <a:solidFill>
            <a:srgbClr val="F4F8FE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73952" y="5138928"/>
            <a:ext cx="2011680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589"/>
                </a:solidFill>
                <a:latin typeface="Calibri"/>
              </a:rPr>
              <a:t>Tipografía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95360" y="5138928"/>
            <a:ext cx="3017520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A2744"/>
                </a:solidFill>
                <a:latin typeface="Calibri"/>
              </a:rPr>
              <a:t>Calibri / Inter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02920" y="5806440"/>
            <a:ext cx="11183112" cy="640080"/>
          </a:xfrm>
          <a:prstGeom prst="roundRect">
            <a:avLst>
              <a:gd name="adj" fmla="val 5000"/>
            </a:avLst>
          </a:prstGeom>
          <a:solidFill>
            <a:srgbClr val="FDF0E4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502920" y="5806440"/>
            <a:ext cx="64008" cy="640080"/>
          </a:xfrm>
          <a:prstGeom prst="roundRect">
            <a:avLst>
              <a:gd name="adj" fmla="val 50000"/>
            </a:avLst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85800" y="5897879"/>
            <a:ext cx="10863072" cy="29260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5821F"/>
                </a:solidFill>
                <a:latin typeface="Calibri"/>
              </a:rPr>
              <a:t>Clave vs. la propuesta original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5800" y="6190488"/>
            <a:ext cx="10835640" cy="164591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3A4458"/>
                </a:solidFill>
                <a:latin typeface="Calibri"/>
              </a:rPr>
              <a:t>Fuentes oficiales múltiples con trazabilidad (source_url) en lugar de scraping frágil. Riesgo legal y de mantenimiento acotado; el pipeline se reconstruye desde un raw cache sin volver a golpear la 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B82F6"/>
                </a:solidFill>
                <a:latin typeface="Calibri"/>
              </a:rPr>
              <a:t>web</a:t>
            </a:r>
            <a:r>
              <a:rPr sz="1500" b="1" i="0">
                <a:solidFill>
                  <a:srgbClr val="1A2744"/>
                </a:solidFill>
                <a:latin typeface="Calibri"/>
              </a:rPr>
              <a:t>shooks</a:t>
            </a:r>
            <a:r>
              <a:rPr sz="1500" b="1" i="0">
                <a:solidFill>
                  <a:srgbClr val="F5821F"/>
                </a:solidFill>
                <a:latin typeface="Calibri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5486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A2744"/>
                </a:solidFill>
                <a:latin typeface="Calibri"/>
              </a:rPr>
              <a:t>Cobertura del Universo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07008"/>
            <a:ext cx="822960" cy="41148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1298448"/>
            <a:ext cx="11155680" cy="5029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B7589"/>
                </a:solidFill>
                <a:latin typeface="Calibri"/>
              </a:rPr>
              <a:t>De las fuentes oficiales al dataset listo para producción — 3 mercados, doble moneda, 100 % trazable.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55664"/>
            <a:ext cx="11183112" cy="12801"/>
          </a:xfrm>
          <a:prstGeom prst="rect">
            <a:avLst/>
          </a:prstGeom>
          <a:solidFill>
            <a:srgbClr val="D6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webshooks.com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874519"/>
            <a:ext cx="2606040" cy="1325880"/>
          </a:xfrm>
          <a:prstGeom prst="roundRect">
            <a:avLst>
              <a:gd name="adj" fmla="val 8000"/>
            </a:avLst>
          </a:prstGeom>
          <a:solidFill>
            <a:srgbClr val="DC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74519"/>
            <a:ext cx="2606040" cy="548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020824"/>
            <a:ext cx="2606040" cy="6400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A2744"/>
                </a:solidFill>
                <a:latin typeface="Calibri"/>
              </a:rPr>
              <a:t>572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715768"/>
            <a:ext cx="2423160" cy="42976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589"/>
                </a:solidFill>
                <a:latin typeface="Calibri"/>
              </a:rPr>
              <a:t>Empresas con ratios calculados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00984" y="1874519"/>
            <a:ext cx="2606040" cy="1325880"/>
          </a:xfrm>
          <a:prstGeom prst="roundRect">
            <a:avLst>
              <a:gd name="adj" fmla="val 8000"/>
            </a:avLst>
          </a:prstGeom>
          <a:solidFill>
            <a:srgbClr val="DC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00984" y="1874519"/>
            <a:ext cx="2606040" cy="54864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00984" y="2020824"/>
            <a:ext cx="2606040" cy="6400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A2744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92424" y="2715768"/>
            <a:ext cx="2423160" cy="42976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589"/>
                </a:solidFill>
                <a:latin typeface="Calibri"/>
              </a:rPr>
              <a:t>Mercados unificados (US · ADR · BYMA)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99048" y="1874519"/>
            <a:ext cx="2606040" cy="1325880"/>
          </a:xfrm>
          <a:prstGeom prst="roundRect">
            <a:avLst>
              <a:gd name="adj" fmla="val 8000"/>
            </a:avLst>
          </a:prstGeom>
          <a:solidFill>
            <a:srgbClr val="DC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99048" y="1874519"/>
            <a:ext cx="2606040" cy="54864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099048" y="2020824"/>
            <a:ext cx="2606040" cy="6400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A2744"/>
                </a:solidFill>
                <a:latin typeface="Calibri"/>
              </a:rPr>
              <a:t>144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0488" y="2715768"/>
            <a:ext cx="2423160" cy="42976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589"/>
                </a:solidFill>
                <a:latin typeface="Calibri"/>
              </a:rPr>
              <a:t>CEDEARs con ratio oficial (Comafi)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97112" y="1874519"/>
            <a:ext cx="2606040" cy="1325880"/>
          </a:xfrm>
          <a:prstGeom prst="roundRect">
            <a:avLst>
              <a:gd name="adj" fmla="val 8000"/>
            </a:avLst>
          </a:prstGeom>
          <a:solidFill>
            <a:srgbClr val="DCEA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97112" y="1874519"/>
            <a:ext cx="2606040" cy="54864"/>
          </a:xfrm>
          <a:prstGeom prst="rect">
            <a:avLst/>
          </a:prstGeom>
          <a:solidFill>
            <a:srgbClr val="1A4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97112" y="2020824"/>
            <a:ext cx="2606040" cy="6400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A2744"/>
                </a:solidFill>
                <a:latin typeface="Calibri"/>
              </a:rPr>
              <a:t>733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8552" y="2715768"/>
            <a:ext cx="2423160" cy="42976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589"/>
                </a:solidFill>
                <a:latin typeface="Calibri"/>
              </a:rPr>
              <a:t>Instrumentos negociables con ISIN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3429000"/>
            <a:ext cx="11155680" cy="3200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A2744"/>
                </a:solidFill>
                <a:latin typeface="Calibri"/>
              </a:rPr>
              <a:t>Composición del dataset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3794760"/>
            <a:ext cx="4216583" cy="402336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6072" y="3794760"/>
            <a:ext cx="4106855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070" b="1" i="0">
                <a:solidFill>
                  <a:srgbClr val="FFFFFF"/>
                </a:solidFill>
                <a:latin typeface="Calibri"/>
              </a:rPr>
              <a:t>Segmento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19503" y="3794760"/>
            <a:ext cx="4216583" cy="402336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92655" y="3794760"/>
            <a:ext cx="4106855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070" b="1" i="0">
                <a:solidFill>
                  <a:srgbClr val="FFFFFF"/>
                </a:solidFill>
                <a:latin typeface="Calibri"/>
              </a:rPr>
              <a:t>Fuente / taxonomía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936086" y="3794760"/>
            <a:ext cx="2749945" cy="402336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9238" y="3794760"/>
            <a:ext cx="2640217" cy="402336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200"/>
              </a:spcAft>
            </a:pPr>
            <a:r>
              <a:rPr sz="1070" b="1" i="0">
                <a:solidFill>
                  <a:srgbClr val="FFFFFF"/>
                </a:solidFill>
                <a:latin typeface="Calibri"/>
              </a:rPr>
              <a:t>Estado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4197096"/>
            <a:ext cx="11183112" cy="457200"/>
          </a:xfrm>
          <a:prstGeom prst="rect">
            <a:avLst/>
          </a:prstGeom>
          <a:solidFill>
            <a:srgbClr val="F4F8FE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6072" y="4197096"/>
            <a:ext cx="4106855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19" b="1" i="0">
                <a:solidFill>
                  <a:srgbClr val="1A2744"/>
                </a:solidFill>
                <a:latin typeface="Calibri"/>
              </a:rPr>
              <a:t>S&amp;P 500 (large caps EE.UU.)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92655" y="4197096"/>
            <a:ext cx="4106855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19" b="0" i="0">
                <a:solidFill>
                  <a:srgbClr val="3A4458"/>
                </a:solidFill>
                <a:latin typeface="Calibri"/>
              </a:rPr>
              <a:t>SEC EDGAR · us-gaap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09238" y="4197096"/>
            <a:ext cx="2640217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19" b="1" i="0">
                <a:solidFill>
                  <a:srgbClr val="1F6B35"/>
                </a:solidFill>
                <a:latin typeface="Calibri"/>
              </a:rPr>
              <a:t>✓ 499 cubiertas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4654296"/>
            <a:ext cx="1118311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6072" y="4654296"/>
            <a:ext cx="4106855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19" b="1" i="0">
                <a:solidFill>
                  <a:srgbClr val="1A2744"/>
                </a:solidFill>
                <a:latin typeface="Calibri"/>
              </a:rPr>
              <a:t>ADR Argentina (GGAL, PAM, BMA, YPF, CRESY…)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92655" y="4654296"/>
            <a:ext cx="4106855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19" b="0" i="0">
                <a:solidFill>
                  <a:srgbClr val="3A4458"/>
                </a:solidFill>
                <a:latin typeface="Calibri"/>
              </a:rPr>
              <a:t>EDGAR (20-F) + F-6 + JPMorgan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09238" y="4654296"/>
            <a:ext cx="2640217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19" b="1" i="0">
                <a:solidFill>
                  <a:srgbClr val="1F6B35"/>
                </a:solidFill>
                <a:latin typeface="Calibri"/>
              </a:rPr>
              <a:t>✓ 17 · ratio ADR oficial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5111496"/>
            <a:ext cx="11183112" cy="457200"/>
          </a:xfrm>
          <a:prstGeom prst="rect">
            <a:avLst/>
          </a:prstGeom>
          <a:solidFill>
            <a:srgbClr val="F4F8FE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6072" y="5111496"/>
            <a:ext cx="4106855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19" b="1" i="0">
                <a:solidFill>
                  <a:srgbClr val="1A2744"/>
                </a:solidFill>
                <a:latin typeface="Calibri"/>
              </a:rPr>
              <a:t>BYMA-only (locales sin ADR)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92655" y="5111496"/>
            <a:ext cx="4106855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19" b="0" i="0">
                <a:solidFill>
                  <a:srgbClr val="3A4458"/>
                </a:solidFill>
                <a:latin typeface="Calibri"/>
              </a:rPr>
              <a:t>CNV · NIC 29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09238" y="5111496"/>
            <a:ext cx="2640217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19" b="1" i="0">
                <a:solidFill>
                  <a:srgbClr val="1F6B35"/>
                </a:solidFill>
                <a:latin typeface="Calibri"/>
              </a:rPr>
              <a:t>✓ 56 · fundamentales AR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5568696"/>
            <a:ext cx="11183112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6072" y="5568696"/>
            <a:ext cx="4106855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19" b="1" i="0">
                <a:solidFill>
                  <a:srgbClr val="1A2744"/>
                </a:solidFill>
                <a:latin typeface="Calibri"/>
              </a:rPr>
              <a:t>CEDEARs con ratio de conversión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92655" y="5568696"/>
            <a:ext cx="4106855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19" b="0" i="0">
                <a:solidFill>
                  <a:srgbClr val="3A4458"/>
                </a:solidFill>
                <a:latin typeface="Calibri"/>
              </a:rPr>
              <a:t>Banco Comafi (emisor)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09238" y="5568696"/>
            <a:ext cx="2640217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19" b="1" i="0">
                <a:solidFill>
                  <a:srgbClr val="1F6B35"/>
                </a:solidFill>
                <a:latin typeface="Calibri"/>
              </a:rPr>
              <a:t>✓ 144 · N:1 por instrumento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6025896"/>
            <a:ext cx="11183112" cy="457200"/>
          </a:xfrm>
          <a:prstGeom prst="rect">
            <a:avLst/>
          </a:prstGeom>
          <a:solidFill>
            <a:srgbClr val="F4F8FE"/>
          </a:solidFill>
          <a:ln w="6350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76072" y="6025896"/>
            <a:ext cx="4106855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19" b="1" i="0">
                <a:solidFill>
                  <a:srgbClr val="1A2744"/>
                </a:solidFill>
                <a:latin typeface="Calibri"/>
              </a:rPr>
              <a:t>Precio CEDEAR real de IAMC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92655" y="6025896"/>
            <a:ext cx="4106855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19" b="0" i="0">
                <a:solidFill>
                  <a:srgbClr val="3A4458"/>
                </a:solidFill>
                <a:latin typeface="Calibri"/>
              </a:rPr>
              <a:t>BYMA · IAMC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09238" y="6025896"/>
            <a:ext cx="2640217" cy="45720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200"/>
              </a:spcAft>
            </a:pPr>
            <a:r>
              <a:rPr sz="1019" b="1" i="0">
                <a:solidFill>
                  <a:srgbClr val="B8860B"/>
                </a:solidFill>
                <a:latin typeface="Calibri"/>
              </a:rPr>
              <a:t>⚠ hoy teórico (usd × CCL)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B82F6"/>
                </a:solidFill>
                <a:latin typeface="Calibri"/>
              </a:rPr>
              <a:t>web</a:t>
            </a:r>
            <a:r>
              <a:rPr sz="1500" b="1" i="0">
                <a:solidFill>
                  <a:srgbClr val="1A2744"/>
                </a:solidFill>
                <a:latin typeface="Calibri"/>
              </a:rPr>
              <a:t>shooks</a:t>
            </a:r>
            <a:r>
              <a:rPr sz="1500" b="1" i="0">
                <a:solidFill>
                  <a:srgbClr val="F5821F"/>
                </a:solidFill>
                <a:latin typeface="Calibri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5486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A2744"/>
                </a:solidFill>
                <a:latin typeface="Calibri"/>
              </a:rPr>
              <a:t>Arquitectura del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07008"/>
            <a:ext cx="822960" cy="41148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1298448"/>
            <a:ext cx="11155680" cy="5029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B7589"/>
                </a:solidFill>
                <a:latin typeface="Calibri"/>
              </a:rPr>
              <a:t>Cada bloque tiene input/output definido y se re-ejecuta solo. El raw cache de cada fuente se descarga una vez (lo caro es el rate limit, no el cómputo).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55664"/>
            <a:ext cx="11183112" cy="12801"/>
          </a:xfrm>
          <a:prstGeom prst="rect">
            <a:avLst/>
          </a:prstGeom>
          <a:solidFill>
            <a:srgbClr val="D6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webshooks.com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65960"/>
            <a:ext cx="2121408" cy="2286000"/>
          </a:xfrm>
          <a:prstGeom prst="roundRect">
            <a:avLst>
              <a:gd name="adj" fmla="val 5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965960"/>
            <a:ext cx="2121408" cy="566928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249424"/>
            <a:ext cx="2121408" cy="283464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1938527" cy="566928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1 · Extracción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651760"/>
            <a:ext cx="1847088" cy="14630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40" b="0" i="0">
                <a:solidFill>
                  <a:srgbClr val="3A4458"/>
                </a:solidFill>
                <a:latin typeface="Calibri"/>
              </a:rPr>
              <a:t>SEC EDGAR · CNV · IAMC · Comafi · JPMorgan → raw cache local (fuente de verdad)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2834640"/>
            <a:ext cx="457200" cy="365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AAB4C8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52344" y="1965960"/>
            <a:ext cx="2121408" cy="2286000"/>
          </a:xfrm>
          <a:prstGeom prst="roundRect">
            <a:avLst>
              <a:gd name="adj" fmla="val 5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752344" y="1965960"/>
            <a:ext cx="2121408" cy="566928"/>
          </a:xfrm>
          <a:prstGeom prst="roundRect">
            <a:avLst>
              <a:gd name="adj" fmla="val 6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52344" y="2249424"/>
            <a:ext cx="2121408" cy="283464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43784" y="1965960"/>
            <a:ext cx="1938527" cy="566928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2 · Ratios base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9503" y="2651760"/>
            <a:ext cx="1847088" cy="14630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40" b="0" i="0">
                <a:solidFill>
                  <a:srgbClr val="3A4458"/>
                </a:solidFill>
                <a:latin typeface="Calibri"/>
              </a:rPr>
              <a:t>~16 ratios fundamentales: márgenes, ROE, deuda/EBITDA, EV/EBITDA, CAGR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55464" y="2834640"/>
            <a:ext cx="457200" cy="365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AAB4C8"/>
                </a:solidFill>
                <a:latin typeface="Calibr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01768" y="1965960"/>
            <a:ext cx="2121408" cy="2286000"/>
          </a:xfrm>
          <a:prstGeom prst="roundRect">
            <a:avLst>
              <a:gd name="adj" fmla="val 5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001768" y="1965960"/>
            <a:ext cx="2121408" cy="566928"/>
          </a:xfrm>
          <a:prstGeom prst="roundRect">
            <a:avLst>
              <a:gd name="adj" fmla="val 6000"/>
            </a:avLst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001768" y="2249424"/>
            <a:ext cx="2121408" cy="283464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93207" y="1965960"/>
            <a:ext cx="1938527" cy="566928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3 · Ensamble 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38928" y="2651760"/>
            <a:ext cx="1847088" cy="14630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40" b="0" i="0">
                <a:solidFill>
                  <a:srgbClr val="3A4458"/>
                </a:solidFill>
                <a:latin typeface="Calibri"/>
              </a:rPr>
              <a:t>doble precio ARS/USD, CCL, ratios CEDEAR (Comafi) y ADR (F-6/JPM)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04888" y="2834640"/>
            <a:ext cx="457200" cy="365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AAB4C8"/>
                </a:solidFill>
                <a:latin typeface="Calibri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251192" y="1965960"/>
            <a:ext cx="2121408" cy="2286000"/>
          </a:xfrm>
          <a:prstGeom prst="roundRect">
            <a:avLst>
              <a:gd name="adj" fmla="val 5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251192" y="1965960"/>
            <a:ext cx="2121408" cy="566928"/>
          </a:xfrm>
          <a:prstGeom prst="roundRect">
            <a:avLst>
              <a:gd name="adj" fmla="val 6000"/>
            </a:avLst>
          </a:prstGeom>
          <a:solidFill>
            <a:srgbClr val="1A4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251192" y="2249424"/>
            <a:ext cx="2121408" cy="283464"/>
          </a:xfrm>
          <a:prstGeom prst="rect">
            <a:avLst/>
          </a:prstGeom>
          <a:solidFill>
            <a:srgbClr val="1A4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42631" y="1965960"/>
            <a:ext cx="1938527" cy="566928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4 · Modelo 2 niveles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88352" y="2651760"/>
            <a:ext cx="1847088" cy="14630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40" b="0" i="0">
                <a:solidFill>
                  <a:srgbClr val="3A4458"/>
                </a:solidFill>
                <a:latin typeface="Calibri"/>
              </a:rPr>
              <a:t>empresa + 733 instrumentos con ISIN, moneda, precio y ratio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54312" y="2834640"/>
            <a:ext cx="457200" cy="365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AAB4C8"/>
                </a:solidFill>
                <a:latin typeface="Calibri"/>
              </a:rP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00616" y="1965960"/>
            <a:ext cx="2121408" cy="2286000"/>
          </a:xfrm>
          <a:prstGeom prst="roundRect">
            <a:avLst>
              <a:gd name="adj" fmla="val 5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500616" y="1965960"/>
            <a:ext cx="2121408" cy="566928"/>
          </a:xfrm>
          <a:prstGeom prst="roundRect">
            <a:avLst>
              <a:gd name="adj" fmla="val 6000"/>
            </a:avLst>
          </a:prstGeom>
          <a:solidFill>
            <a:srgbClr val="3A4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500616" y="2249424"/>
            <a:ext cx="2121408" cy="283464"/>
          </a:xfrm>
          <a:prstGeom prst="rect">
            <a:avLst/>
          </a:prstGeom>
          <a:solidFill>
            <a:srgbClr val="3A4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92056" y="1965960"/>
            <a:ext cx="1938527" cy="566928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5 · Calidad + Export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37776" y="2651760"/>
            <a:ext cx="1847088" cy="14630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40" b="0" i="0">
                <a:solidFill>
                  <a:srgbClr val="3A4458"/>
                </a:solidFill>
                <a:latin typeface="Calibri"/>
              </a:rPr>
              <a:t>flags / sanity gates / no_significativo → CSV + JSON + SQL con source_url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4617720"/>
            <a:ext cx="11183112" cy="1508760"/>
          </a:xfrm>
          <a:prstGeom prst="roundRect">
            <a:avLst>
              <a:gd name="adj" fmla="val 5000"/>
            </a:avLst>
          </a:prstGeom>
          <a:solidFill>
            <a:srgbClr val="FDF0E4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02920" y="4617720"/>
            <a:ext cx="64008" cy="1508760"/>
          </a:xfrm>
          <a:prstGeom prst="roundRect">
            <a:avLst>
              <a:gd name="adj" fmla="val 50000"/>
            </a:avLst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4709159"/>
            <a:ext cx="10863072" cy="310896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5821F"/>
                </a:solidFill>
                <a:latin typeface="Calibri"/>
              </a:rPr>
              <a:t>Principio de diseño + resiliencia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5020055"/>
            <a:ext cx="10835640" cy="1014983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3A4458"/>
                </a:solidFill>
                <a:latin typeface="Calibri"/>
              </a:rPr>
              <a:t>El raw cache es la fuente de verdad: se baja una vez de cada fuente y la base se reconstruye sin volver a la red. Si cambia una fórmula, se recalcula en segundos.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3A4458"/>
                </a:solidFill>
                <a:latin typeface="Calibri"/>
              </a:rPr>
              <a:t>Resiliencia CNV (single point of failure): si la fuente argentina no responde, el pipeline </a:t>
            </a:r>
            <a:r>
              <a:rPr sz="1050" b="1" i="0">
                <a:solidFill>
                  <a:srgbClr val="F5821F"/>
                </a:solidFill>
                <a:latin typeface="Calibri"/>
              </a:rPr>
              <a:t>difiere y avisa</a:t>
            </a:r>
            <a:r>
              <a:rPr sz="1050" b="0" i="0">
                <a:solidFill>
                  <a:srgbClr val="3A4458"/>
                </a:solidFill>
                <a:latin typeface="Calibri"/>
              </a:rPr>
              <a:t> (cnv_last_status) en vez de arrastrar dato viejo en silencio. Jobs periódicos: precios diario · fundamentales trimestral · IPC mensual · universo anual.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B82F6"/>
                </a:solidFill>
                <a:latin typeface="Calibri"/>
              </a:rPr>
              <a:t>web</a:t>
            </a:r>
            <a:r>
              <a:rPr sz="1500" b="1" i="0">
                <a:solidFill>
                  <a:srgbClr val="1A2744"/>
                </a:solidFill>
                <a:latin typeface="Calibri"/>
              </a:rPr>
              <a:t>shooks</a:t>
            </a:r>
            <a:r>
              <a:rPr sz="1500" b="1" i="0">
                <a:solidFill>
                  <a:srgbClr val="F5821F"/>
                </a:solidFill>
                <a:latin typeface="Calibri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5486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A2744"/>
                </a:solidFill>
                <a:latin typeface="Calibri"/>
              </a:rPr>
              <a:t>Equipo de Trabajo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07008"/>
            <a:ext cx="822960" cy="41148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2801"/>
          </a:xfrm>
          <a:prstGeom prst="rect">
            <a:avLst/>
          </a:prstGeom>
          <a:solidFill>
            <a:srgbClr val="D6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webshooks.com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28800"/>
            <a:ext cx="5440680" cy="2121408"/>
          </a:xfrm>
          <a:prstGeom prst="roundRect">
            <a:avLst>
              <a:gd name="adj" fmla="val 4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828800"/>
            <a:ext cx="73152" cy="2121408"/>
          </a:xfrm>
          <a:prstGeom prst="roundRect">
            <a:avLst>
              <a:gd name="adj" fmla="val 50000"/>
            </a:avLst>
          </a:prstGeom>
          <a:solidFill>
            <a:srgbClr val="1A4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938528"/>
            <a:ext cx="5074920" cy="365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A4D8F"/>
                </a:solidFill>
                <a:latin typeface="Calibri"/>
              </a:rPr>
              <a:t>Federico — Arquitecto · Tech Lead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" y="2359152"/>
            <a:ext cx="4983480" cy="1508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40" b="1" i="0">
                <a:solidFill>
                  <a:srgbClr val="1A4D8F"/>
                </a:solidFill>
                <a:latin typeface="Calibri"/>
              </a:rPr>
              <a:t>▸ 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Arquitectura del pipeline multi-fuente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40" b="1" i="0">
                <a:solidFill>
                  <a:srgbClr val="1A4D8F"/>
                </a:solidFill>
                <a:latin typeface="Calibri"/>
              </a:rPr>
              <a:t>▸ 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Modelo de 2 niveles (empresa + instrumentos)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40" b="1" i="0">
                <a:solidFill>
                  <a:srgbClr val="1A4D8F"/>
                </a:solidFill>
                <a:latin typeface="Calibri"/>
              </a:rPr>
              <a:t>▸ 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Metodología de validación (CCL, provenance)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40" b="1" i="0">
                <a:solidFill>
                  <a:srgbClr val="1A4D8F"/>
                </a:solidFill>
                <a:latin typeface="Calibri"/>
              </a:rPr>
              <a:t>▸ 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Integración, code review y QA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40" b="1" i="0">
                <a:solidFill>
                  <a:srgbClr val="1A4D8F"/>
                </a:solidFill>
                <a:latin typeface="Calibri"/>
              </a:rPr>
              <a:t>▸ 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Deploy y soporte post-entrega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45352" y="1828800"/>
            <a:ext cx="5440680" cy="2121408"/>
          </a:xfrm>
          <a:prstGeom prst="roundRect">
            <a:avLst>
              <a:gd name="adj" fmla="val 4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45352" y="1828800"/>
            <a:ext cx="73152" cy="212140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938528"/>
            <a:ext cx="5074920" cy="365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B82F6"/>
                </a:solidFill>
                <a:latin typeface="Calibri"/>
              </a:rPr>
              <a:t>Mateo — Backend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2359152"/>
            <a:ext cx="4983480" cy="1508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40" b="1" i="0">
                <a:solidFill>
                  <a:srgbClr val="3B82F6"/>
                </a:solidFill>
                <a:latin typeface="Calibri"/>
              </a:rPr>
              <a:t>▸ 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Pipeline SEC EDGAR + CNV NIC-29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40" b="1" i="0">
                <a:solidFill>
                  <a:srgbClr val="3B82F6"/>
                </a:solidFill>
                <a:latin typeface="Calibri"/>
              </a:rPr>
              <a:t>▸ 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Ratios CEDEAR/ADR oficiales (Comafi, F-6, JPM)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40" b="1" i="0">
                <a:solidFill>
                  <a:srgbClr val="3B82F6"/>
                </a:solidFill>
                <a:latin typeface="Calibri"/>
              </a:rPr>
              <a:t>▸ 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Doble precio ARS/USD + CCL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40" b="1" i="0">
                <a:solidFill>
                  <a:srgbClr val="3B82F6"/>
                </a:solidFill>
                <a:latin typeface="Calibri"/>
              </a:rPr>
              <a:t>▸ 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Jobs periódicos + resiliencia CNV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40" b="1" i="0">
                <a:solidFill>
                  <a:srgbClr val="3B82F6"/>
                </a:solidFill>
                <a:latin typeface="Calibri"/>
              </a:rPr>
              <a:t>▸ 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Endpoints FastAPI + APScheduler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114800"/>
            <a:ext cx="5440680" cy="2121408"/>
          </a:xfrm>
          <a:prstGeom prst="roundRect">
            <a:avLst>
              <a:gd name="adj" fmla="val 4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02920" y="4114800"/>
            <a:ext cx="73152" cy="2121408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4224528"/>
            <a:ext cx="5074920" cy="365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43A047"/>
                </a:solidFill>
                <a:latin typeface="Calibri"/>
              </a:rPr>
              <a:t>Joaquín — Frontend 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4645152"/>
            <a:ext cx="4983480" cy="1508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40" b="1" i="0">
                <a:solidFill>
                  <a:srgbClr val="43A047"/>
                </a:solidFill>
                <a:latin typeface="Calibri"/>
              </a:rPr>
              <a:t>▸ 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Screener: tabla 572 empresas, toggle ARS/USD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40" b="1" i="0">
                <a:solidFill>
                  <a:srgbClr val="43A047"/>
                </a:solidFill>
                <a:latin typeface="Calibri"/>
              </a:rPr>
              <a:t>▸ 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Filtros por ratio + flag de calidad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40" b="1" i="0">
                <a:solidFill>
                  <a:srgbClr val="43A047"/>
                </a:solidFill>
                <a:latin typeface="Calibri"/>
              </a:rPr>
              <a:t>▸ 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Sorting + paginación + exportar CSV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40" b="1" i="0">
                <a:solidFill>
                  <a:srgbClr val="43A047"/>
                </a:solidFill>
                <a:latin typeface="Calibri"/>
              </a:rPr>
              <a:t>▸ 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Panel de jobs en tiempo real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40" b="1" i="0">
                <a:solidFill>
                  <a:srgbClr val="43A047"/>
                </a:solidFill>
                <a:latin typeface="Calibri"/>
              </a:rPr>
              <a:t>▸ 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Detalle de empresa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45352" y="4114800"/>
            <a:ext cx="5440680" cy="2121408"/>
          </a:xfrm>
          <a:prstGeom prst="roundRect">
            <a:avLst>
              <a:gd name="adj" fmla="val 4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45352" y="4114800"/>
            <a:ext cx="73152" cy="2121408"/>
          </a:xfrm>
          <a:prstGeom prst="roundRect">
            <a:avLst>
              <a:gd name="adj" fmla="val 50000"/>
            </a:avLst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4224528"/>
            <a:ext cx="5074920" cy="365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F5821F"/>
                </a:solidFill>
                <a:latin typeface="Calibri"/>
              </a:rPr>
              <a:t>Aldana — Frontend 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1384" y="4645152"/>
            <a:ext cx="4983480" cy="1508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40" b="1" i="0">
                <a:solidFill>
                  <a:srgbClr val="F5821F"/>
                </a:solidFill>
                <a:latin typeface="Calibri"/>
              </a:rPr>
              <a:t>▸ 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Panel de instrumentos (ADR/CEDEAR/local)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40" b="1" i="0">
                <a:solidFill>
                  <a:srgbClr val="F5821F"/>
                </a:solidFill>
                <a:latin typeface="Calibri"/>
              </a:rPr>
              <a:t>▸ 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Dividendos del ADR + yield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40" b="1" i="0">
                <a:solidFill>
                  <a:srgbClr val="F5821F"/>
                </a:solidFill>
                <a:latin typeface="Calibri"/>
              </a:rPr>
              <a:t>▸ 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Vista CEDEAR + comparador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40" b="1" i="0">
                <a:solidFill>
                  <a:srgbClr val="F5821F"/>
                </a:solidFill>
                <a:latin typeface="Calibri"/>
              </a:rPr>
              <a:t>▸ 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Chips de provenance por dato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940" b="1" i="0">
                <a:solidFill>
                  <a:srgbClr val="F5821F"/>
                </a:solidFill>
                <a:latin typeface="Calibri"/>
              </a:rPr>
              <a:t>▸  </a:t>
            </a:r>
            <a:r>
              <a:rPr sz="940" b="0" i="0">
                <a:solidFill>
                  <a:srgbClr val="3A4458"/>
                </a:solidFill>
                <a:latin typeface="Calibri"/>
              </a:rPr>
              <a:t>Estados vacíos / loading / responsive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B82F6"/>
                </a:solidFill>
                <a:latin typeface="Calibri"/>
              </a:rPr>
              <a:t>web</a:t>
            </a:r>
            <a:r>
              <a:rPr sz="1500" b="1" i="0">
                <a:solidFill>
                  <a:srgbClr val="1A2744"/>
                </a:solidFill>
                <a:latin typeface="Calibri"/>
              </a:rPr>
              <a:t>shooks</a:t>
            </a:r>
            <a:r>
              <a:rPr sz="1500" b="1" i="0">
                <a:solidFill>
                  <a:srgbClr val="F5821F"/>
                </a:solidFill>
                <a:latin typeface="Calibri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5486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A2744"/>
                </a:solidFill>
                <a:latin typeface="Calibri"/>
              </a:rPr>
              <a:t>Cronograma — 4 semanas de productización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07008"/>
            <a:ext cx="822960" cy="41148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1298448"/>
            <a:ext cx="11155680" cy="5029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B7589"/>
                </a:solidFill>
                <a:latin typeface="Calibri"/>
              </a:rPr>
              <a:t>Fase 0 — la data ya está construida y validada (572 empresas, 3 mercados, ratios oficiales, CCL 1,3 %). El riesgo técnico más grande ya está resuelto: solo falta empaquetarla.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455664"/>
            <a:ext cx="11183112" cy="12801"/>
          </a:xfrm>
          <a:prstGeom prst="rect">
            <a:avLst/>
          </a:prstGeom>
          <a:solidFill>
            <a:srgbClr val="D6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webshooks.com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65960"/>
            <a:ext cx="2121408" cy="3566160"/>
          </a:xfrm>
          <a:prstGeom prst="roundRect">
            <a:avLst>
              <a:gd name="adj" fmla="val 4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2920" y="1965960"/>
            <a:ext cx="2121408" cy="548640"/>
          </a:xfrm>
          <a:prstGeom prst="roundRect">
            <a:avLst>
              <a:gd name="adj" fmla="val 6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2240280"/>
            <a:ext cx="2121408" cy="274320"/>
          </a:xfrm>
          <a:prstGeom prst="rect">
            <a:avLst/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965960"/>
            <a:ext cx="1938527" cy="54864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1" i="0">
                <a:solidFill>
                  <a:srgbClr val="FFFFFF"/>
                </a:solidFill>
                <a:latin typeface="Calibri"/>
              </a:rPr>
              <a:t>Fase 0 ·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" y="2651760"/>
            <a:ext cx="1847088" cy="27432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919" b="1" i="0">
                <a:solidFill>
                  <a:srgbClr val="43A047"/>
                </a:solidFill>
                <a:latin typeface="Calibri"/>
              </a:rPr>
              <a:t>▸  </a:t>
            </a:r>
            <a:r>
              <a:rPr sz="919" b="0" i="0">
                <a:solidFill>
                  <a:srgbClr val="3A4458"/>
                </a:solidFill>
                <a:latin typeface="Calibri"/>
              </a:rPr>
              <a:t>✓ 572 empresas, 3 mercados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919" b="1" i="0">
                <a:solidFill>
                  <a:srgbClr val="43A047"/>
                </a:solidFill>
                <a:latin typeface="Calibri"/>
              </a:rPr>
              <a:t>▸  </a:t>
            </a:r>
            <a:r>
              <a:rPr sz="919" b="0" i="0">
                <a:solidFill>
                  <a:srgbClr val="3A4458"/>
                </a:solidFill>
                <a:latin typeface="Calibri"/>
              </a:rPr>
              <a:t>✓ Ratios CEDEAR/ADR oficiales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919" b="1" i="0">
                <a:solidFill>
                  <a:srgbClr val="43A047"/>
                </a:solidFill>
                <a:latin typeface="Calibri"/>
              </a:rPr>
              <a:t>▸  </a:t>
            </a:r>
            <a:r>
              <a:rPr sz="919" b="0" i="0">
                <a:solidFill>
                  <a:srgbClr val="3A4458"/>
                </a:solidFill>
                <a:latin typeface="Calibri"/>
              </a:rPr>
              <a:t>✓ Doble precio + CCL validado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919" b="1" i="0">
                <a:solidFill>
                  <a:srgbClr val="43A047"/>
                </a:solidFill>
                <a:latin typeface="Calibri"/>
              </a:rPr>
              <a:t>▸  </a:t>
            </a:r>
            <a:r>
              <a:rPr sz="919" b="0" i="0">
                <a:solidFill>
                  <a:srgbClr val="3A4458"/>
                </a:solidFill>
                <a:latin typeface="Calibri"/>
              </a:rPr>
              <a:t>✓ Modelo 2 niveles + provenance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52344" y="1965960"/>
            <a:ext cx="2121408" cy="3566160"/>
          </a:xfrm>
          <a:prstGeom prst="roundRect">
            <a:avLst>
              <a:gd name="adj" fmla="val 4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752344" y="1965960"/>
            <a:ext cx="2121408" cy="548640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52344" y="2240280"/>
            <a:ext cx="2121408" cy="2743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43784" y="1965960"/>
            <a:ext cx="1938527" cy="54864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1" i="0">
                <a:solidFill>
                  <a:srgbClr val="FFFFFF"/>
                </a:solidFill>
                <a:latin typeface="Calibri"/>
              </a:rPr>
              <a:t>Semana 1 · Fundamentos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98648" y="2651760"/>
            <a:ext cx="1847088" cy="27432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919" b="1" i="0">
                <a:solidFill>
                  <a:srgbClr val="3B82F6"/>
                </a:solidFill>
                <a:latin typeface="Calibri"/>
              </a:rPr>
              <a:t>▸  </a:t>
            </a:r>
            <a:r>
              <a:rPr sz="919" b="0" i="0">
                <a:solidFill>
                  <a:srgbClr val="3A4458"/>
                </a:solidFill>
                <a:latin typeface="Calibri"/>
              </a:rPr>
              <a:t>Migración esquema a PostgreSQL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919" b="1" i="0">
                <a:solidFill>
                  <a:srgbClr val="3B82F6"/>
                </a:solidFill>
                <a:latin typeface="Calibri"/>
              </a:rPr>
              <a:t>▸  </a:t>
            </a:r>
            <a:r>
              <a:rPr sz="919" b="0" i="0">
                <a:solidFill>
                  <a:srgbClr val="3A4458"/>
                </a:solidFill>
                <a:latin typeface="Calibri"/>
              </a:rPr>
              <a:t>Endpoints base + jobs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919" b="1" i="0">
                <a:solidFill>
                  <a:srgbClr val="3B82F6"/>
                </a:solidFill>
                <a:latin typeface="Calibri"/>
              </a:rPr>
              <a:t>▸  </a:t>
            </a:r>
            <a:r>
              <a:rPr sz="919" b="0" i="0">
                <a:solidFill>
                  <a:srgbClr val="3A4458"/>
                </a:solidFill>
                <a:latin typeface="Calibri"/>
              </a:rPr>
              <a:t>Next.js + sidebar/topbar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01768" y="1965960"/>
            <a:ext cx="2121408" cy="3566160"/>
          </a:xfrm>
          <a:prstGeom prst="roundRect">
            <a:avLst>
              <a:gd name="adj" fmla="val 4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01768" y="1965960"/>
            <a:ext cx="2121408" cy="548640"/>
          </a:xfrm>
          <a:prstGeom prst="roundRect">
            <a:avLst>
              <a:gd name="adj" fmla="val 6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01768" y="2240280"/>
            <a:ext cx="2121408" cy="27432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93207" y="1965960"/>
            <a:ext cx="1938527" cy="54864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1" i="0">
                <a:solidFill>
                  <a:srgbClr val="FFFFFF"/>
                </a:solidFill>
                <a:latin typeface="Calibri"/>
              </a:rPr>
              <a:t>Semana 2 · Datos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48072" y="2651760"/>
            <a:ext cx="1847088" cy="27432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919" b="1" i="0">
                <a:solidFill>
                  <a:srgbClr val="3B82F6"/>
                </a:solidFill>
                <a:latin typeface="Calibri"/>
              </a:rPr>
              <a:t>▸  </a:t>
            </a:r>
            <a:r>
              <a:rPr sz="919" b="0" i="0">
                <a:solidFill>
                  <a:srgbClr val="3A4458"/>
                </a:solidFill>
                <a:latin typeface="Calibri"/>
              </a:rPr>
              <a:t>Servir 572 empresas vía API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919" b="1" i="0">
                <a:solidFill>
                  <a:srgbClr val="3B82F6"/>
                </a:solidFill>
                <a:latin typeface="Calibri"/>
              </a:rPr>
              <a:t>▸  </a:t>
            </a:r>
            <a:r>
              <a:rPr sz="919" b="0" i="0">
                <a:solidFill>
                  <a:srgbClr val="3A4458"/>
                </a:solidFill>
                <a:latin typeface="Calibri"/>
              </a:rPr>
              <a:t>Screener con filtros reales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919" b="1" i="0">
                <a:solidFill>
                  <a:srgbClr val="3B82F6"/>
                </a:solidFill>
                <a:latin typeface="Calibri"/>
              </a:rPr>
              <a:t>▸  </a:t>
            </a:r>
            <a:r>
              <a:rPr sz="919" b="0" i="0">
                <a:solidFill>
                  <a:srgbClr val="3A4458"/>
                </a:solidFill>
                <a:latin typeface="Calibri"/>
              </a:rPr>
              <a:t>Toggle ARS/USD + detalle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251192" y="1965960"/>
            <a:ext cx="2121408" cy="3566160"/>
          </a:xfrm>
          <a:prstGeom prst="roundRect">
            <a:avLst>
              <a:gd name="adj" fmla="val 4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251192" y="1965960"/>
            <a:ext cx="2121408" cy="548640"/>
          </a:xfrm>
          <a:prstGeom prst="roundRect">
            <a:avLst>
              <a:gd name="adj" fmla="val 6000"/>
            </a:avLst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51192" y="2240280"/>
            <a:ext cx="2121408" cy="274320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42631" y="1965960"/>
            <a:ext cx="1938527" cy="54864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1" i="0">
                <a:solidFill>
                  <a:srgbClr val="FFFFFF"/>
                </a:solidFill>
                <a:latin typeface="Calibri"/>
              </a:rPr>
              <a:t>Semana 3 · Completo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97496" y="2651760"/>
            <a:ext cx="1847088" cy="27432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919" b="1" i="0">
                <a:solidFill>
                  <a:srgbClr val="F5821F"/>
                </a:solidFill>
                <a:latin typeface="Calibri"/>
              </a:rPr>
              <a:t>▸  </a:t>
            </a:r>
            <a:r>
              <a:rPr sz="919" b="0" i="0">
                <a:solidFill>
                  <a:srgbClr val="3A4458"/>
                </a:solidFill>
                <a:latin typeface="Calibri"/>
              </a:rPr>
              <a:t>Panel de instrumentos + dividendos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919" b="1" i="0">
                <a:solidFill>
                  <a:srgbClr val="F5821F"/>
                </a:solidFill>
                <a:latin typeface="Calibri"/>
              </a:rPr>
              <a:t>▸  </a:t>
            </a:r>
            <a:r>
              <a:rPr sz="919" b="0" i="0">
                <a:solidFill>
                  <a:srgbClr val="3A4458"/>
                </a:solidFill>
                <a:latin typeface="Calibri"/>
              </a:rPr>
              <a:t>Vista CEDEAR + comparador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919" b="1" i="0">
                <a:solidFill>
                  <a:srgbClr val="F5821F"/>
                </a:solidFill>
                <a:latin typeface="Calibri"/>
              </a:rPr>
              <a:t>▸  </a:t>
            </a:r>
            <a:r>
              <a:rPr sz="919" b="0" i="0">
                <a:solidFill>
                  <a:srgbClr val="3A4458"/>
                </a:solidFill>
                <a:latin typeface="Calibri"/>
              </a:rPr>
              <a:t>Jobs de actualización automática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00616" y="1965960"/>
            <a:ext cx="2121408" cy="3566160"/>
          </a:xfrm>
          <a:prstGeom prst="roundRect">
            <a:avLst>
              <a:gd name="adj" fmla="val 4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500616" y="1965960"/>
            <a:ext cx="2121408" cy="548640"/>
          </a:xfrm>
          <a:prstGeom prst="roundRect">
            <a:avLst>
              <a:gd name="adj" fmla="val 6000"/>
            </a:avLst>
          </a:prstGeom>
          <a:solidFill>
            <a:srgbClr val="3A4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00616" y="2240280"/>
            <a:ext cx="2121408" cy="274320"/>
          </a:xfrm>
          <a:prstGeom prst="rect">
            <a:avLst/>
          </a:prstGeom>
          <a:solidFill>
            <a:srgbClr val="3A4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92056" y="1965960"/>
            <a:ext cx="1938527" cy="548640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80" b="1" i="0">
                <a:solidFill>
                  <a:srgbClr val="FFFFFF"/>
                </a:solidFill>
                <a:latin typeface="Calibri"/>
              </a:rPr>
              <a:t>Semana 4 · QA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46920" y="2651760"/>
            <a:ext cx="1847088" cy="27432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919" b="1" i="0">
                <a:solidFill>
                  <a:srgbClr val="3A4664"/>
                </a:solidFill>
                <a:latin typeface="Calibri"/>
              </a:rPr>
              <a:t>▸  </a:t>
            </a:r>
            <a:r>
              <a:rPr sz="919" b="0" i="0">
                <a:solidFill>
                  <a:srgbClr val="3A4458"/>
                </a:solidFill>
                <a:latin typeface="Calibri"/>
              </a:rPr>
              <a:t>Tests + manejo de errores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919" b="1" i="0">
                <a:solidFill>
                  <a:srgbClr val="3A4664"/>
                </a:solidFill>
                <a:latin typeface="Calibri"/>
              </a:rPr>
              <a:t>▸  </a:t>
            </a:r>
            <a:r>
              <a:rPr sz="919" b="0" i="0">
                <a:solidFill>
                  <a:srgbClr val="3A4458"/>
                </a:solidFill>
                <a:latin typeface="Calibri"/>
              </a:rPr>
              <a:t>openapi.json documentado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500"/>
              </a:spcAft>
            </a:pPr>
            <a:r>
              <a:rPr sz="919" b="1" i="0">
                <a:solidFill>
                  <a:srgbClr val="3A4664"/>
                </a:solidFill>
                <a:latin typeface="Calibri"/>
              </a:rPr>
              <a:t>▸  </a:t>
            </a:r>
            <a:r>
              <a:rPr sz="919" b="0" i="0">
                <a:solidFill>
                  <a:srgbClr val="3A4458"/>
                </a:solidFill>
                <a:latin typeface="Calibri"/>
              </a:rPr>
              <a:t>QA y entrega final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5669280"/>
            <a:ext cx="11183112" cy="566928"/>
          </a:xfrm>
          <a:prstGeom prst="roundRect">
            <a:avLst>
              <a:gd name="adj" fmla="val 5000"/>
            </a:avLst>
          </a:prstGeom>
          <a:solidFill>
            <a:srgbClr val="DCEAFF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02920" y="5669280"/>
            <a:ext cx="64008" cy="56692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5800" y="5760720"/>
            <a:ext cx="10863072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3B82F6"/>
                </a:solidFill>
                <a:latin typeface="Calibri"/>
              </a:rPr>
              <a:t>Reportes semanales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6035040"/>
            <a:ext cx="10835640" cy="109728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 i="0">
                <a:solidFill>
                  <a:srgbClr val="3A4458"/>
                </a:solidFill>
                <a:latin typeface="Calibri"/>
              </a:rPr>
              <a:t>Cada viernes: avance, capturas y demo del entregable de la semana. Sin sorpresas al final.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B82F6"/>
                </a:solidFill>
                <a:latin typeface="Calibri"/>
              </a:rPr>
              <a:t>web</a:t>
            </a:r>
            <a:r>
              <a:rPr sz="1500" b="1" i="0">
                <a:solidFill>
                  <a:srgbClr val="1A2744"/>
                </a:solidFill>
                <a:latin typeface="Calibri"/>
              </a:rPr>
              <a:t>shooks</a:t>
            </a:r>
            <a:r>
              <a:rPr sz="1500" b="1" i="0">
                <a:solidFill>
                  <a:srgbClr val="F5821F"/>
                </a:solidFill>
                <a:latin typeface="Calibri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5486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A2744"/>
                </a:solidFill>
                <a:latin typeface="Calibri"/>
              </a:rPr>
              <a:t>Inversión y Financiación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07008"/>
            <a:ext cx="822960" cy="41148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2801"/>
          </a:xfrm>
          <a:prstGeom prst="rect">
            <a:avLst/>
          </a:prstGeom>
          <a:solidFill>
            <a:srgbClr val="D6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webshooks.com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74519"/>
            <a:ext cx="5212080" cy="2834640"/>
          </a:xfrm>
          <a:prstGeom prst="roundRect">
            <a:avLst>
              <a:gd name="adj" fmla="val 4000"/>
            </a:avLst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148840"/>
            <a:ext cx="4663440" cy="365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AAB4C8"/>
                </a:solidFill>
                <a:latin typeface="Calibri"/>
              </a:rPr>
              <a:t>Inversión total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14600"/>
            <a:ext cx="4663440" cy="9144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USD 1.800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474720"/>
            <a:ext cx="4663440" cy="365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3B82F6"/>
                </a:solidFill>
                <a:latin typeface="Calibri"/>
              </a:rPr>
              <a:t>Precio fijo por proyecto · sin costos ocultos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886200"/>
            <a:ext cx="4663440" cy="7315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AAB4C8"/>
                </a:solidFill>
                <a:latin typeface="Calibri"/>
              </a:rPr>
              <a:t>Incluye la data ya construida y validada — 572 empresas, 3 mercados, ratios oficiales — sin cargo extra.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526280"/>
            <a:ext cx="4663440" cy="3200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1">
                <a:solidFill>
                  <a:srgbClr val="AAB4C8"/>
                </a:solidFill>
                <a:latin typeface="Calibri"/>
              </a:rPr>
              <a:t>Soporte correctivo: USD 20/mes o pago único USD 200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1874519"/>
            <a:ext cx="5760720" cy="3200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A2744"/>
                </a:solidFill>
                <a:latin typeface="Calibri"/>
              </a:rPr>
              <a:t>Opciones de pago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2286000"/>
            <a:ext cx="5760720" cy="749808"/>
          </a:xfrm>
          <a:prstGeom prst="roundRect">
            <a:avLst>
              <a:gd name="adj" fmla="val 6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943600" y="2286000"/>
            <a:ext cx="73152" cy="749808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2395728"/>
            <a:ext cx="27432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3B82F6"/>
                </a:solidFill>
                <a:latin typeface="Calibri"/>
              </a:rPr>
              <a:t>Contado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688336"/>
            <a:ext cx="384048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B7589"/>
                </a:solidFill>
                <a:latin typeface="Calibri"/>
              </a:rPr>
              <a:t>Pago único al firmar · 10 % off si se contrata hoy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286000"/>
            <a:ext cx="2286000" cy="749808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A2744"/>
                </a:solidFill>
                <a:latin typeface="Calibri"/>
              </a:rPr>
              <a:t>USD 1.800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3154680"/>
            <a:ext cx="5760720" cy="749808"/>
          </a:xfrm>
          <a:prstGeom prst="roundRect">
            <a:avLst>
              <a:gd name="adj" fmla="val 6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943600" y="3154680"/>
            <a:ext cx="73152" cy="749808"/>
          </a:xfrm>
          <a:prstGeom prst="roundRect">
            <a:avLst>
              <a:gd name="adj" fmla="val 50000"/>
            </a:avLst>
          </a:prstGeom>
          <a:solidFill>
            <a:srgbClr val="43A0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3264408"/>
            <a:ext cx="27432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43A047"/>
                </a:solidFill>
                <a:latin typeface="Calibri"/>
              </a:rPr>
              <a:t>3 cuotas sin interés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3557016"/>
            <a:ext cx="384048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B7589"/>
                </a:solidFill>
                <a:latin typeface="Calibri"/>
              </a:rPr>
              <a:t>Al firmar · a la entrega · mes posterior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3154680"/>
            <a:ext cx="2286000" cy="749808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A2744"/>
                </a:solidFill>
                <a:latin typeface="Calibri"/>
              </a:rPr>
              <a:t>USD 600 × 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0" y="4023360"/>
            <a:ext cx="5760720" cy="749808"/>
          </a:xfrm>
          <a:prstGeom prst="roundRect">
            <a:avLst>
              <a:gd name="adj" fmla="val 6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5943600" y="4023360"/>
            <a:ext cx="73152" cy="749808"/>
          </a:xfrm>
          <a:prstGeom prst="roundRect">
            <a:avLst>
              <a:gd name="adj" fmla="val 50000"/>
            </a:avLst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0" y="4133088"/>
            <a:ext cx="27432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F5821F"/>
                </a:solidFill>
                <a:latin typeface="Calibri"/>
              </a:rPr>
              <a:t>6 cuotas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4425696"/>
            <a:ext cx="384048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6B7589"/>
                </a:solidFill>
                <a:latin typeface="Calibri"/>
              </a:rPr>
              <a:t>Al firmar · a la entrega · mensuales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4023360"/>
            <a:ext cx="2286000" cy="749808"/>
          </a:xfrm>
          <a:prstGeom prst="rect">
            <a:avLst/>
          </a:prstGeom>
          <a:noFill/>
        </p:spPr>
        <p:txBody>
          <a:bodyPr wrap="square" anchor="ctr" lIns="12700" rIns="127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A2744"/>
                </a:solidFill>
                <a:latin typeface="Calibri"/>
              </a:rPr>
              <a:t>USD 320 × 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5029200"/>
            <a:ext cx="5760720" cy="45720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B7589"/>
                </a:solidFill>
                <a:latin typeface="Calibri"/>
              </a:rPr>
              <a:t>Precio orientativo por el alcance ampliado (3 mercados, doble moneda, ratios oficiales); ajustable según el alcance final acordado.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3B82F6"/>
                </a:solidFill>
                <a:latin typeface="Calibri"/>
              </a:rPr>
              <a:t>web</a:t>
            </a:r>
            <a:r>
              <a:rPr sz="1500" b="1" i="0">
                <a:solidFill>
                  <a:srgbClr val="1A2744"/>
                </a:solidFill>
                <a:latin typeface="Calibri"/>
              </a:rPr>
              <a:t>shooks</a:t>
            </a:r>
            <a:r>
              <a:rPr sz="1500" b="1" i="0">
                <a:solidFill>
                  <a:srgbClr val="F5821F"/>
                </a:solidFill>
                <a:latin typeface="Calibri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5486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500" b="1" i="0">
                <a:solidFill>
                  <a:srgbClr val="1A2744"/>
                </a:solidFill>
                <a:latin typeface="Calibri"/>
              </a:rPr>
              <a:t>¿Cómo arrancamos?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7" y="1207008"/>
            <a:ext cx="822960" cy="41148"/>
          </a:xfrm>
          <a:prstGeom prst="rect">
            <a:avLst/>
          </a:prstGeom>
          <a:solidFill>
            <a:srgbClr val="F58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6455664"/>
            <a:ext cx="11183112" cy="12801"/>
          </a:xfrm>
          <a:prstGeom prst="rect">
            <a:avLst/>
          </a:prstGeom>
          <a:solidFill>
            <a:srgbClr val="D6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92240"/>
            <a:ext cx="365760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webshooks.com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92240"/>
            <a:ext cx="54864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AAB4C8"/>
                </a:solidFill>
                <a:latin typeface="Calibri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92024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057400"/>
            <a:ext cx="1371600" cy="6400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3B82F6"/>
                </a:solidFill>
                <a:latin typeface="Calibr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97480"/>
            <a:ext cx="2331720" cy="3200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A2744"/>
                </a:solidFill>
                <a:latin typeface="Calibri"/>
              </a:rPr>
              <a:t>Aprobación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063240"/>
            <a:ext cx="2331720" cy="6400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0" i="0">
                <a:solidFill>
                  <a:srgbClr val="3A4458"/>
                </a:solidFill>
                <a:latin typeface="Calibri"/>
              </a:rPr>
              <a:t>Confirmar la propuesta y el plan de pago.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10128" y="192024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93008" y="2057400"/>
            <a:ext cx="1371600" cy="6400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43A047"/>
                </a:solidFill>
                <a:latin typeface="Calibr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93008" y="2697480"/>
            <a:ext cx="2331720" cy="3200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A2744"/>
                </a:solidFill>
                <a:latin typeface="Calibri"/>
              </a:rPr>
              <a:t>Primer pago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93008" y="3063240"/>
            <a:ext cx="2331720" cy="6400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0" i="0">
                <a:solidFill>
                  <a:srgbClr val="3A4458"/>
                </a:solidFill>
                <a:latin typeface="Calibri"/>
              </a:rPr>
              <a:t>50 % al inicio o primera cuota según el plan.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17336" y="192024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0216" y="2057400"/>
            <a:ext cx="1371600" cy="6400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F5821F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2697480"/>
            <a:ext cx="2331720" cy="3200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A2744"/>
                </a:solidFill>
                <a:latin typeface="Calibri"/>
              </a:rPr>
              <a:t>Kickoff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0216" y="3063240"/>
            <a:ext cx="2331720" cy="6400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0" i="0">
                <a:solidFill>
                  <a:srgbClr val="3A4458"/>
                </a:solidFill>
                <a:latin typeface="Calibri"/>
              </a:rPr>
              <a:t>1 h con el equipo: recorrido por las 572 empresas ya validadas + contrato de API.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24544" y="192024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F4F8FE"/>
          </a:solidFill>
          <a:ln w="9525">
            <a:solidFill>
              <a:srgbClr val="D6E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07424" y="2057400"/>
            <a:ext cx="1371600" cy="6400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1A4D8F"/>
                </a:solidFill>
                <a:latin typeface="Calibr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07424" y="2697480"/>
            <a:ext cx="2331720" cy="32004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A2744"/>
                </a:solidFill>
                <a:latin typeface="Calibri"/>
              </a:rPr>
              <a:t>Entrega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07424" y="3063240"/>
            <a:ext cx="2331720" cy="64008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60" b="0" i="0">
                <a:solidFill>
                  <a:srgbClr val="3A4458"/>
                </a:solidFill>
                <a:latin typeface="Calibri"/>
              </a:rPr>
              <a:t>4 semanas de desarrollo + reportes semanales.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069080"/>
            <a:ext cx="11183112" cy="1417320"/>
          </a:xfrm>
          <a:prstGeom prst="roundRect">
            <a:avLst>
              <a:gd name="adj" fmla="val 3000"/>
            </a:avLst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297680"/>
            <a:ext cx="356616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AAB4C8"/>
                </a:solidFill>
                <a:latin typeface="Calibri"/>
              </a:rPr>
              <a:t>Empresa   </a:t>
            </a:r>
            <a:r>
              <a:rPr sz="1100" b="1" i="0">
                <a:solidFill>
                  <a:srgbClr val="FFFFFF"/>
                </a:solidFill>
                <a:latin typeface="Calibri"/>
              </a:rPr>
              <a:t>webshooks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4297680"/>
            <a:ext cx="356616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AAB4C8"/>
                </a:solidFill>
                <a:latin typeface="Calibri"/>
              </a:rPr>
              <a:t>Inversión   </a:t>
            </a:r>
            <a:r>
              <a:rPr sz="1100" b="1" i="0">
                <a:solidFill>
                  <a:srgbClr val="FFFFFF"/>
                </a:solidFill>
                <a:latin typeface="Calibri"/>
              </a:rPr>
              <a:t>USD 1.800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4297680"/>
            <a:ext cx="356616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AAB4C8"/>
                </a:solidFill>
                <a:latin typeface="Calibri"/>
              </a:rPr>
              <a:t>Proyecto   </a:t>
            </a:r>
            <a:r>
              <a:rPr sz="1100" b="1" i="0">
                <a:solidFill>
                  <a:srgbClr val="FFFFFF"/>
                </a:solidFill>
                <a:latin typeface="Calibri"/>
              </a:rPr>
              <a:t>Screener AR + US · doble moneda · ratios oficiales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864608"/>
            <a:ext cx="356616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AAB4C8"/>
                </a:solidFill>
                <a:latin typeface="Calibri"/>
              </a:rPr>
              <a:t>Duración   </a:t>
            </a:r>
            <a:r>
              <a:rPr sz="1100" b="1" i="0">
                <a:solidFill>
                  <a:srgbClr val="FFFFFF"/>
                </a:solidFill>
                <a:latin typeface="Calibri"/>
              </a:rPr>
              <a:t>4 semanas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4864608"/>
            <a:ext cx="356616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AAB4C8"/>
                </a:solidFill>
                <a:latin typeface="Calibri"/>
              </a:rPr>
              <a:t>Inicio   </a:t>
            </a:r>
            <a:r>
              <a:rPr sz="1100" b="1" i="0">
                <a:solidFill>
                  <a:srgbClr val="FFFFFF"/>
                </a:solidFill>
                <a:latin typeface="Calibri"/>
              </a:rPr>
              <a:t>Inmediato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4864608"/>
            <a:ext cx="3566160" cy="27432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AAB4C8"/>
                </a:solidFill>
                <a:latin typeface="Calibri"/>
              </a:rPr>
              <a:t>Garantía   </a:t>
            </a:r>
            <a:r>
              <a:rPr sz="1100" b="1" i="0">
                <a:solidFill>
                  <a:srgbClr val="FFFFFF"/>
                </a:solidFill>
                <a:latin typeface="Calibri"/>
              </a:rPr>
              <a:t>30 días post-entrega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5806440"/>
            <a:ext cx="11155680" cy="365760"/>
          </a:xfrm>
          <a:prstGeom prst="rect">
            <a:avLst/>
          </a:prstGeom>
          <a:noFill/>
        </p:spPr>
        <p:txBody>
          <a:bodyPr wrap="square" anchor="t" lIns="12700" rIns="127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B7589"/>
                </a:solidFill>
                <a:latin typeface="Calibri"/>
              </a:rPr>
              <a:t>Esta propuesta tiene validez de 7 días.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