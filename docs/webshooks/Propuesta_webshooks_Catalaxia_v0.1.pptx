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KoRB48FES2aJDTnhHeDc0Jr6x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5a667ee0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e5a667ee0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5a667ee0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5a667ee0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5a667ee0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5a667ee01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d16db99f8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d16db99f8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d16db99f8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d16db99f8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ed16db99f8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d16db99f8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d16db99f8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ed16db99f8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ed16db99f8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d16db99f8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ed16db99f8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d16db99f8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hyperlink" Target="https://maqueta-catalaxia.vercel.app/" TargetMode="External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maqueta-catalaxia.vercel.app/" TargetMode="External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47472" y="347472"/>
            <a:ext cx="128016" cy="1280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232961" y="837695"/>
                </a:lnTo>
              </a:path>
            </a:pathLst>
          </a:cu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47472" y="292608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webshooks</a:t>
            </a: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47472" y="7315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Desarrollo de Software · </a:t>
            </a:r>
            <a:r>
              <a:rPr i="1"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ATAM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7472" y="1170432"/>
            <a:ext cx="2194560" cy="36576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47472" y="141732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7472" y="28803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E6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6FA"/>
                </a:solidFill>
                <a:latin typeface="Calibri"/>
                <a:ea typeface="Calibri"/>
                <a:cs typeface="Calibri"/>
                <a:sym typeface="Calibri"/>
              </a:rPr>
              <a:t>Módulo de Análisis Financiero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E6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6FA"/>
                </a:solidFill>
                <a:latin typeface="Calibri"/>
                <a:ea typeface="Calibri"/>
                <a:cs typeface="Calibri"/>
                <a:sym typeface="Calibri"/>
              </a:rPr>
              <a:t>CEDEARs — Backoffice Catalaxia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47472" y="3749040"/>
            <a:ext cx="3108960" cy="4572"/>
          </a:xfrm>
          <a:prstGeom prst="rect">
            <a:avLst/>
          </a:prstGeom>
          <a:solidFill>
            <a:srgbClr val="2A4A6A"/>
          </a:solidFill>
          <a:ln cap="flat" cmpd="sng" w="12700">
            <a:solidFill>
              <a:srgbClr val="2A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47472" y="3840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Cliente 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Catalaxia S.A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7472" y="4133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Fecha 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Mayo 2026  ·  v1.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206250" y="822951"/>
            <a:ext cx="457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Iniciá tu</a:t>
            </a:r>
            <a:br>
              <a:rPr b="1" i="0" lang="en-US" sz="2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453250" y="13622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transformación digital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314150" y="2048000"/>
            <a:ext cx="46713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con nosotros</a:t>
            </a:r>
            <a:r>
              <a:rPr b="1" i="0" lang="en-US" sz="3200" u="none" cap="none" strike="noStrike">
                <a:solidFill>
                  <a:srgbClr val="0FCD0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200" u="none" cap="none" strike="noStrike">
              <a:solidFill>
                <a:srgbClr val="0FCD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206251" y="2670048"/>
            <a:ext cx="4671300" cy="366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206240" y="320040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Propuesta de </a:t>
            </a: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b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11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 Financiero de CEDEARS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206240" y="4206240"/>
            <a:ext cx="841248" cy="25603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206240" y="420624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138928" y="4206240"/>
            <a:ext cx="841248" cy="25603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138928" y="420624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071616" y="4206240"/>
            <a:ext cx="841248" cy="25603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071616" y="420624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004304" y="4206240"/>
            <a:ext cx="841248" cy="25603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004304" y="420624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936992" y="4206240"/>
            <a:ext cx="841248" cy="25603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936992" y="420624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SEC EDGAR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2926080" y="0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Ejecutivo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Desarrollo de un módulo completo de análisis financiero integrado en el backoffice existente de Catalaxia.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Monitoreo en tiempo real de ratios fundamentales de 100 CEDEARs con datos actualizados automáticamente.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84048" y="1691640"/>
            <a:ext cx="1965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84048" y="1691640"/>
            <a:ext cx="45720" cy="1170432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75488" y="171907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5488" y="23774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Tickers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monitoreados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505456" y="1691640"/>
            <a:ext cx="1965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2505456" y="1691640"/>
            <a:ext cx="45720" cy="1170432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596896" y="171907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596896" y="23774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Ratios por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ticker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626864" y="1691640"/>
            <a:ext cx="1965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626864" y="1691640"/>
            <a:ext cx="45720" cy="1170432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718304" y="171907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18304" y="23774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automatizados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748272" y="1691640"/>
            <a:ext cx="196596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748272" y="1691640"/>
            <a:ext cx="45720" cy="117043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839712" y="1719072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839712" y="23774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Semanas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 entrega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11480" y="299923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¿Qué incluye?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20050" y="3337550"/>
            <a:ext cx="2643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Screener con tabla de mas </a:t>
            </a:r>
            <a:r>
              <a:rPr lang="en-US" sz="105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 100 tickers y 10 ratios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Filtros min/max, sorting y exportación CSV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Panel de procesos con log en tiempo real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097075" y="3397063"/>
            <a:ext cx="25491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3 jobs automatizados (precios, financials, cálculo)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Base de datos en 3 capas: raw + calculado + jobs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Detalle por ticker con gauge de PER y barra 52s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925300" y="3346725"/>
            <a:ext cx="25491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API REST con 7 endpoints documentados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Polling de jobs cada 3s con React Query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Badges de estado de actualización en topbar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20040" y="4919472"/>
            <a:ext cx="850392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20055" y="4919479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2926080" y="0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20040" y="932688"/>
            <a:ext cx="2715768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20040" y="932688"/>
            <a:ext cx="45720" cy="379476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20040" y="932688"/>
            <a:ext cx="2715768" cy="47548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93192" y="932688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 &amp; Jobs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48056" y="1481328"/>
            <a:ext cx="2523744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cedears — maestro de tickers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precios_raw (Yahoo Finance)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financials_raw (SEC EDGAR XBRL)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ratios — calculados y listos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jobs + job_errores (auditoría)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1A: descarga precios diario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1B: descarga SEC EDGAR semanal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2: cálculo TTM, CAGR y ratios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Retry automático + logging por ticker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172968" y="932688"/>
            <a:ext cx="2715768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172968" y="932688"/>
            <a:ext cx="45720" cy="379476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172968" y="932688"/>
            <a:ext cx="2715768" cy="47548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246120" y="932688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REST — FastAPI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300984" y="1481328"/>
            <a:ext cx="2523744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GET /api/cedears/screener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GET /api/cedears/{ticker}/ratios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GET /api/cedears/{ticker}/precio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POST /api/jobs/ratios/precios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POST /api/jobs/ratios/financials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POST /api/jobs/ratios/calculo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GET /api/jobs/{id}/status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Documentación openapi.json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025896" y="932688"/>
            <a:ext cx="2715768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025896" y="932688"/>
            <a:ext cx="45720" cy="3794760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025896" y="932688"/>
            <a:ext cx="2715768" cy="47548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099048" y="932688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— Next.js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153912" y="1481328"/>
            <a:ext cx="2523744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Sidebar + topbar con badges de estado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Screener: tabla 100 tickers, 16 columnas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Filtros min/max: PER, Deuda, Precio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Filtro Exchange (NASDAQ/NYSE/AMEX)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Sorting + paginación 25/50/100 filas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Exportar CSV con datos filtrados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Detalle por ticker con gauge y barra 52s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Panel de jobs con log en tiempo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Modal de errores por ticker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20040" y="4919472"/>
            <a:ext cx="850392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06330" y="491035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2926080" y="0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20040" y="914400"/>
            <a:ext cx="4023360" cy="3822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20040" y="914400"/>
            <a:ext cx="4023360" cy="402336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11480" y="914400"/>
            <a:ext cx="3886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29184" y="1316736"/>
            <a:ext cx="400507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29768" y="1371600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Lenguaje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050085" y="1371600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Python 3.11+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9184" y="1700784"/>
            <a:ext cx="400507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29768" y="1755648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API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050085" y="1755648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FastAPI + Uvicorn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9184" y="2084832"/>
            <a:ext cx="400507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29768" y="2139696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Scraping precios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050085" y="2139696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yfinance (Yahoo Finance)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29184" y="2468880"/>
            <a:ext cx="400507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29768" y="2523744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Scraping ratios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050085" y="252374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Playwright (Investing.com)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9184" y="2852928"/>
            <a:ext cx="400507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29768" y="2907792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Financials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050085" y="290779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SEC EDGAR XBRL — sin API key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29184" y="3236976"/>
            <a:ext cx="400507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29768" y="3291840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050085" y="3291840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9184" y="3621024"/>
            <a:ext cx="400507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29768" y="3675888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050085" y="3675888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SQLAlchemy 2.0 + asyncpg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29184" y="4005072"/>
            <a:ext cx="400507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29768" y="4059936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Scheduler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050085" y="4059936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APScheduler — cron jobs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9184" y="4389120"/>
            <a:ext cx="400507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29768" y="4443984"/>
            <a:ext cx="1649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Líneas aprox.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050085" y="444398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~1500/2500 líneas de código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663440" y="914400"/>
            <a:ext cx="4160520" cy="3822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663440" y="914400"/>
            <a:ext cx="4160520" cy="40233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754880" y="914400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672584" y="1316736"/>
            <a:ext cx="414223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773168" y="1371600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452464" y="1371600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Next.js 14 (App Router)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672584" y="1700784"/>
            <a:ext cx="414223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773168" y="1755648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Lenguaje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452464" y="1755648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TypeScript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672584" y="2084832"/>
            <a:ext cx="414223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773168" y="2139696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Estilos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452464" y="2139696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Tailwind CSS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672584" y="2468880"/>
            <a:ext cx="414223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773168" y="2523744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452464" y="2523744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shadcn/ui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672584" y="2852928"/>
            <a:ext cx="414223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773168" y="2907792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Fetch / cache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452464" y="2907792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SWR + React Query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672584" y="3236976"/>
            <a:ext cx="414223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773168" y="3291840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Iconos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452464" y="3291840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Tabler Icons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672584" y="3621024"/>
            <a:ext cx="4142232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4773168" y="3675888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Tipografía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452464" y="3675888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Calibri / Arial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672584" y="4005072"/>
            <a:ext cx="4142232" cy="365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7F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773168" y="4059936"/>
            <a:ext cx="17058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Líneas aprox.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452464" y="4059936"/>
            <a:ext cx="2288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950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1200 / 1500</a:t>
            </a: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 líneas de código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57200" y="46908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Total del proyecto:  ~4.000 líneas de código  ·  5 tablas PostgreSQL  ·  7 endpoints  ·  16 componentes React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320040" y="4919472"/>
            <a:ext cx="850392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20055" y="494684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a667ee01_0_4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5a667ee01_0_4"/>
          <p:cNvSpPr/>
          <p:nvPr/>
        </p:nvSpPr>
        <p:spPr>
          <a:xfrm>
            <a:off x="5486400" y="0"/>
            <a:ext cx="45600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g3e5a667ee0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20040"/>
            <a:ext cx="128016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5a667ee01_0_4"/>
          <p:cNvSpPr/>
          <p:nvPr/>
        </p:nvSpPr>
        <p:spPr>
          <a:xfrm>
            <a:off x="411480" y="841248"/>
            <a:ext cx="475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Informe de Investigación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5a667ee01_0_4"/>
          <p:cNvSpPr/>
          <p:nvPr/>
        </p:nvSpPr>
        <p:spPr>
          <a:xfrm>
            <a:off x="411480" y="1234440"/>
            <a:ext cx="4755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 Datos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CEDEARs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5a667ee01_0_4"/>
          <p:cNvSpPr/>
          <p:nvPr/>
        </p:nvSpPr>
        <p:spPr>
          <a:xfrm>
            <a:off x="411480" y="2633472"/>
            <a:ext cx="4755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De la API de BYMA al Excel de Seguimiento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5a667ee01_0_4"/>
          <p:cNvSpPr/>
          <p:nvPr/>
        </p:nvSpPr>
        <p:spPr>
          <a:xfrm>
            <a:off x="411480" y="3163824"/>
            <a:ext cx="2560200" cy="366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5a667ee01_0_4"/>
          <p:cNvSpPr/>
          <p:nvPr/>
        </p:nvSpPr>
        <p:spPr>
          <a:xfrm>
            <a:off x="411480" y="332841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Fase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e5a667ee01_0_4"/>
          <p:cNvSpPr/>
          <p:nvPr/>
        </p:nvSpPr>
        <p:spPr>
          <a:xfrm>
            <a:off x="1828800" y="3328416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Investigación y desarrollo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5a667ee01_0_4"/>
          <p:cNvSpPr/>
          <p:nvPr/>
        </p:nvSpPr>
        <p:spPr>
          <a:xfrm>
            <a:off x="411480" y="363016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Scripts ejecutados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5a667ee01_0_4"/>
          <p:cNvSpPr/>
          <p:nvPr/>
        </p:nvSpPr>
        <p:spPr>
          <a:xfrm>
            <a:off x="1828800" y="3630168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pasos (02 → 08)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5a667ee01_0_4"/>
          <p:cNvSpPr/>
          <p:nvPr/>
        </p:nvSpPr>
        <p:spPr>
          <a:xfrm>
            <a:off x="411480" y="393192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Tickers procesados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5a667ee01_0_4"/>
          <p:cNvSpPr/>
          <p:nvPr/>
        </p:nvSpPr>
        <p:spPr>
          <a:xfrm>
            <a:off x="1828800" y="393192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2.176 BYMA → 502 únicos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5a667ee01_0_4"/>
          <p:cNvSpPr/>
          <p:nvPr/>
        </p:nvSpPr>
        <p:spPr>
          <a:xfrm>
            <a:off x="411480" y="423367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con datos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5a667ee01_0_4"/>
          <p:cNvSpPr/>
          <p:nvPr/>
        </p:nvSpPr>
        <p:spPr>
          <a:xfrm>
            <a:off x="1828800" y="4233672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415 con ratios calculados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5a667ee01_0_4"/>
          <p:cNvSpPr/>
          <p:nvPr/>
        </p:nvSpPr>
        <p:spPr>
          <a:xfrm>
            <a:off x="411480" y="453542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Fecha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5a667ee01_0_4"/>
          <p:cNvSpPr/>
          <p:nvPr/>
        </p:nvSpPr>
        <p:spPr>
          <a:xfrm>
            <a:off x="1828800" y="4535424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e5a667ee01_0_4"/>
          <p:cNvSpPr/>
          <p:nvPr/>
        </p:nvSpPr>
        <p:spPr>
          <a:xfrm>
            <a:off x="5852160" y="64008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2.176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5a667ee01_0_4"/>
          <p:cNvSpPr/>
          <p:nvPr/>
        </p:nvSpPr>
        <p:spPr>
          <a:xfrm>
            <a:off x="5852160" y="123444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Tickers raw BYMA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5a667ee01_0_4"/>
          <p:cNvSpPr/>
          <p:nvPr/>
        </p:nvSpPr>
        <p:spPr>
          <a:xfrm>
            <a:off x="5852160" y="173736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502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5a667ee01_0_4"/>
          <p:cNvSpPr/>
          <p:nvPr/>
        </p:nvSpPr>
        <p:spPr>
          <a:xfrm>
            <a:off x="5852160" y="233172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CEDEARs únicos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e5a667ee01_0_4"/>
          <p:cNvSpPr/>
          <p:nvPr/>
        </p:nvSpPr>
        <p:spPr>
          <a:xfrm>
            <a:off x="5852160" y="283464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295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5a667ee01_0_4"/>
          <p:cNvSpPr/>
          <p:nvPr/>
        </p:nvSpPr>
        <p:spPr>
          <a:xfrm>
            <a:off x="5852160" y="342900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Empresas en 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5a667ee01_0_4"/>
          <p:cNvSpPr/>
          <p:nvPr/>
        </p:nvSpPr>
        <p:spPr>
          <a:xfrm>
            <a:off x="5852160" y="393192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415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5a667ee01_0_4"/>
          <p:cNvSpPr/>
          <p:nvPr/>
        </p:nvSpPr>
        <p:spPr>
          <a:xfrm>
            <a:off x="5852160" y="452628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Ratios calculados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5a667ee01_0_4"/>
          <p:cNvSpPr/>
          <p:nvPr/>
        </p:nvSpPr>
        <p:spPr>
          <a:xfrm>
            <a:off x="411480" y="4892040"/>
            <a:ext cx="832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Módulo Análisis Financiero CEDEARs  ·  Confidencial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5a667ee01_0_36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5a667ee01_0_36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g3e5a667ee01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00584"/>
            <a:ext cx="91440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e5a667ee01_0_36"/>
          <p:cNvSpPr/>
          <p:nvPr/>
        </p:nvSpPr>
        <p:spPr>
          <a:xfrm>
            <a:off x="2926080" y="0"/>
            <a:ext cx="5943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Completo — 8 Pasos de ETL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5a667ee01_0_36"/>
          <p:cNvSpPr/>
          <p:nvPr/>
        </p:nvSpPr>
        <p:spPr>
          <a:xfrm>
            <a:off x="347472" y="768096"/>
            <a:ext cx="844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Cada script es un paso independiente con input y output definidos. Se pueden correr secuencialmente o de forma selectiva.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e5a667ee01_0_36"/>
          <p:cNvSpPr/>
          <p:nvPr/>
        </p:nvSpPr>
        <p:spPr>
          <a:xfrm>
            <a:off x="347472" y="11704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5a667ee01_0_36"/>
          <p:cNvSpPr/>
          <p:nvPr/>
        </p:nvSpPr>
        <p:spPr>
          <a:xfrm>
            <a:off x="347472" y="1170432"/>
            <a:ext cx="2030100" cy="32910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5a667ee01_0_36"/>
          <p:cNvSpPr/>
          <p:nvPr/>
        </p:nvSpPr>
        <p:spPr>
          <a:xfrm>
            <a:off x="1106424" y="9875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5a667ee01_0_36"/>
          <p:cNvSpPr/>
          <p:nvPr/>
        </p:nvSpPr>
        <p:spPr>
          <a:xfrm>
            <a:off x="1106424" y="987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5a667ee01_0_36"/>
          <p:cNvSpPr/>
          <p:nvPr/>
        </p:nvSpPr>
        <p:spPr>
          <a:xfrm>
            <a:off x="420624" y="11887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cedears_base_ars.json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5a667ee01_0_36"/>
          <p:cNvSpPr/>
          <p:nvPr/>
        </p:nvSpPr>
        <p:spPr>
          <a:xfrm>
            <a:off x="438912" y="15544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BYMA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502 tickers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5a667ee01_0_36"/>
          <p:cNvSpPr/>
          <p:nvPr/>
        </p:nvSpPr>
        <p:spPr>
          <a:xfrm>
            <a:off x="2505456" y="11704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5a667ee01_0_36"/>
          <p:cNvSpPr/>
          <p:nvPr/>
        </p:nvSpPr>
        <p:spPr>
          <a:xfrm>
            <a:off x="2505456" y="1170432"/>
            <a:ext cx="2030100" cy="3291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5a667ee01_0_36"/>
          <p:cNvSpPr/>
          <p:nvPr/>
        </p:nvSpPr>
        <p:spPr>
          <a:xfrm>
            <a:off x="3264408" y="9875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5a667ee01_0_36"/>
          <p:cNvSpPr/>
          <p:nvPr/>
        </p:nvSpPr>
        <p:spPr>
          <a:xfrm>
            <a:off x="3264408" y="987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5a667ee01_0_36"/>
          <p:cNvSpPr/>
          <p:nvPr/>
        </p:nvSpPr>
        <p:spPr>
          <a:xfrm>
            <a:off x="2578608" y="11887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02_mapear_cedears_sec.py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5a667ee01_0_36"/>
          <p:cNvSpPr/>
          <p:nvPr/>
        </p:nvSpPr>
        <p:spPr>
          <a:xfrm>
            <a:off x="2596896" y="15544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BYMA ticker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→ CIK SEC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422 mapeados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5a667ee01_0_36"/>
          <p:cNvSpPr/>
          <p:nvPr/>
        </p:nvSpPr>
        <p:spPr>
          <a:xfrm>
            <a:off x="4663440" y="11704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5a667ee01_0_36"/>
          <p:cNvSpPr/>
          <p:nvPr/>
        </p:nvSpPr>
        <p:spPr>
          <a:xfrm>
            <a:off x="4663440" y="1170432"/>
            <a:ext cx="2030100" cy="3291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5a667ee01_0_36"/>
          <p:cNvSpPr/>
          <p:nvPr/>
        </p:nvSpPr>
        <p:spPr>
          <a:xfrm>
            <a:off x="5422392" y="9875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5a667ee01_0_36"/>
          <p:cNvSpPr/>
          <p:nvPr/>
        </p:nvSpPr>
        <p:spPr>
          <a:xfrm>
            <a:off x="5422392" y="987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e5a667ee01_0_36"/>
          <p:cNvSpPr/>
          <p:nvPr/>
        </p:nvSpPr>
        <p:spPr>
          <a:xfrm>
            <a:off x="4736592" y="11887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03_descargar_financials_sec.py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5a667ee01_0_36"/>
          <p:cNvSpPr/>
          <p:nvPr/>
        </p:nvSpPr>
        <p:spPr>
          <a:xfrm>
            <a:off x="4754880" y="15544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SEC EDGAR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XBRL 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empresas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5a667ee01_0_36"/>
          <p:cNvSpPr/>
          <p:nvPr/>
        </p:nvSpPr>
        <p:spPr>
          <a:xfrm>
            <a:off x="6821424" y="11704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5a667ee01_0_36"/>
          <p:cNvSpPr/>
          <p:nvPr/>
        </p:nvSpPr>
        <p:spPr>
          <a:xfrm>
            <a:off x="6821424" y="1170432"/>
            <a:ext cx="2030100" cy="3291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5a667ee01_0_36"/>
          <p:cNvSpPr/>
          <p:nvPr/>
        </p:nvSpPr>
        <p:spPr>
          <a:xfrm>
            <a:off x="7580376" y="9875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5a667ee01_0_36"/>
          <p:cNvSpPr/>
          <p:nvPr/>
        </p:nvSpPr>
        <p:spPr>
          <a:xfrm>
            <a:off x="7580376" y="987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5a667ee01_0_36"/>
          <p:cNvSpPr/>
          <p:nvPr/>
        </p:nvSpPr>
        <p:spPr>
          <a:xfrm>
            <a:off x="6894576" y="11887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04_descargar_precios.py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5a667ee01_0_36"/>
          <p:cNvSpPr/>
          <p:nvPr/>
        </p:nvSpPr>
        <p:spPr>
          <a:xfrm>
            <a:off x="6912864" y="15544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Yahoo Finance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yfinance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precios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5a667ee01_0_36"/>
          <p:cNvSpPr/>
          <p:nvPr/>
        </p:nvSpPr>
        <p:spPr>
          <a:xfrm>
            <a:off x="347472" y="29992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5a667ee01_0_36"/>
          <p:cNvSpPr/>
          <p:nvPr/>
        </p:nvSpPr>
        <p:spPr>
          <a:xfrm>
            <a:off x="347472" y="2999232"/>
            <a:ext cx="2030100" cy="329100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5a667ee01_0_36"/>
          <p:cNvSpPr/>
          <p:nvPr/>
        </p:nvSpPr>
        <p:spPr>
          <a:xfrm>
            <a:off x="1106424" y="28163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5a667ee01_0_36"/>
          <p:cNvSpPr/>
          <p:nvPr/>
        </p:nvSpPr>
        <p:spPr>
          <a:xfrm>
            <a:off x="1106424" y="28163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5a667ee01_0_36"/>
          <p:cNvSpPr/>
          <p:nvPr/>
        </p:nvSpPr>
        <p:spPr>
          <a:xfrm>
            <a:off x="420624" y="30175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05_calcular_ratios.py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5a667ee01_0_36"/>
          <p:cNvSpPr/>
          <p:nvPr/>
        </p:nvSpPr>
        <p:spPr>
          <a:xfrm>
            <a:off x="438912" y="33832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TTM, CAGR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16 ratios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415 filas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5a667ee01_0_36"/>
          <p:cNvSpPr/>
          <p:nvPr/>
        </p:nvSpPr>
        <p:spPr>
          <a:xfrm>
            <a:off x="2505456" y="29992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5a667ee01_0_36"/>
          <p:cNvSpPr/>
          <p:nvPr/>
        </p:nvSpPr>
        <p:spPr>
          <a:xfrm>
            <a:off x="2505456" y="2999232"/>
            <a:ext cx="2030100" cy="3291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5a667ee01_0_36"/>
          <p:cNvSpPr/>
          <p:nvPr/>
        </p:nvSpPr>
        <p:spPr>
          <a:xfrm>
            <a:off x="3264408" y="28163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5a667ee01_0_36"/>
          <p:cNvSpPr/>
          <p:nvPr/>
        </p:nvSpPr>
        <p:spPr>
          <a:xfrm>
            <a:off x="3264408" y="28163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5a667ee01_0_36"/>
          <p:cNvSpPr/>
          <p:nvPr/>
        </p:nvSpPr>
        <p:spPr>
          <a:xfrm>
            <a:off x="2578608" y="30175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06_precios_historicos.py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5a667ee01_0_36"/>
          <p:cNvSpPr/>
          <p:nvPr/>
        </p:nvSpPr>
        <p:spPr>
          <a:xfrm>
            <a:off x="2596896" y="33832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OHLCV diario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5+ años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295 CSVs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5a667ee01_0_36"/>
          <p:cNvSpPr/>
          <p:nvPr/>
        </p:nvSpPr>
        <p:spPr>
          <a:xfrm>
            <a:off x="4663440" y="29992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5a667ee01_0_36"/>
          <p:cNvSpPr/>
          <p:nvPr/>
        </p:nvSpPr>
        <p:spPr>
          <a:xfrm>
            <a:off x="4663440" y="2999232"/>
            <a:ext cx="2030100" cy="3291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e5a667ee01_0_36"/>
          <p:cNvSpPr/>
          <p:nvPr/>
        </p:nvSpPr>
        <p:spPr>
          <a:xfrm>
            <a:off x="5422392" y="28163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5a667ee01_0_36"/>
          <p:cNvSpPr/>
          <p:nvPr/>
        </p:nvSpPr>
        <p:spPr>
          <a:xfrm>
            <a:off x="5422392" y="28163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5a667ee01_0_36"/>
          <p:cNvSpPr/>
          <p:nvPr/>
        </p:nvSpPr>
        <p:spPr>
          <a:xfrm>
            <a:off x="4736592" y="30175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07_byma_locales.py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e5a667ee01_0_36"/>
          <p:cNvSpPr/>
          <p:nvPr/>
        </p:nvSpPr>
        <p:spPr>
          <a:xfrm>
            <a:off x="4754880" y="33832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Acciones ARG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yfinance .BA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79 locales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5a667ee01_0_36"/>
          <p:cNvSpPr/>
          <p:nvPr/>
        </p:nvSpPr>
        <p:spPr>
          <a:xfrm>
            <a:off x="6821424" y="2999232"/>
            <a:ext cx="20301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5a667ee01_0_36"/>
          <p:cNvSpPr/>
          <p:nvPr/>
        </p:nvSpPr>
        <p:spPr>
          <a:xfrm>
            <a:off x="6821424" y="2999232"/>
            <a:ext cx="2030100" cy="329100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5a667ee01_0_36"/>
          <p:cNvSpPr/>
          <p:nvPr/>
        </p:nvSpPr>
        <p:spPr>
          <a:xfrm>
            <a:off x="7580376" y="2816352"/>
            <a:ext cx="402300" cy="4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5a667ee01_0_36"/>
          <p:cNvSpPr/>
          <p:nvPr/>
        </p:nvSpPr>
        <p:spPr>
          <a:xfrm>
            <a:off x="7580376" y="28163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5a667ee01_0_36"/>
          <p:cNvSpPr/>
          <p:nvPr/>
        </p:nvSpPr>
        <p:spPr>
          <a:xfrm>
            <a:off x="6894576" y="3017520"/>
            <a:ext cx="18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08_generar_dataset_etl.py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e5a667ee01_0_36"/>
          <p:cNvSpPr/>
          <p:nvPr/>
        </p:nvSpPr>
        <p:spPr>
          <a:xfrm>
            <a:off x="6912864" y="3383280"/>
            <a:ext cx="1847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company_master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PostgreSQL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data_export/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5a667ee01_0_36"/>
          <p:cNvSpPr/>
          <p:nvPr/>
        </p:nvSpPr>
        <p:spPr>
          <a:xfrm>
            <a:off x="4297680" y="2761488"/>
            <a:ext cx="54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5a667ee01_0_36"/>
          <p:cNvSpPr/>
          <p:nvPr/>
        </p:nvSpPr>
        <p:spPr>
          <a:xfrm>
            <a:off x="274320" y="4937760"/>
            <a:ext cx="8595300" cy="45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5a667ee01_0_36"/>
          <p:cNvSpPr/>
          <p:nvPr/>
        </p:nvSpPr>
        <p:spPr>
          <a:xfrm>
            <a:off x="347465" y="4937748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  ·  Informe de Investigación — Módulo CEDEARs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5a667ee01_0_36"/>
          <p:cNvSpPr/>
          <p:nvPr/>
        </p:nvSpPr>
        <p:spPr>
          <a:xfrm>
            <a:off x="8686800" y="4956048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d16db99f8_0_4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d16db99f8_0_4"/>
          <p:cNvSpPr/>
          <p:nvPr/>
        </p:nvSpPr>
        <p:spPr>
          <a:xfrm>
            <a:off x="0" y="0"/>
            <a:ext cx="54900" cy="594300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g3ed16db99f8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"/>
            <a:ext cx="868680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ed16db99f8_0_4"/>
          <p:cNvSpPr/>
          <p:nvPr/>
        </p:nvSpPr>
        <p:spPr>
          <a:xfrm>
            <a:off x="3200400" y="0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de Trabajo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d16db99f8_0_4"/>
          <p:cNvSpPr/>
          <p:nvPr/>
        </p:nvSpPr>
        <p:spPr>
          <a:xfrm>
            <a:off x="320050" y="667499"/>
            <a:ext cx="2103000" cy="26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d16db99f8_0_4"/>
          <p:cNvSpPr/>
          <p:nvPr/>
        </p:nvSpPr>
        <p:spPr>
          <a:xfrm>
            <a:off x="320040" y="667512"/>
            <a:ext cx="2103000" cy="6402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d16db99f8_0_4"/>
          <p:cNvSpPr/>
          <p:nvPr/>
        </p:nvSpPr>
        <p:spPr>
          <a:xfrm>
            <a:off x="402336" y="740664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d16db99f8_0_4"/>
          <p:cNvSpPr/>
          <p:nvPr/>
        </p:nvSpPr>
        <p:spPr>
          <a:xfrm>
            <a:off x="402336" y="740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d16db99f8_0_4"/>
          <p:cNvSpPr/>
          <p:nvPr/>
        </p:nvSpPr>
        <p:spPr>
          <a:xfrm>
            <a:off x="932688" y="74980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Valentino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d16db99f8_0_4"/>
          <p:cNvSpPr/>
          <p:nvPr/>
        </p:nvSpPr>
        <p:spPr>
          <a:xfrm>
            <a:off x="932688" y="978408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8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8F8FF"/>
                </a:solidFill>
                <a:latin typeface="Calibri"/>
                <a:ea typeface="Calibri"/>
                <a:cs typeface="Calibri"/>
                <a:sym typeface="Calibri"/>
              </a:rPr>
              <a:t>Backend A Dev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d16db99f8_0_4"/>
          <p:cNvSpPr/>
          <p:nvPr/>
        </p:nvSpPr>
        <p:spPr>
          <a:xfrm>
            <a:off x="411480" y="1362456"/>
            <a:ext cx="193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Precios + PER + EPS + Crec. EPS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d16db99f8_0_4"/>
          <p:cNvSpPr/>
          <p:nvPr/>
        </p:nvSpPr>
        <p:spPr>
          <a:xfrm>
            <a:off x="411480" y="1563624"/>
            <a:ext cx="1920300" cy="54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d16db99f8_0_4"/>
          <p:cNvSpPr/>
          <p:nvPr/>
        </p:nvSpPr>
        <p:spPr>
          <a:xfrm>
            <a:off x="411475" y="1618495"/>
            <a:ext cx="1956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1A: yfinance → precios_raw (cron diario)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Scraping PER y EPS desde Investing.com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Scraping Crecimiento EPS 5 años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Endpoints GET precio + POST jobs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APScheduler + retry ×3 por ticker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d16db99f8_0_4"/>
          <p:cNvSpPr/>
          <p:nvPr/>
        </p:nvSpPr>
        <p:spPr>
          <a:xfrm>
            <a:off x="320102" y="2943474"/>
            <a:ext cx="2103000" cy="2742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d16db99f8_0_4"/>
          <p:cNvSpPr/>
          <p:nvPr/>
        </p:nvSpPr>
        <p:spPr>
          <a:xfrm>
            <a:off x="320102" y="2943474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40 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d16db99f8_0_4"/>
          <p:cNvSpPr/>
          <p:nvPr/>
        </p:nvSpPr>
        <p:spPr>
          <a:xfrm>
            <a:off x="2514608" y="667499"/>
            <a:ext cx="2103000" cy="26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d16db99f8_0_4"/>
          <p:cNvSpPr/>
          <p:nvPr/>
        </p:nvSpPr>
        <p:spPr>
          <a:xfrm>
            <a:off x="2514600" y="667512"/>
            <a:ext cx="2103000" cy="640200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d16db99f8_0_4"/>
          <p:cNvSpPr/>
          <p:nvPr/>
        </p:nvSpPr>
        <p:spPr>
          <a:xfrm>
            <a:off x="2596896" y="740664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d16db99f8_0_4"/>
          <p:cNvSpPr/>
          <p:nvPr/>
        </p:nvSpPr>
        <p:spPr>
          <a:xfrm>
            <a:off x="2596896" y="740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d16db99f8_0_4"/>
          <p:cNvSpPr/>
          <p:nvPr/>
        </p:nvSpPr>
        <p:spPr>
          <a:xfrm>
            <a:off x="3127248" y="978408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8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8F8FF"/>
                </a:solidFill>
                <a:latin typeface="Calibri"/>
                <a:ea typeface="Calibri"/>
                <a:cs typeface="Calibri"/>
                <a:sym typeface="Calibri"/>
              </a:rPr>
              <a:t>Backend B Dev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ed16db99f8_0_4"/>
          <p:cNvSpPr/>
          <p:nvPr/>
        </p:nvSpPr>
        <p:spPr>
          <a:xfrm>
            <a:off x="2606040" y="1362456"/>
            <a:ext cx="193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Financials + Cálculo de Ratios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ed16db99f8_0_4"/>
          <p:cNvSpPr/>
          <p:nvPr/>
        </p:nvSpPr>
        <p:spPr>
          <a:xfrm>
            <a:off x="2606040" y="1563624"/>
            <a:ext cx="1920300" cy="54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ed16db99f8_0_4"/>
          <p:cNvSpPr/>
          <p:nvPr/>
        </p:nvSpPr>
        <p:spPr>
          <a:xfrm>
            <a:off x="2606034" y="1618495"/>
            <a:ext cx="1956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1B: SEC EDGAR → financials_raw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Scraping Margen, ROE y Payout (Investing)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2: cálculo TTM, CAGR, EBITDA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FCFonCE y Deuda/EBITDA desde XBRL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Endpoint GET screener completo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ed16db99f8_0_4"/>
          <p:cNvSpPr/>
          <p:nvPr/>
        </p:nvSpPr>
        <p:spPr>
          <a:xfrm>
            <a:off x="2514663" y="2943474"/>
            <a:ext cx="2103000" cy="2742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d16db99f8_0_4"/>
          <p:cNvSpPr/>
          <p:nvPr/>
        </p:nvSpPr>
        <p:spPr>
          <a:xfrm>
            <a:off x="2514663" y="2943474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40 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d16db99f8_0_4"/>
          <p:cNvSpPr/>
          <p:nvPr/>
        </p:nvSpPr>
        <p:spPr>
          <a:xfrm>
            <a:off x="4709167" y="667499"/>
            <a:ext cx="2103000" cy="26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ed16db99f8_0_4"/>
          <p:cNvSpPr/>
          <p:nvPr/>
        </p:nvSpPr>
        <p:spPr>
          <a:xfrm>
            <a:off x="4709160" y="667512"/>
            <a:ext cx="2103000" cy="6402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d16db99f8_0_4"/>
          <p:cNvSpPr/>
          <p:nvPr/>
        </p:nvSpPr>
        <p:spPr>
          <a:xfrm>
            <a:off x="4791456" y="740664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d16db99f8_0_4"/>
          <p:cNvSpPr/>
          <p:nvPr/>
        </p:nvSpPr>
        <p:spPr>
          <a:xfrm>
            <a:off x="4791456" y="740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ed16db99f8_0_4"/>
          <p:cNvSpPr/>
          <p:nvPr/>
        </p:nvSpPr>
        <p:spPr>
          <a:xfrm>
            <a:off x="5321808" y="74980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Joaquin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d16db99f8_0_4"/>
          <p:cNvSpPr/>
          <p:nvPr/>
        </p:nvSpPr>
        <p:spPr>
          <a:xfrm>
            <a:off x="5321808" y="978408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8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8F8FF"/>
                </a:solidFill>
                <a:latin typeface="Calibri"/>
                <a:ea typeface="Calibri"/>
                <a:cs typeface="Calibri"/>
                <a:sym typeface="Calibri"/>
              </a:rPr>
              <a:t>Frontend A Dev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ed16db99f8_0_4"/>
          <p:cNvSpPr/>
          <p:nvPr/>
        </p:nvSpPr>
        <p:spPr>
          <a:xfrm>
            <a:off x="4800600" y="1362456"/>
            <a:ext cx="193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Screener — Tabla + Filtros</a:t>
            </a:r>
            <a:endParaRPr b="0" i="0" sz="750" u="none" cap="none" strike="noStrike">
              <a:solidFill>
                <a:srgbClr val="4A9E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d16db99f8_0_4"/>
          <p:cNvSpPr/>
          <p:nvPr/>
        </p:nvSpPr>
        <p:spPr>
          <a:xfrm>
            <a:off x="4800600" y="1563624"/>
            <a:ext cx="1920300" cy="54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d16db99f8_0_4"/>
          <p:cNvSpPr/>
          <p:nvPr/>
        </p:nvSpPr>
        <p:spPr>
          <a:xfrm>
            <a:off x="4800592" y="1618495"/>
            <a:ext cx="1956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100 tickers, 16 columnas ratios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Filtros min/max PER, D/EBITDA, Precio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Sorting + paginación 25/50/100 filas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Color condicional + exportar CSV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SWR refresh 60s + skeleton loading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d16db99f8_0_4"/>
          <p:cNvSpPr/>
          <p:nvPr/>
        </p:nvSpPr>
        <p:spPr>
          <a:xfrm>
            <a:off x="4709222" y="2943474"/>
            <a:ext cx="2103000" cy="2742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d16db99f8_0_4"/>
          <p:cNvSpPr/>
          <p:nvPr/>
        </p:nvSpPr>
        <p:spPr>
          <a:xfrm>
            <a:off x="4709222" y="2943474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40 hs</a:t>
            </a:r>
            <a:endParaRPr b="0" i="0" sz="1100" u="none" cap="none" strike="noStrike">
              <a:solidFill>
                <a:srgbClr val="4A9E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d16db99f8_0_4"/>
          <p:cNvSpPr/>
          <p:nvPr/>
        </p:nvSpPr>
        <p:spPr>
          <a:xfrm>
            <a:off x="6903725" y="667499"/>
            <a:ext cx="2103000" cy="26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d16db99f8_0_4"/>
          <p:cNvSpPr/>
          <p:nvPr/>
        </p:nvSpPr>
        <p:spPr>
          <a:xfrm>
            <a:off x="6903720" y="667512"/>
            <a:ext cx="2103000" cy="640200"/>
          </a:xfrm>
          <a:prstGeom prst="rect">
            <a:avLst/>
          </a:prstGeom>
          <a:solidFill>
            <a:srgbClr val="A64D79"/>
          </a:solidFill>
          <a:ln cap="flat" cmpd="sng" w="127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ed16db99f8_0_4"/>
          <p:cNvSpPr/>
          <p:nvPr/>
        </p:nvSpPr>
        <p:spPr>
          <a:xfrm>
            <a:off x="6986016" y="740664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d16db99f8_0_4"/>
          <p:cNvSpPr/>
          <p:nvPr/>
        </p:nvSpPr>
        <p:spPr>
          <a:xfrm>
            <a:off x="6986016" y="740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rgbClr val="741B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d16db99f8_0_4"/>
          <p:cNvSpPr/>
          <p:nvPr/>
        </p:nvSpPr>
        <p:spPr>
          <a:xfrm>
            <a:off x="7516368" y="74980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Aldana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d16db99f8_0_4"/>
          <p:cNvSpPr/>
          <p:nvPr/>
        </p:nvSpPr>
        <p:spPr>
          <a:xfrm>
            <a:off x="7516368" y="978408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8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E8F8FF"/>
                </a:solidFill>
                <a:latin typeface="Calibri"/>
                <a:ea typeface="Calibri"/>
                <a:cs typeface="Calibri"/>
                <a:sym typeface="Calibri"/>
              </a:rPr>
              <a:t>Frontend B Dev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d16db99f8_0_4"/>
          <p:cNvSpPr/>
          <p:nvPr/>
        </p:nvSpPr>
        <p:spPr>
          <a:xfrm>
            <a:off x="6995160" y="1362456"/>
            <a:ext cx="193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Procesos + Detalle de Ticker</a:t>
            </a:r>
            <a:endParaRPr b="0" i="0" sz="750" u="none" cap="none" strike="noStrike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d16db99f8_0_4"/>
          <p:cNvSpPr/>
          <p:nvPr/>
        </p:nvSpPr>
        <p:spPr>
          <a:xfrm>
            <a:off x="6995160" y="1563624"/>
            <a:ext cx="1920300" cy="54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ed16db99f8_0_4"/>
          <p:cNvSpPr/>
          <p:nvPr/>
        </p:nvSpPr>
        <p:spPr>
          <a:xfrm>
            <a:off x="6995151" y="1618495"/>
            <a:ext cx="1956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ProcessCard.tsx + polling jobs React Query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Trigger POST jobs + React Query 3s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Detalle ticker: gauge PER + barra 52s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Modal de errores por ticker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50"/>
              </a:spcBef>
              <a:spcAft>
                <a:spcPts val="0"/>
              </a:spcAft>
              <a:buClr>
                <a:srgbClr val="6B7A8D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Badges de estado en topbar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d16db99f8_0_4"/>
          <p:cNvSpPr/>
          <p:nvPr/>
        </p:nvSpPr>
        <p:spPr>
          <a:xfrm>
            <a:off x="6903783" y="2943474"/>
            <a:ext cx="2103000" cy="2742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d16db99f8_0_4"/>
          <p:cNvSpPr/>
          <p:nvPr/>
        </p:nvSpPr>
        <p:spPr>
          <a:xfrm>
            <a:off x="6903783" y="2943474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7BA0"/>
                </a:solidFill>
                <a:latin typeface="Calibri"/>
                <a:ea typeface="Calibri"/>
                <a:cs typeface="Calibri"/>
                <a:sym typeface="Calibri"/>
              </a:rPr>
              <a:t>40 hs</a:t>
            </a:r>
            <a:endParaRPr b="0" i="0" sz="1100" u="none" cap="none" strike="noStrike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ed16db99f8_0_4"/>
          <p:cNvSpPr/>
          <p:nvPr/>
        </p:nvSpPr>
        <p:spPr>
          <a:xfrm>
            <a:off x="320100" y="3521927"/>
            <a:ext cx="8686800" cy="1063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d16db99f8_0_4"/>
          <p:cNvSpPr/>
          <p:nvPr/>
        </p:nvSpPr>
        <p:spPr>
          <a:xfrm>
            <a:off x="320106" y="3521927"/>
            <a:ext cx="54900" cy="1063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A5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d16db99f8_0_4"/>
          <p:cNvSpPr/>
          <p:nvPr/>
        </p:nvSpPr>
        <p:spPr>
          <a:xfrm>
            <a:off x="509750" y="3599963"/>
            <a:ext cx="457200" cy="93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54685" y="126355"/>
                </a:lnTo>
              </a:path>
            </a:pathLst>
          </a:cu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d16db99f8_0_4"/>
          <p:cNvSpPr/>
          <p:nvPr/>
        </p:nvSpPr>
        <p:spPr>
          <a:xfrm>
            <a:off x="480050" y="3599950"/>
            <a:ext cx="516600" cy="931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ed16db99f8_0_4"/>
          <p:cNvSpPr/>
          <p:nvPr/>
        </p:nvSpPr>
        <p:spPr>
          <a:xfrm>
            <a:off x="960170" y="3595073"/>
            <a:ext cx="173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Federico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d16db99f8_0_4"/>
          <p:cNvSpPr/>
          <p:nvPr/>
        </p:nvSpPr>
        <p:spPr>
          <a:xfrm>
            <a:off x="960174" y="3832825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Arquitecto  ·  Tech Lead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ed16db99f8_0_4"/>
          <p:cNvSpPr/>
          <p:nvPr/>
        </p:nvSpPr>
        <p:spPr>
          <a:xfrm>
            <a:off x="2422469" y="3613350"/>
            <a:ext cx="54900" cy="886200"/>
          </a:xfrm>
          <a:prstGeom prst="rect">
            <a:avLst/>
          </a:prstGeom>
          <a:solidFill>
            <a:srgbClr val="2A5A8A"/>
          </a:solidFill>
          <a:ln cap="flat" cmpd="sng" w="12700">
            <a:solidFill>
              <a:srgbClr val="2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d16db99f8_0_4"/>
          <p:cNvSpPr/>
          <p:nvPr/>
        </p:nvSpPr>
        <p:spPr>
          <a:xfrm>
            <a:off x="2596900" y="3585925"/>
            <a:ext cx="32142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Diseño de arquitectura: 3 capas (raw + calculado + jobs), 5 tablas PostgreSQL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8DCF0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Schema de BD completo y contrato openapi.json acordado antes de arrancar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8DCF0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Decisiones técnicas: TTM, fallback XBRL, separación Job 1 / Job 2</a:t>
            </a:r>
            <a:endParaRPr b="0" i="0" sz="780" u="none" cap="none" strike="noStrike">
              <a:solidFill>
                <a:srgbClr val="C8D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8DCF0"/>
              </a:buClr>
              <a:buSzPts val="780"/>
              <a:buFont typeface="Calibri"/>
              <a:buChar char="•"/>
            </a:pPr>
            <a:r>
              <a:rPr lang="en-US" sz="78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Integración y puesta en productivo</a:t>
            </a:r>
            <a:endParaRPr sz="780">
              <a:solidFill>
                <a:srgbClr val="C8D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ed16db99f8_0_4"/>
          <p:cNvSpPr/>
          <p:nvPr/>
        </p:nvSpPr>
        <p:spPr>
          <a:xfrm>
            <a:off x="5811100" y="3599950"/>
            <a:ext cx="24108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Supervisión, code review y QA de los 4 colaboradores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8DCF0"/>
              </a:buClr>
              <a:buSzPts val="780"/>
              <a:buFont typeface="Calibri"/>
              <a:buChar char="•"/>
            </a:pPr>
            <a:r>
              <a:rPr b="0" i="0" lang="en-US" sz="78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Integración final, deploy , </a:t>
            </a:r>
            <a:r>
              <a:rPr lang="en-US" sz="78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soporte correctivo por 90 dias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d16db99f8_0_4"/>
          <p:cNvSpPr/>
          <p:nvPr/>
        </p:nvSpPr>
        <p:spPr>
          <a:xfrm>
            <a:off x="8275375" y="3630825"/>
            <a:ext cx="658500" cy="886200"/>
          </a:xfrm>
          <a:prstGeom prst="rect">
            <a:avLst/>
          </a:prstGeom>
          <a:solidFill>
            <a:srgbClr val="C8DCF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d16db99f8_0_4"/>
          <p:cNvSpPr/>
          <p:nvPr/>
        </p:nvSpPr>
        <p:spPr>
          <a:xfrm>
            <a:off x="8275375" y="3647125"/>
            <a:ext cx="7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40 hs</a:t>
            </a:r>
            <a:endParaRPr b="0" i="0" sz="1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d16db99f8_0_4"/>
          <p:cNvSpPr/>
          <p:nvPr/>
        </p:nvSpPr>
        <p:spPr>
          <a:xfrm>
            <a:off x="411590" y="4913441"/>
            <a:ext cx="8503800" cy="36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d16db99f8_0_4"/>
          <p:cNvSpPr/>
          <p:nvPr/>
        </p:nvSpPr>
        <p:spPr>
          <a:xfrm>
            <a:off x="365640" y="4940223"/>
            <a:ext cx="2011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d16db99f8_0_4"/>
          <p:cNvSpPr/>
          <p:nvPr/>
        </p:nvSpPr>
        <p:spPr>
          <a:xfrm>
            <a:off x="3127248" y="749808"/>
            <a:ext cx="141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"/>
          <p:cNvSpPr/>
          <p:nvPr/>
        </p:nvSpPr>
        <p:spPr>
          <a:xfrm>
            <a:off x="2926080" y="0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 — 4 Semanas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2286000" y="896112"/>
            <a:ext cx="1645920" cy="2743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2286000" y="8961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3995928" y="896112"/>
            <a:ext cx="1645920" cy="2743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3995928" y="8961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5705856" y="896112"/>
            <a:ext cx="1645920" cy="2743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"/>
          <p:cNvSpPr/>
          <p:nvPr/>
        </p:nvSpPr>
        <p:spPr>
          <a:xfrm>
            <a:off x="5705856" y="8961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7415784" y="896112"/>
            <a:ext cx="1645920" cy="2743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"/>
          <p:cNvSpPr/>
          <p:nvPr/>
        </p:nvSpPr>
        <p:spPr>
          <a:xfrm>
            <a:off x="7415784" y="8961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320040" y="1170432"/>
            <a:ext cx="8503920" cy="8595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320040" y="1170432"/>
            <a:ext cx="45720" cy="859536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411480" y="12070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411480" y="14447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02–06 Jun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411480" y="1682496"/>
            <a:ext cx="1371600" cy="219456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"/>
          <p:cNvSpPr/>
          <p:nvPr/>
        </p:nvSpPr>
        <p:spPr>
          <a:xfrm>
            <a:off x="411480" y="168249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2331720" y="1225296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Schema BD + endpoints precios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Cron APScheduler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4041648" y="1225296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Schema ratios + Playwright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Setup Investing.com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5751576" y="1225296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Next.js + sidebar + topbar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/analisis-financiero vacía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7461504" y="1225296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React Query + ProcessCard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Cards en /procesos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320040" y="2066544"/>
            <a:ext cx="8503920" cy="85953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320040" y="2066544"/>
            <a:ext cx="45720" cy="85953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"/>
          <p:cNvSpPr/>
          <p:nvPr/>
        </p:nvSpPr>
        <p:spPr>
          <a:xfrm>
            <a:off x="411480" y="210312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Semana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411480" y="234086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09–13 Jun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411480" y="2578608"/>
            <a:ext cx="1371600" cy="21945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411480" y="25786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Scraping + UI 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2331720" y="2121408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Scraping PER y 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Endpoints GET precio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4041648" y="2121408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Scraping Margen y ROE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INSERT financials_raw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5751576" y="2121408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Tabla mockeada 10+ columnas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Color condicional celdas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7461504" y="2121408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Ruta /[ticker] + cards ratios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Barra 52 semanas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320040" y="2962656"/>
            <a:ext cx="8503920" cy="8595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6"/>
          <p:cNvSpPr/>
          <p:nvPr/>
        </p:nvSpPr>
        <p:spPr>
          <a:xfrm>
            <a:off x="320040" y="2962656"/>
            <a:ext cx="45720" cy="859536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6"/>
          <p:cNvSpPr/>
          <p:nvPr/>
        </p:nvSpPr>
        <p:spPr>
          <a:xfrm>
            <a:off x="411480" y="299923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Semana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411480" y="323697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16–20 Jun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411480" y="3474720"/>
            <a:ext cx="1371600" cy="219456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"/>
          <p:cNvSpPr/>
          <p:nvPr/>
        </p:nvSpPr>
        <p:spPr>
          <a:xfrm>
            <a:off x="411480" y="347472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Lógica completa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2331720" y="3017520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Crec. EPS + job endpoints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Rate limiting y retry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4041648" y="3017520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FCFonCE + Payout + D/EBITDA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2 cálculo TTM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5751576" y="3017520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Filtros min/max + sorting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Paginación + CSV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7461504" y="3017520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Trigger POST + polling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Estados del job visual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320040" y="3858768"/>
            <a:ext cx="8503920" cy="859536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6"/>
          <p:cNvSpPr/>
          <p:nvPr/>
        </p:nvSpPr>
        <p:spPr>
          <a:xfrm>
            <a:off x="320040" y="3858768"/>
            <a:ext cx="45720" cy="859536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"/>
          <p:cNvSpPr/>
          <p:nvPr/>
        </p:nvSpPr>
        <p:spPr>
          <a:xfrm>
            <a:off x="411480" y="389534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Semana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"/>
          <p:cNvSpPr/>
          <p:nvPr/>
        </p:nvSpPr>
        <p:spPr>
          <a:xfrm>
            <a:off x="411480" y="41330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23–27 Jun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411480" y="4370832"/>
            <a:ext cx="1371600" cy="219456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"/>
          <p:cNvSpPr/>
          <p:nvPr/>
        </p:nvSpPr>
        <p:spPr>
          <a:xfrm>
            <a:off x="411480" y="437083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 + QA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2331720" y="3913632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Integración frontend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Tests + openapi.json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4041648" y="3913632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Screener completo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Manejo de errores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5751576" y="3913632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SWR real + skeleton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Badges de estado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7461504" y="3913632"/>
            <a:ext cx="16184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Modal errores + gauges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QA y entrega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6"/>
          <p:cNvSpPr/>
          <p:nvPr/>
        </p:nvSpPr>
        <p:spPr>
          <a:xfrm>
            <a:off x="320040" y="4919472"/>
            <a:ext cx="850392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"/>
          <p:cNvSpPr/>
          <p:nvPr/>
        </p:nvSpPr>
        <p:spPr>
          <a:xfrm>
            <a:off x="320055" y="4919479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d16db99f8_0_125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g3ed16db99f8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ed16db99f8_0_125"/>
          <p:cNvSpPr/>
          <p:nvPr/>
        </p:nvSpPr>
        <p:spPr>
          <a:xfrm>
            <a:off x="2926080" y="0"/>
            <a:ext cx="585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d16db99f8_0_125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ed16db99f8_0_125"/>
          <p:cNvSpPr/>
          <p:nvPr/>
        </p:nvSpPr>
        <p:spPr>
          <a:xfrm>
            <a:off x="384048" y="914400"/>
            <a:ext cx="8376000" cy="43890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4A9E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d16db99f8_0_125"/>
          <p:cNvSpPr/>
          <p:nvPr/>
        </p:nvSpPr>
        <p:spPr>
          <a:xfrm>
            <a:off x="384054" y="1444750"/>
            <a:ext cx="8376000" cy="327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ed16db99f8_0_125"/>
          <p:cNvSpPr/>
          <p:nvPr/>
        </p:nvSpPr>
        <p:spPr>
          <a:xfrm>
            <a:off x="384054" y="1444750"/>
            <a:ext cx="8376000" cy="475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d16db99f8_0_125"/>
          <p:cNvSpPr/>
          <p:nvPr/>
        </p:nvSpPr>
        <p:spPr>
          <a:xfrm>
            <a:off x="475527" y="1444750"/>
            <a:ext cx="8130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Seccion A: Procesos - Jobs y Card Analisis Financiero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d16db99f8_0_125"/>
          <p:cNvSpPr/>
          <p:nvPr/>
        </p:nvSpPr>
        <p:spPr>
          <a:xfrm>
            <a:off x="384051" y="1956850"/>
            <a:ext cx="8376000" cy="2670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4A9E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d16db99f8_0_125"/>
          <p:cNvSpPr/>
          <p:nvPr/>
        </p:nvSpPr>
        <p:spPr>
          <a:xfrm>
            <a:off x="384048" y="4773168"/>
            <a:ext cx="8376000" cy="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d16db99f8_0_125"/>
          <p:cNvSpPr/>
          <p:nvPr/>
        </p:nvSpPr>
        <p:spPr>
          <a:xfrm>
            <a:off x="384048" y="4663440"/>
            <a:ext cx="8376000" cy="2559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d16db99f8_0_125"/>
          <p:cNvSpPr/>
          <p:nvPr/>
        </p:nvSpPr>
        <p:spPr>
          <a:xfrm>
            <a:off x="320040" y="4919472"/>
            <a:ext cx="8503800" cy="45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ed16db99f8_0_125"/>
          <p:cNvSpPr/>
          <p:nvPr/>
        </p:nvSpPr>
        <p:spPr>
          <a:xfrm>
            <a:off x="365830" y="492410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d16db99f8_0_125"/>
          <p:cNvSpPr/>
          <p:nvPr/>
        </p:nvSpPr>
        <p:spPr>
          <a:xfrm>
            <a:off x="8412480" y="4946904"/>
            <a:ext cx="365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d16db99f8_0_125"/>
          <p:cNvSpPr/>
          <p:nvPr/>
        </p:nvSpPr>
        <p:spPr>
          <a:xfrm>
            <a:off x="384048" y="877775"/>
            <a:ext cx="837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i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https://maqueta-catalaxia.vercel.app/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g3ed16db99f8_0_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825" y="1920250"/>
            <a:ext cx="8240299" cy="2670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4A9EFF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d16db99f8_0_90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g3ed16db99f8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ed16db99f8_0_90"/>
          <p:cNvSpPr/>
          <p:nvPr/>
        </p:nvSpPr>
        <p:spPr>
          <a:xfrm>
            <a:off x="6695228" y="0"/>
            <a:ext cx="20829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Financiero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ed16db99f8_0_90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d16db99f8_0_90"/>
          <p:cNvSpPr/>
          <p:nvPr/>
        </p:nvSpPr>
        <p:spPr>
          <a:xfrm>
            <a:off x="384048" y="914400"/>
            <a:ext cx="8376000" cy="43890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FF8C4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ed16db99f8_0_90"/>
          <p:cNvSpPr/>
          <p:nvPr/>
        </p:nvSpPr>
        <p:spPr>
          <a:xfrm>
            <a:off x="384048" y="914400"/>
            <a:ext cx="837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i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https://maqueta-catalaxia.vercel.app/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d16db99f8_0_90"/>
          <p:cNvSpPr/>
          <p:nvPr/>
        </p:nvSpPr>
        <p:spPr>
          <a:xfrm>
            <a:off x="384052" y="1463050"/>
            <a:ext cx="8376000" cy="324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ed16db99f8_0_90"/>
          <p:cNvSpPr/>
          <p:nvPr/>
        </p:nvSpPr>
        <p:spPr>
          <a:xfrm>
            <a:off x="384048" y="1463040"/>
            <a:ext cx="45600" cy="32460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d16db99f8_0_90"/>
          <p:cNvSpPr/>
          <p:nvPr/>
        </p:nvSpPr>
        <p:spPr>
          <a:xfrm>
            <a:off x="384052" y="1463050"/>
            <a:ext cx="8376000" cy="40230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ed16db99f8_0_90"/>
          <p:cNvSpPr/>
          <p:nvPr/>
        </p:nvSpPr>
        <p:spPr>
          <a:xfrm>
            <a:off x="502926" y="1463050"/>
            <a:ext cx="8145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Sección B  —  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financiero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d16db99f8_0_90"/>
          <p:cNvSpPr/>
          <p:nvPr/>
        </p:nvSpPr>
        <p:spPr>
          <a:xfrm>
            <a:off x="530348" y="1938525"/>
            <a:ext cx="81456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Char char="•"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ed16db99f8_0_90"/>
          <p:cNvSpPr/>
          <p:nvPr/>
        </p:nvSpPr>
        <p:spPr>
          <a:xfrm>
            <a:off x="320040" y="4919472"/>
            <a:ext cx="8503800" cy="45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d16db99f8_0_90"/>
          <p:cNvSpPr/>
          <p:nvPr/>
        </p:nvSpPr>
        <p:spPr>
          <a:xfrm>
            <a:off x="320055" y="4919479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d16db99f8_0_90"/>
          <p:cNvSpPr/>
          <p:nvPr/>
        </p:nvSpPr>
        <p:spPr>
          <a:xfrm>
            <a:off x="8412480" y="4946904"/>
            <a:ext cx="365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g3ed16db99f8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25" y="2003300"/>
            <a:ext cx="8257124" cy="26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d16db99f8_1_16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g3ed16db99f8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ed16db99f8_1_16"/>
          <p:cNvSpPr/>
          <p:nvPr/>
        </p:nvSpPr>
        <p:spPr>
          <a:xfrm>
            <a:off x="2926080" y="0"/>
            <a:ext cx="585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 Backend Frontend / Jobs DB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ed16db99f8_1_16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ed16db99f8_1_16"/>
          <p:cNvSpPr/>
          <p:nvPr/>
        </p:nvSpPr>
        <p:spPr>
          <a:xfrm>
            <a:off x="384050" y="855750"/>
            <a:ext cx="4246200" cy="39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ed16db99f8_1_16"/>
          <p:cNvSpPr/>
          <p:nvPr/>
        </p:nvSpPr>
        <p:spPr>
          <a:xfrm>
            <a:off x="384048" y="1463040"/>
            <a:ext cx="45600" cy="32460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ed16db99f8_1_16"/>
          <p:cNvSpPr/>
          <p:nvPr/>
        </p:nvSpPr>
        <p:spPr>
          <a:xfrm>
            <a:off x="384050" y="850325"/>
            <a:ext cx="4246200" cy="4023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ed16db99f8_1_16"/>
          <p:cNvSpPr/>
          <p:nvPr/>
        </p:nvSpPr>
        <p:spPr>
          <a:xfrm>
            <a:off x="384050" y="850325"/>
            <a:ext cx="4211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Integracion Backend - DB Jobs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d16db99f8_1_16"/>
          <p:cNvSpPr/>
          <p:nvPr/>
        </p:nvSpPr>
        <p:spPr>
          <a:xfrm>
            <a:off x="5056575" y="850325"/>
            <a:ext cx="3840600" cy="4036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d16db99f8_1_16"/>
          <p:cNvSpPr/>
          <p:nvPr/>
        </p:nvSpPr>
        <p:spPr>
          <a:xfrm>
            <a:off x="5076472" y="850313"/>
            <a:ext cx="3840600" cy="4023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ed16db99f8_1_16"/>
          <p:cNvSpPr/>
          <p:nvPr/>
        </p:nvSpPr>
        <p:spPr>
          <a:xfrm>
            <a:off x="5076483" y="850325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INtegracion Frontend / APIs - Jobs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d16db99f8_1_16"/>
          <p:cNvSpPr/>
          <p:nvPr/>
        </p:nvSpPr>
        <p:spPr>
          <a:xfrm>
            <a:off x="320040" y="4919472"/>
            <a:ext cx="8503800" cy="4500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d16db99f8_1_16"/>
          <p:cNvSpPr/>
          <p:nvPr/>
        </p:nvSpPr>
        <p:spPr>
          <a:xfrm>
            <a:off x="320055" y="4919479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d16db99f8_1_16"/>
          <p:cNvSpPr/>
          <p:nvPr/>
        </p:nvSpPr>
        <p:spPr>
          <a:xfrm>
            <a:off x="8412480" y="4946904"/>
            <a:ext cx="365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g3ed16db99f8_1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25" y="1353250"/>
            <a:ext cx="3575951" cy="324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ed16db99f8_1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700" y="1243625"/>
            <a:ext cx="3654150" cy="354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E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8016"/>
            <a:ext cx="100584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7"/>
          <p:cNvSpPr/>
          <p:nvPr/>
        </p:nvSpPr>
        <p:spPr>
          <a:xfrm>
            <a:off x="2926080" y="0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Inversión y Financiación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"/>
          <p:cNvSpPr/>
          <p:nvPr/>
        </p:nvSpPr>
        <p:spPr>
          <a:xfrm>
            <a:off x="320040" y="914400"/>
            <a:ext cx="8503920" cy="10789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"/>
          <p:cNvSpPr/>
          <p:nvPr/>
        </p:nvSpPr>
        <p:spPr>
          <a:xfrm>
            <a:off x="502920" y="9875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E6FA"/>
                </a:solidFill>
                <a:latin typeface="Calibri"/>
                <a:ea typeface="Calibri"/>
                <a:cs typeface="Calibri"/>
                <a:sym typeface="Calibri"/>
              </a:rPr>
              <a:t>Inversión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7"/>
          <p:cNvSpPr/>
          <p:nvPr/>
        </p:nvSpPr>
        <p:spPr>
          <a:xfrm>
            <a:off x="502920" y="1225296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USD 1.200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4663440" y="1387535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Precio fijo por proyecto · Sin costos adicionales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4663425" y="1545475"/>
            <a:ext cx="4023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Soporte correctivo opcional: de 3 a 12 meses x  USD </a:t>
            </a:r>
            <a:r>
              <a:rPr b="1" lang="en-US" sz="95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125 / mes</a:t>
            </a:r>
            <a:br>
              <a:rPr b="1" lang="en-US" sz="95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5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Soporte correctivo pago </a:t>
            </a:r>
            <a:r>
              <a:rPr b="1" lang="en-US" sz="95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b="1" lang="en-US" sz="950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 por USD 800, con la entrega del proyecto</a:t>
            </a:r>
            <a:endParaRPr b="1" sz="950">
              <a:solidFill>
                <a:srgbClr val="FF8C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384048" y="210312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Opciones de pago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320040" y="2487168"/>
            <a:ext cx="2743200" cy="245059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7"/>
          <p:cNvSpPr/>
          <p:nvPr/>
        </p:nvSpPr>
        <p:spPr>
          <a:xfrm>
            <a:off x="320040" y="2487168"/>
            <a:ext cx="2743200" cy="475488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411480" y="248716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7"/>
          <p:cNvSpPr/>
          <p:nvPr/>
        </p:nvSpPr>
        <p:spPr>
          <a:xfrm>
            <a:off x="411480" y="30175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Pago único al firmar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640080" y="3291840"/>
            <a:ext cx="2103120" cy="7315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7"/>
          <p:cNvSpPr/>
          <p:nvPr/>
        </p:nvSpPr>
        <p:spPr>
          <a:xfrm>
            <a:off x="411480" y="334670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USD 1.200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7"/>
          <p:cNvSpPr/>
          <p:nvPr/>
        </p:nvSpPr>
        <p:spPr>
          <a:xfrm>
            <a:off x="640075" y="3822200"/>
            <a:ext cx="2331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% de descuento aplicado si se contrata hoy mismo</a:t>
            </a:r>
            <a:endParaRPr b="0" i="0" sz="900" u="none" cap="none" strike="noStrike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6B7A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7"/>
          <p:cNvSpPr/>
          <p:nvPr/>
        </p:nvSpPr>
        <p:spPr>
          <a:xfrm>
            <a:off x="411480" y="40965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/>
          <p:nvPr/>
        </p:nvSpPr>
        <p:spPr>
          <a:xfrm>
            <a:off x="502930" y="4206245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Inicio inmediato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7"/>
          <p:cNvSpPr/>
          <p:nvPr/>
        </p:nvSpPr>
        <p:spPr>
          <a:xfrm>
            <a:off x="3200400" y="2487168"/>
            <a:ext cx="2743200" cy="24505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7"/>
          <p:cNvSpPr/>
          <p:nvPr/>
        </p:nvSpPr>
        <p:spPr>
          <a:xfrm>
            <a:off x="3200400" y="2487168"/>
            <a:ext cx="2743200" cy="47548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"/>
          <p:cNvSpPr/>
          <p:nvPr/>
        </p:nvSpPr>
        <p:spPr>
          <a:xfrm>
            <a:off x="3291840" y="248716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Cuotas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7"/>
          <p:cNvSpPr/>
          <p:nvPr/>
        </p:nvSpPr>
        <p:spPr>
          <a:xfrm>
            <a:off x="3291840" y="30175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Sin interés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7"/>
          <p:cNvSpPr/>
          <p:nvPr/>
        </p:nvSpPr>
        <p:spPr>
          <a:xfrm>
            <a:off x="3520440" y="3291840"/>
            <a:ext cx="2103120" cy="7315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"/>
          <p:cNvSpPr/>
          <p:nvPr/>
        </p:nvSpPr>
        <p:spPr>
          <a:xfrm>
            <a:off x="3291840" y="334670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USD 400 ×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"/>
          <p:cNvSpPr/>
          <p:nvPr/>
        </p:nvSpPr>
        <p:spPr>
          <a:xfrm>
            <a:off x="3291840" y="38221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Cuota 1: al firmar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3291840" y="40965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Cuota 2:Entrega</a:t>
            </a:r>
            <a:r>
              <a:rPr lang="en-US" sz="9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3291840" y="43708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Cuota 3: mes a partir de la entrega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6080760" y="2487168"/>
            <a:ext cx="2743200" cy="24505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6080760" y="2487168"/>
            <a:ext cx="2743200" cy="475488"/>
          </a:xfrm>
          <a:prstGeom prst="rect">
            <a:avLst/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7"/>
          <p:cNvSpPr/>
          <p:nvPr/>
        </p:nvSpPr>
        <p:spPr>
          <a:xfrm>
            <a:off x="6172200" y="2487168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Cuotas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6172200" y="30175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Con ajuste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6400800" y="3291840"/>
            <a:ext cx="2103120" cy="7315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7"/>
          <p:cNvSpPr/>
          <p:nvPr/>
        </p:nvSpPr>
        <p:spPr>
          <a:xfrm>
            <a:off x="6172200" y="334670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USD 2</a:t>
            </a:r>
            <a:r>
              <a:rPr b="1" lang="en-US" sz="1600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6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 ×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7"/>
          <p:cNvSpPr/>
          <p:nvPr/>
        </p:nvSpPr>
        <p:spPr>
          <a:xfrm>
            <a:off x="6172200" y="38221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Cuota 1: al firmar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7"/>
          <p:cNvSpPr/>
          <p:nvPr/>
        </p:nvSpPr>
        <p:spPr>
          <a:xfrm>
            <a:off x="6172200" y="40965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Cuotas 2: Entrega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7"/>
          <p:cNvSpPr/>
          <p:nvPr/>
        </p:nvSpPr>
        <p:spPr>
          <a:xfrm>
            <a:off x="6172200" y="43708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Cuota3-6: mensual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"/>
          <p:cNvSpPr/>
          <p:nvPr/>
        </p:nvSpPr>
        <p:spPr>
          <a:xfrm>
            <a:off x="320040" y="4919472"/>
            <a:ext cx="8503920" cy="4572"/>
          </a:xfrm>
          <a:prstGeom prst="rect">
            <a:avLst/>
          </a:prstGeom>
          <a:solidFill>
            <a:srgbClr val="C8E6FA"/>
          </a:solidFill>
          <a:ln cap="flat" cmpd="sng" w="12700">
            <a:solidFill>
              <a:srgbClr val="C8E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7"/>
          <p:cNvSpPr/>
          <p:nvPr/>
        </p:nvSpPr>
        <p:spPr>
          <a:xfrm>
            <a:off x="320055" y="4919479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7"/>
          <p:cNvSpPr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7" name="Google Shape;5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118872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8"/>
          <p:cNvSpPr/>
          <p:nvPr/>
        </p:nvSpPr>
        <p:spPr>
          <a:xfrm>
            <a:off x="502920" y="91440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arrancamos?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502920" y="1481328"/>
            <a:ext cx="1828800" cy="36576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8"/>
          <p:cNvSpPr/>
          <p:nvPr/>
        </p:nvSpPr>
        <p:spPr>
          <a:xfrm>
            <a:off x="502920" y="1719072"/>
            <a:ext cx="420624" cy="42062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8"/>
          <p:cNvSpPr/>
          <p:nvPr/>
        </p:nvSpPr>
        <p:spPr>
          <a:xfrm>
            <a:off x="502920" y="17190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1005840" y="1728216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Aprobación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1005840" y="196596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Confirmar la propuesta y definir el plan de pago.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502920" y="2414016"/>
            <a:ext cx="420624" cy="42062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8"/>
          <p:cNvSpPr/>
          <p:nvPr/>
        </p:nvSpPr>
        <p:spPr>
          <a:xfrm>
            <a:off x="502920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1005840" y="2423160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Primer pago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1005840" y="2660904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50% al inicio o primera cuota según el plan elegido.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502920" y="3108960"/>
            <a:ext cx="420624" cy="42062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8"/>
          <p:cNvSpPr/>
          <p:nvPr/>
        </p:nvSpPr>
        <p:spPr>
          <a:xfrm>
            <a:off x="502920" y="31089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1005840" y="311810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1005840" y="335584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 hora con el equipo: schema BD y contrato de API.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/>
          <p:nvPr/>
        </p:nvSpPr>
        <p:spPr>
          <a:xfrm>
            <a:off x="502920" y="3803904"/>
            <a:ext cx="420624" cy="42062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8"/>
          <p:cNvSpPr/>
          <p:nvPr/>
        </p:nvSpPr>
        <p:spPr>
          <a:xfrm>
            <a:off x="502920" y="38039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/>
          <p:nvPr/>
        </p:nvSpPr>
        <p:spPr>
          <a:xfrm>
            <a:off x="1005840" y="3813048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1005840" y="405079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 semanas de desarrollo + reportes semanales.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8"/>
          <p:cNvSpPr/>
          <p:nvPr/>
        </p:nvSpPr>
        <p:spPr>
          <a:xfrm>
            <a:off x="5532120" y="804672"/>
            <a:ext cx="3291840" cy="4133088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"/>
          <p:cNvSpPr/>
          <p:nvPr/>
        </p:nvSpPr>
        <p:spPr>
          <a:xfrm>
            <a:off x="5715000" y="98755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8"/>
          <p:cNvSpPr/>
          <p:nvPr/>
        </p:nvSpPr>
        <p:spPr>
          <a:xfrm>
            <a:off x="5715000" y="14081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8"/>
          <p:cNvSpPr/>
          <p:nvPr/>
        </p:nvSpPr>
        <p:spPr>
          <a:xfrm>
            <a:off x="6995160" y="14081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webshooks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/>
          <p:nvPr/>
        </p:nvSpPr>
        <p:spPr>
          <a:xfrm>
            <a:off x="5715000" y="18653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/>
          <p:nvPr/>
        </p:nvSpPr>
        <p:spPr>
          <a:xfrm>
            <a:off x="6995160" y="18653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CEDEARs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8"/>
          <p:cNvSpPr/>
          <p:nvPr/>
        </p:nvSpPr>
        <p:spPr>
          <a:xfrm>
            <a:off x="5715000" y="23225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Inversión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/>
          <p:nvPr/>
        </p:nvSpPr>
        <p:spPr>
          <a:xfrm>
            <a:off x="6995160" y="23225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USD 1.200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8"/>
          <p:cNvSpPr/>
          <p:nvPr/>
        </p:nvSpPr>
        <p:spPr>
          <a:xfrm>
            <a:off x="5715000" y="27797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6995160" y="27797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semanas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5715000" y="32369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6995160" y="32369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Inmediato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8"/>
          <p:cNvSpPr/>
          <p:nvPr/>
        </p:nvSpPr>
        <p:spPr>
          <a:xfrm>
            <a:off x="5715000" y="36941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Garantía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6995160" y="36941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días post-entrega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5715000" y="4187952"/>
            <a:ext cx="2926080" cy="7315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8"/>
          <p:cNvSpPr/>
          <p:nvPr/>
        </p:nvSpPr>
        <p:spPr>
          <a:xfrm>
            <a:off x="5715000" y="425196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Esta propuesta tiene validez de 30 días.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8"/>
          <p:cNvSpPr/>
          <p:nvPr/>
        </p:nvSpPr>
        <p:spPr>
          <a:xfrm>
            <a:off x="502920" y="4745743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webshooks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2026-05-29T20:26:45Z</dcterms:created>
  <dc:creator>PptxGenJS</dc:creator>
</cp:coreProperties>
</file>