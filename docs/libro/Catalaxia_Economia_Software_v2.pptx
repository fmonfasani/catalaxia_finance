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47472"/>
            <a:ext cx="128016" cy="12801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315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Desarrollo de Software · LATAM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170432"/>
            <a:ext cx="219456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417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 Economía</a:t>
            </a:r>
            <a:br/>
            <a:r>
              <a:t>del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8803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E6FA"/>
                </a:solidFill>
                <a:latin typeface="Calibri"/>
              </a:defRPr>
            </a:pPr>
            <a:r>
              <a:t>Cómo las decisiones técnicas</a:t>
            </a:r>
            <a:br/>
            <a:r>
              <a:t>construyen imperios económicos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3749039"/>
            <a:ext cx="3108960" cy="9144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t>Basado en 11 libros fundamentales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413308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Calibri"/>
              </a:defRPr>
            </a:pPr>
            <a:r>
              <a:t>Julio 2026 ·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0972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2B4A"/>
                </a:solidFill>
                <a:latin typeface="Calibri"/>
              </a:defRPr>
            </a:pPr>
            <a:r>
              <a:t>Una guía para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828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A9EFF"/>
                </a:solidFill>
                <a:latin typeface="Calibri"/>
              </a:defRPr>
            </a:pPr>
            <a:r>
              <a:t>programadores, arquitectos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688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CAF50"/>
                </a:solidFill>
                <a:latin typeface="Calibri"/>
              </a:defRPr>
            </a:pPr>
            <a:r>
              <a:t>y emprendedores.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108960"/>
            <a:ext cx="457200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383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8D"/>
                </a:solidFill>
                <a:latin typeface="Calibri"/>
              </a:defRPr>
            </a:pPr>
            <a:r>
              <a:t>Arthur · Romer · Schumpeter</a:t>
            </a:r>
            <a:br/>
            <a:r>
              <a:t>Shapiro &amp; Varian · Parker, Van Alstyne &amp; Choudary</a:t>
            </a:r>
            <a:br/>
            <a:r>
              <a:t>Hoffman · Thiel · Brynjolfsson &amp; McAfee</a:t>
            </a:r>
            <a:br/>
            <a:r>
              <a:t>Benkler · Christensen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Índice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691640"/>
            <a:ext cx="8366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691640"/>
            <a:ext cx="45720" cy="30175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7772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400">
                <a:solidFill>
                  <a:srgbClr val="1A2B4A"/>
                </a:solidFill>
                <a:latin typeface="Calibri"/>
              </a:defRPr>
            </a:pPr>
            <a:r>
              <a:t>01  Los Fundamentos: Rendimientos, Costos y Bienes</a:t>
            </a:r>
          </a:p>
          <a:p>
            <a:pPr>
              <a:spcBef>
                <a:spcPts val="800"/>
              </a:spcBef>
              <a:defRPr sz="1400">
                <a:solidFill>
                  <a:srgbClr val="1A2B4A"/>
                </a:solidFill>
                <a:latin typeface="Calibri"/>
              </a:defRPr>
            </a:pPr>
            <a:r>
              <a:t>02  Capital en la Era del Conocimiento</a:t>
            </a:r>
          </a:p>
          <a:p>
            <a:pPr>
              <a:spcBef>
                <a:spcPts val="800"/>
              </a:spcBef>
              <a:defRPr sz="1400">
                <a:solidFill>
                  <a:srgbClr val="1A2B4A"/>
                </a:solidFill>
                <a:latin typeface="Calibri"/>
              </a:defRPr>
            </a:pPr>
            <a:r>
              <a:t>03  Crecimiento Endógeno y Conocimiento Acumulativo</a:t>
            </a:r>
          </a:p>
          <a:p>
            <a:pPr>
              <a:spcBef>
                <a:spcPts val="800"/>
              </a:spcBef>
              <a:defRPr sz="1400">
                <a:solidFill>
                  <a:srgbClr val="1A2B4A"/>
                </a:solidFill>
                <a:latin typeface="Calibri"/>
              </a:defRPr>
            </a:pPr>
            <a:r>
              <a:t>04  Path Dependence, Lock-In y Switching Costs</a:t>
            </a:r>
          </a:p>
          <a:p>
            <a:pPr>
              <a:spcBef>
                <a:spcPts val="800"/>
              </a:spcBef>
              <a:defRPr sz="1400">
                <a:solidFill>
                  <a:srgbClr val="1A2B4A"/>
                </a:solidFill>
                <a:latin typeface="Calibri"/>
              </a:defRPr>
            </a:pPr>
            <a:r>
              <a:t>05  Network Effects y Plataformas</a:t>
            </a:r>
          </a:p>
          <a:p>
            <a:pPr>
              <a:spcBef>
                <a:spcPts val="800"/>
              </a:spcBef>
              <a:defRPr sz="1400">
                <a:solidFill>
                  <a:srgbClr val="1A2B4A"/>
                </a:solidFill>
                <a:latin typeface="Calibri"/>
              </a:defRPr>
            </a:pPr>
            <a:r>
              <a:t>06  Estrategia Tecnológica: Monopolios, Moats y Blitzscaling</a:t>
            </a:r>
          </a:p>
          <a:p>
            <a:pPr>
              <a:spcBef>
                <a:spcPts val="800"/>
              </a:spcBef>
              <a:defRPr sz="1400">
                <a:solidFill>
                  <a:srgbClr val="1A2B4A"/>
                </a:solidFill>
                <a:latin typeface="Calibri"/>
              </a:defRPr>
            </a:pPr>
            <a:r>
              <a:t>07  Ecosistemas, APIs y Open Source</a:t>
            </a:r>
          </a:p>
          <a:p>
            <a:pPr>
              <a:spcBef>
                <a:spcPts val="800"/>
              </a:spcBef>
              <a:defRPr sz="1400">
                <a:solidFill>
                  <a:srgbClr val="1A2B4A"/>
                </a:solidFill>
                <a:latin typeface="Calibri"/>
              </a:defRPr>
            </a:pPr>
            <a:r>
              <a:t>08  La Revolución del Cloud, SaaS e IA</a:t>
            </a:r>
          </a:p>
          <a:p>
            <a:pPr>
              <a:spcBef>
                <a:spcPts val="800"/>
              </a:spcBef>
              <a:defRPr sz="1400">
                <a:solidFill>
                  <a:srgbClr val="1A2B4A"/>
                </a:solidFill>
                <a:latin typeface="Calibri"/>
              </a:defRPr>
            </a:pPr>
            <a:r>
              <a:t>09  Destrucción Creativa e Innovación</a:t>
            </a:r>
          </a:p>
          <a:p>
            <a:pPr>
              <a:spcBef>
                <a:spcPts val="800"/>
              </a:spcBef>
              <a:defRPr sz="1400">
                <a:solidFill>
                  <a:srgbClr val="1A2B4A"/>
                </a:solidFill>
                <a:latin typeface="Calibri"/>
              </a:defRPr>
            </a:pPr>
            <a:r>
              <a:t>10  Cómo Nacen las Empresas de un Billón de Dólares</a:t>
            </a:r>
          </a:p>
          <a:p>
            <a:pPr>
              <a:spcBef>
                <a:spcPts val="800"/>
              </a:spcBef>
              <a:defRPr sz="1400">
                <a:solidFill>
                  <a:srgbClr val="1A2B4A"/>
                </a:solidFill>
                <a:latin typeface="Calibri"/>
              </a:defRPr>
            </a:pPr>
            <a:r>
              <a:t>11  Síntesis: Compound Everything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PARTE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Los Fundamentos:</a:t>
            </a:r>
            <a:br/>
            <a:r>
              <a:t>Rendimientos, Costos y Bienes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FA"/>
                </a:solidFill>
                <a:latin typeface="Calibri"/>
              </a:defRPr>
            </a:pPr>
            <a:r>
              <a:t>Cómo la física de la información reemplaza a la física de los átomos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Economía Clásica vs Economía del Conocimiento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Economía del Conocimiento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Recursos escasos, rendimientos decrecientes, equilibrio único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Tierra, trabajo, capital físico como factores primarios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Modelo: agricultura, minería, manufactura tradicional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El valor está en la escasez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05840"/>
            <a:ext cx="45720" cy="374903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Economía del Conocimiento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Recursos no rivales, rendimientos crecientes, múltiples equilibrios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Ideas, datos, software como factores primarios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Modelo: SaaS, plataformas, IA, biotech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El valor está en la abundancia y la recombinación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Rendimientos Decrecientes (Diminishing Returns)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Cada unidad adicional de input produce menos output que la anterior (f''(x) &lt; 0)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David Ricardo (1817): más trabajadores en un campo fijo → producción extra por trabajador cae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Domina en agricultura, minería, manufactura con capacidad fija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Equilibrio único, predecible, estable. El mercado converge a un punto óptimo (Smith)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¿Cuándo deja de cumplirse?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Cuando el input principal es conocimiento, no tierra ni capital físico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Cuando hay costos fijos altos y costos marginales cercanos a cero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Cuando hay efectos de red (cada usuario agrega valor a los demás)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Rendimientos Crecientes (Increasing Returns)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B. Arthur: cada unidad adicional de input produce MÁS output que la anterior (f''(x) &gt; 0)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Múltiples equilibrios posibles. El resultado final depende de la historia (path dependence)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Brian Arthur: las economías modernas están dominadas por increasing returns en el sector conocimiento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Fuentes de Increasing Returns (Arthur, 1990):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1. Costos fijos altos + costos marginales bajos (software, pharma, aeroespacial)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2. Efectos de aprendizaje (learning by doing — mayor producción = mayor eficiencia)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3. Efectos de red (el valor del producto aumenta con más usuarios)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4. Economías de escala en producción (más unidades = menor costo unitario)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5. Complementariedades técnicas (tecnologías que funcionan mejor juntas)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Costos Marginales Cercanos a Cero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Shapiro &amp; Varian (Information Rules): bienes de información tienen costos fijos altos y costos marginales casi nulos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Esto INVIERTE la lógica clásica de fijación de precios basada en costo marginal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Implicaciones para SaaS: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El pricing no puede basarse en costo marginal → debe basarse en VALOR para el cliente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La elasticidad precio es enorme: bajar precio puede multiplicar usuarios sin aumentar costos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Freemium es posible porque el costo de servir al usuario marginal es cercano a cero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La competencia por precio es destructiva — la diferenciación es obligatoria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Ejemplo: WhatsApp (55 empleados, $19B) — costo marginal de un mensaje adicional es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Bienes Rivales vs No Rivales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Aplicación a Arquitectura de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Clasificación de Bienes (Romer, 1990):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RIVAL: si una persona lo usa, otra no puede (manzana, martillo, servidor)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NO RIVAL: puede ser usado por muchas personas simultáneamente (idea, canción, código)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EXCLUIBLE: se puede impedir que alguien lo use (patente, suscripción, DRM)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NO EXCLUIBLE: no se puede impedir (aire, conocimiento básico, API pública)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El descubrimiento clave de Romer: las IDEAS son no rivales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Un bit de código puede usarse por millones sin desgastarse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El software es el bien no rival perfecto: escribirlo cuesta, replicarlo no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La no rivalidad permite rendimientos crecientes a escala de toda la economía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05840"/>
            <a:ext cx="45720" cy="374903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Aplicación a Arquitectura de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Cada microservicio bien diseñado es un bien no rival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Bibliotecas internas = bienes no rivales dentro de la empresa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APIs públicas convierten bienes internos no rivales en activos económicos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Documentación: un bien no rival cuyo ROI crece con cada reutilización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Nonrivalry is the fundamental economic distinction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that makes software different from everything that came before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PARTE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Capital en la Era del Conocimiento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FA"/>
                </a:solidFill>
                <a:latin typeface="Calibri"/>
              </a:defRPr>
            </a:pPr>
            <a:r>
              <a:t>De los activos físicos a los intangibles y el capital intelectual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Capital Financiero vs Capital Intelectual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Capital Intelectual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Capital Financiero: tangible, medible, divisible, líquido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Se deprecia con el uso (máquinas se desgastan)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Sujeto a rendimientos decrecientes (más capital en misma economía → menor ROI)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Modelo de Solow (1956): el crecimiento por capital físico converge a estado estacionario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05840"/>
            <a:ext cx="45720" cy="374903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Capital Intelectual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Intangible, difícil de medir, no rival, acumulativo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Se APRECIA con el uso (más uso = más refinamiento, más valor)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Rendimientos crecientes: cada idea nueva se construye sobre las anteriores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Modelo de Romer (1990): el crecimiento por ideas es ENDÓGENO y NO converge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El Conocimiento como Acumulador de Valor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Romer (1990): Endogenous Growth Theory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conocimiento es el MOTOR del crecimiento económico moderno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A diferencia del capital físico, el conocimiento NO tiene rendimientos decrecientes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conocimiento es NO RIVAL → puede ser usado simultáneamente por todos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conocimiento es PARCIALMENTE EXCLUIBLE → patentes, copyright, secretos comerciales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crecimiento es ENDÓGENO: resultado de decisiones de inversión en I+D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conocimiento creado por UNA empresa beneficia a TODA la economía (spillovers)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Aplicación a SaaS: cada feature nuevo se acumula sobre el anterior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código bien escrito es conocimiento acumulativo que se aprecia con el tiempo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Las APIs expuestas convierten conocimiento interno en valor externo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El Stack de Capital en una Empresa de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💰 Capital Financiero: funding, revenue, runway — el combustible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🧠 Capital Humano: talento, expertise, juicio técnico — el cerebro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📦 Capital Estructural: código, arquitectura, procesos, documentación — el sistema nervioso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🔗 Capital Relacional: clientes, partners, comunidad, network effects — el ecosistema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📊 Capital de Datos: datasets, modelos entrenados, señales de usuario — el petróleo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🏷️ Capital de Marca (Moats): reputación, confianza, switching costs — el foso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Las empresas que maximizan el stack completo (no solo el financiero)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son las que dominan mercados enteros.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PARTE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Crecimiento Endógeno y</a:t>
            </a:r>
            <a:br/>
            <a:r>
              <a:t>Conocimiento Acumulativo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FA"/>
                </a:solidFill>
                <a:latin typeface="Calibri"/>
              </a:defRPr>
            </a:pPr>
            <a:r>
              <a:t>Por qué algunas economías crecen indefinidamente mientras otras se estancan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Solow (1956) vs Romer (1990)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Modelo de Romer (Endógeno)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Modelo de Solow (Exógeno):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Crecimiento = aumento de capital + trabajo + 'residual' no explicado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El progreso tecnológico es EXÓGENO — cae del cielo como maná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Rendimientos decrecientes del capital → convergencia a estado estacionario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No puede explicar por qué el crecimiento se ACELERA en lugar de frenarse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05840"/>
            <a:ext cx="45720" cy="374903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Modelo de Romer (Endógeno)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Crecimiento = inversión deliberada en I+D + conocimiento acumulado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El progreso tecnológico es ENDÓGENO — resultado de decisiones económicas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Rendimientos crecientes del conocimiento → NO hay convergencia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Explica la 'Gran Divergencia': los que invierten en I+D crecen; los que no, se estancan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Spillovers, Recombinación y Efecto 'Standing on Shoulders'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Spillovers de Conocimiento: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conocimiento creado por una empresa beneficia a otras (y viceversa)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Los spillovers son la razón por la que Silicon Valley existe como cluster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software open source es el spillover perfecto: Linux beneficia a todos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Recombinación (Weitzman, 1998):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Las nuevas ideas no se crean de la nada — se RECOMBINAN ideas existentes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número de recombinaciones posibles crece exponencialmente con las ideas base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Cada tecnología (web, mobile, cloud, IA) es plataforma para nuevas recombinaciones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Ejemplo: Uber = GPS + smartphone + payment + maps + ratings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PARTE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Path Dependence, Lock-In</a:t>
            </a:r>
            <a:br/>
            <a:r>
              <a:t>y Switching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FA"/>
                </a:solidFill>
                <a:latin typeface="Calibri"/>
              </a:defRPr>
            </a:pPr>
            <a:r>
              <a:t>Por qué el pasado determina el futuro en los mercados de tecnología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Path Dependence: Cómo la Historia Decide el Futuro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W. Brian Arthur: eventos pequeños e idiosincráticos al inicio tienen efectos grandes y duraderos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resultado final NO es el más eficiente — es el que tuvo ventaja inicial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Contrasta con la economía clásica: ésta predice que el mercado elige el MEJOR resultado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ejemplo clásico: QWERTY vs Dvorak (David, 1985):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QWERTY fue diseñado para que las teclas no se trabaran en máquinas de escribir MECÁNICAS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Dvorak (1936) es 20-40% más eficiente... pero QWERTY ya estaba instalado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Network effects + switching costs + institutional inertia → QWERTY nunca será reemplazado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LECCIÓN: el estándar dominante no es el mejor técnicamente; es el que llegó primero y lockeó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Lock-In: Por qué los Clientes No Se Van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Shapiro &amp; Varian (Information Rules):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Lock-in ocurre cuando los costos de cambiar de proveedor son altos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lock-in es la principal fuente de 'moat' (foso competitivo) en software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Los 7 Tipos de Lock-In: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1. Datos: migrar datos de un SaaS a otro es un infierno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2. Aprendizaje: tu equipo sabe Excel, no Google Sheets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3. Integraciones: Slack está conectado a 200 apps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4. Contratos: enterprise agreements de 2-3 años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5. Personalización: miles de horas de customización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6. Confianza/marca: 'nadie fue despedido por comprar IBM/Microsoft'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7. Efectos de red: todos en tu industria usan esta plataforma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Estrategias para Crear (y Romper) Lock-In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Romper Lock-In (ofensivo)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Crear Lock-In (defensivo):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APIs propietarias no compatibles con competidores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Formatos de datos cerrados: .docx, .psd, .sketch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Integraciones deep en workflows del cliente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Datos históricos insustituibles del cliente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Planes multi-annual con descuentos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Software + Servicios: consultoría que aprende el negocio del cliente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05840"/>
            <a:ext cx="45720" cy="374903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Romper Lock-In (ofensivo)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Ofrecer migraciones gratuitas (Zendesk → Intercom)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APIs abiertas y estándares (Stripe vs Authorize.net)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Pricing basado en uso vs licencia (SaaS vs on-premise)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Freemium: costo de entrada cero → reduce barrera de prueba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Herramientas de importación one-click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Regla de oro: high switching costs para tus clientes, low switching costs desde competidores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PARTE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Network Effects y Plataformas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FA"/>
                </a:solidFill>
                <a:latin typeface="Calibri"/>
              </a:defRPr>
            </a:pPr>
            <a:r>
              <a:t>El motor más potente de creación de valor en la era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Network Effects: Definición y Tipos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Ley de Metcalfe: el valor de una red de n nodos ~ n²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Tipos de Network Effects (Parker, Van Alstyne, Choudary):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1. Directos (same-side): más usuarios = más valor. Teléfono, WhatsApp, Slack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2. Indirectos (cross-side): +del lado A = +valor para lado B. Airbnb: +hosts → +huéspedes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3. Data network effects: +usuarios → +datos → mejor producto → +usuarios. Waze, TikTok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4. Social: el producto es mejor si amigos lo usan. Facebook, Instagram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5. Platform/ecosystem: +desarrolladores → +apps → +usuarios → +desarrolladores. iOS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Pipeline vs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Plataforma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Pipeline (negocio lineal):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Cadena de valor: diseño → fabricación → distribución → venta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Control vertical de toda la cadena. El valor se CREA dentro de la empresa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Ej: Ford, Netflix 2007 (envía DVDs), Comcast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05840"/>
            <a:ext cx="45720" cy="374903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Plataforma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Infraestructura que conecta productores y consumidores externos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El valor se CREA FUERA de la empresa (comunidad, ecosistema)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Efectos de red cruzados. Costo marginal de agregar lado → 0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Ej: Airbnb (0 propiedades), Uber (0 autos), Alibaba (0 stock)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Core Interaction = Participantes + Unidad de Valor + Filtro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El Problema del Huevo y la Gallina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dilema fundamental de toda plataforma: sin productores → sin consumidores → sin valor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Estrategias para resolverlo: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1. Subsidio al lado más difícil: Uber con conductores, Airbnb con hosts, PlayStation barata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2. Estrategia 'Parece pipeline' (cangrejo): Amazon empezó como librería, luego abrió marketplace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3. Semilla desde comunidad existente: PayPal desde Palm Pilots, Facebook desde Harvard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4. Adopción secuencial: atraer un lado primero (OpenTable: restoranes → comensales)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5. Producto killer para un lado: Stripe resolvió pagar online para devs → atrajeron comercios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Negative Network Effects — El Lado Oscuro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No todos los network effects son positivos. Más usuarios puede DESTRUIR valor: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Congestión: +usuarios → peor experiencia (Twitter 2014, Clubhouse 2021)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Spam/abuso: +usuarios → más malos actores (Facebook 2016, Reddit)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Dilución de matching: +participantes → más ruido (Tinder, LinkedIn, Upwork)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Desigualdad de poder: plataforma grande → extractiva (Apple 30%, Amazon contra sellers)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Fragmentación: +usuarios → más subgrupos → menos interacción cross-grupo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¿Cómo mitigarlos?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Gobernanza activa: algoritmos de ranking, moderación, reputación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Estructura de precios disuasoria (Uber surge pricing)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Límites de crecimiento deliberados (invites-only iniciales)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AI para filtrar, rankear y recomendar en lugar de feed cronológico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PARTE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Estrategia Tecnológica:</a:t>
            </a:r>
            <a:br/>
            <a:r>
              <a:t>Monopolios, Moats y Blitzscaling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FA"/>
                </a:solidFill>
                <a:latin typeface="Calibri"/>
              </a:defRPr>
            </a:pPr>
            <a:r>
              <a:t>Cómo construir empresas que no solo compiten, sino que definen la categoría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Monopolios: La Estrategia de las Empresas Tecnológicas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Thiel (Zero to One): la paradoja del monopolio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Todas las empresas felices son diferentes (cada monopolio lo es a su manera)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Todas las empresas infelices son iguales (compiten en commoditie)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Las 4 Características de un Monopolio Tecnológico: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1. Tecnología propietaria: 10x mejor que la alternativa más cercana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2. Efectos de red: cada usuario hace el producto más valioso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3. Economías de escala: SaaS escala con costo marginal ~0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4. Branding/marca: la marca es tan fuerte que es sinónimo de la categoría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"Competition is for losers" — Peter Thiel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Moats: Los Fosos que Defienden el Monopolio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Los 8 Moats Tecnológicos: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1. Network Effects: el usuario atrae a más usuarios. Facebook, LinkedIn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2. Switching Costs: duele cambiar. Salesforce, SAP, Workday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3. Economías de Escala: cada vez más barato. AWS, Azure, GCP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4. Data Network Effects: más datos → mejor AI → más usuarios. Waze, Tesla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5. Marca/Confianza: Stripe, Datadog, 'nadie fue despedido por comprar...'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6. Tecnología Propietaria: OpenAI, Palantir, ASML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7. Licencias/Regulación: Bloomberg, Epic, Carta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8. Embedding: el producto es parte del workflow. PagerDuty en DevOps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En software, los moats son MÁS DURADEROS que en industrias tradicionales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Razón: increasing returns, lock-in, network effects — fortalezas que CRECEN con el tiempo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Blitzscaling: Crecimiento a Toda Costa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Reid Hoffman: priorizar velocidad sobre eficiencia en situaciones de incertidumbre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Es la estrategia para alcanzar first-scaler advantage en mercados con network effects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Las 3 Reglas del Blitzscaling: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1. Ignorar la eficiencia: contratar rápido, gastar, aunque duela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2. Aceptar el caos: procesos imperfectos &gt; no crecer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3. Pivotar agresivamente: si algo no funciona, cambio inmediato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Cuándo NO blitzscale: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Si el mercado no tiene network effects (quemas dinero sin barreras de entrada)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Si hay un incumbente con lock-in fuerte (Microsoft, Google)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Si no hay PMF (product-market fit) → escalas un producto que nadie quiere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First-Scaler Advantage vs First-Mover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First-Scaler Advantage (Hoffman)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First-Mover Advantage (tradicional):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El primero en llegar al mercado gana. Funciona con patentes, recursos escasos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En tecnología, ser first mover NO es suficiente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Friendster vs Facebook, Palm vs iPhone, AltaVista vs Google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05840"/>
            <a:ext cx="45720" cy="374903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First-Scaler Advantage (Hoffman)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El primero en ESCALAR (no en llegar) gana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Facebook no fue la primera red social — fue la primera en escalar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Airbnb vs Couchsurfing: ambos empezaron ~2008, Airbnb escaló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En mercados con network effects, el que escala primero captura el efecto de red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PARTE VII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Ecosistemas, APIs</a:t>
            </a:r>
            <a:br/>
            <a:r>
              <a:t>y Open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FA"/>
                </a:solidFill>
                <a:latin typeface="Calibri"/>
              </a:defRPr>
            </a:pPr>
            <a:r>
              <a:t>Cuando tu producto se convierte en la infraestructura de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Ecosistemas: El Producto es la Plataforma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Un producto exitoso atrae complementos → los complementos fortalecen el producto → más usuarios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3 Niveles de Ecosistema: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🔷 Nivel 1 — API: tu producto expone APIs para que otros construyan encima (Stripe, Twilio)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🔷 Nivel 2 — Marketplace: terceros venden en tu plataforma (Salesforce AppExchange)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🔷 Nivel 3 — Platform: tu producto ES la infraestructura de una industria (AWS, iOS)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Core Interaction (Parker et al.):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 plataforma: Pull &amp; Facilitate → Match &amp; Curate → Monetize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Las APIs como Producto: Cuando tu Código es tu Ingreso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API como Unidad de Valor: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Stripe: pago online en 7 líneas de código. Twilio: '$0.0075 por SMS'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Plaid: datos bancarios como API. $100M+ ARR con ~500 empleados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Algolia: búsqueda como API. Mapbox: mapas como API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OpenAI: IA generativa como API. '$0.01 por 1K tokens'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 Arquitectura del Éxito API: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Simplicidad: probar en 5 minutos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Pricing por uso: paga solo por lo que usas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Documentación excelente: la DX es el producto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Dashboard en tiempo real: uso, costos, errores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SLAs: uptime 99.99%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Sandbox: probar sin pagar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 Economía del Open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 paradoja: código no rival + no excluible → ¿cómo se gana dinero?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Modelos de Negocio Open Source: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Open Core: features gratis + premium (GitLab, Nginx)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SaaS sobre open source: corre el software por el usuario (WordPress.com)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Support &amp; Consulting: Red Hat ($34B adquirida por IBM)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Managed Cloud: Aiven, DigitalOcean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→ Paid License (dual licensing): MySQL, MongoDB (pre-SSPL)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Por qué las empresas contribuyen a open source: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Reducción de costos, reclutamiento, estandarización, marketing técnico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Benkler: el open source es producción social basada en commons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— un tercer modo de producción económica, ni mercado ni jerarquía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PARTE VIII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 Revolución del Cloud,</a:t>
            </a:r>
            <a:br/>
            <a:r>
              <a:t>SaaS 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FA"/>
                </a:solidFill>
                <a:latin typeface="Calibri"/>
              </a:defRPr>
            </a:pPr>
            <a:r>
              <a:t>Cómo el cambio de infraestructura está reescribiendo las reglas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Cloud Computing: La Mayor Externalización de la Historia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Después del Cloud (2006+)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Antes del Cloud (2000-2006):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Cada startup debía comprar servidores, pagar hosting, contratar sysadmins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Costo fijo inicial: $10K-$100K en hardware. Elasticidad: 0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Fallo = perder todo el inventario. Barrera de entrada: altísima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411480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05840"/>
            <a:ext cx="45720" cy="374903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Después del Cloud (2006+)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Costo marginal de lanzar: $0. Una cuenta de AWS + tarjeta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Elasticidad: infinita. De 1 a 10,000 servidores en minutos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Backup/redundancia: built-in (S3, RDS multi-AZ)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Barrera de entrada: virtualmente cero</a:t>
            </a:r>
          </a:p>
          <a:p>
            <a:pPr>
              <a:spcBef>
                <a:spcPts val="3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El cloud permitió la explosión de SaaS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SaaS: La Materialización del Conocimiento como Capital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Métricas Clave de SaaS: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ARR (Annual Recurring Revenue): la medida de valor acumulado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LTV (Lifetime Value): el valor futuro descontado de un cliente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CAC (Customer Acquisition Cost): cuánto cuesta ganar un cliente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Churn: el enemigo #1. Cada punto de churn anual es un agujero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Net Revenue Retention (NRR): &gt;120% = máquina de crecimiento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Regla del 40: Growth % + Profit Margin % ≥ 40% → saludable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Si creces 50% al año, puedes perder 10%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Si creces 10%, debes ser rentable 30%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Refleja la realidad: sacrificas rentabilidad por crecimiento cuando hay network effects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Cada suscripción SaaS es un flujo que se acumula como capital conocimiento con NRR &gt; 100%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IA: La Infraestructura que se Vuelve Más Inteligente con Cada Usuario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Data Network Effects: cada interacción genera datos que mejoran el modelo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Mejor modelo → mejor predicción → más usuarios → más datos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Es el increasing returns más puro de la economía digital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Ejemplos: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Google Search: 8.5B búsquedas/día → mejor algoritmo → más búsquedas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TikTok: For You Page mejora con cada like/skip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Tesla: cada milla autónoma mejora la red neuronal de TODOS los Tesla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GitHub Copilot: cada aceptación/rechazo mejora el modelo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Los LLMs son bienes no rivales de escala masiva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Se vuelven MEJORES con más uso (fine-tuning, RLHF, RAG)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Cada aplicación sobre un LLM es una recombinación (Weitzman)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PARTE 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Destrucción Creativa</a:t>
            </a:r>
            <a:br/>
            <a:r>
              <a:t>e Innovación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FA"/>
                </a:solidFill>
                <a:latin typeface="Calibri"/>
              </a:defRPr>
            </a:pPr>
            <a:r>
              <a:t>Cómo las nuevas tecnologías reemplazan a las viejas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Destrucción Creativa: El Motor del Capitalismo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Schumpeter (1942): el proceso que revoluciona incesantemente la estructura económica desde dentro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Los 5 Tipos de Innovación (Schumpeter, 1911):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1. Nuevo producto: iPhone (2007), Tesla Model S (2012)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2. Nuevo método de producción: Lean manufacturing, CI/CD, LLM training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3. Nuevo mercado: Airbnb, AWS Cloud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4. Nueva fuente de insumos: Open source code, AI-generated content, APIs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5. Nueva organización industrial: DAOs, Remote-first companies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Patrón de la Destrucción Creativa en Tecnología: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1. Incumbent ignora la nueva tecnología (Kodak, Blockbuster, Nokia)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2. New entrant encuentra un mercado pequeño que el incumbente desprecia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3. La nueva tecnología mejora exponencialmente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4. El mercado se da vuelta: lo irrelevante se vuelve dominante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El Dilema del Innovador (Christensen)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Por qué las grandes empresas FALLAN: no es incompetencia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Es que SUS clientes no quieren la nueva tecnología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Las empresas exitosas escuchan a sus clientes → invierten en lo que piden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Los clientes existentes no quieren productos disruptivos (son demasiado simples)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 nueva tecnología mejora → eventualmente satisface a los clientes mainstream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Para cuando el incumbente reacciona, el disruptor ya tiene network effects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Ejemplos: Kodak (inventó digital, la ocultó → quebró), Blockbuster, Nokia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Solución: crear unidad separada que compita CONTRA la empresa madre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No pedirle rentabilidad pronto. Adquirir startups en lugar de construir internamente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PARTE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Cómo Nacen las Empresas</a:t>
            </a:r>
            <a:br/>
            <a:r>
              <a:t>de un Billón de Dólares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FA"/>
                </a:solidFill>
                <a:latin typeface="Calibri"/>
              </a:defRPr>
            </a:pPr>
            <a:r>
              <a:t>Patrones y principios de las compañías que redefinen industrias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El Patrón Común de las Empresas de $1B+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Patrón universal: Apple, Google, Amazon, Meta, Netflix, Salesforce, Stripe, Airbnb, Uber, Tesla, Nvidia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1. Founders con visión de 10 años: no construyen para el IPO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2. Producto 10x mejor: no 10% mejor. 10x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3. Efectos de red bien diseñados: la plataforma se vuelve más valiosa con cada usuario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4. Lock-in array: datos + integraciones + aprendizaje + ecosistema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5. Escala antes de rentabilidad: blitzscaling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6. Ataque a incumbentes lentos: no a competidores ágiles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7. Cultura que multiplica talento: 1 persona excepcional &gt; 10 promedio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8. Suerte + preparación: reconocer el momento correcto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Caso: NVIDIA — La Recombinación que Creó un Monopolio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 recombinación (Weitzman) de tecnologías: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GPU (1999) para gráficos 3D → gaming. CUDA (2006) para cómputo general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Deep Learning (2012) descubrió que GPUs son perfectas para entrenar redes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LLMs (2020+) requieren 10K+ GPUs → NVIDIA proveedor único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Los moats de NVIDIA: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Hardware: GPUs 10x mejores que alternativas (AMD, Google TPU)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Software: CUDA es el lenguaje estándar de facto para ML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Ecosistema: todos los frameworks (PyTorch, TensorFlow) optimizados para Nvidia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Data moat: toda la investigación de ML asume hardware NVIDIA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Nvidia pasó de $360B (2020) a $3T+ (2024). La mayor creación de valor en 4 años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Caso: Stripe — La Economía de las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 oportunidad (2010): aceptar pagos online era COMPLEJÍSIMO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Típicamente semanas configurar, cientos de dólares en fees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Los Collison brothers entendieron: los desarrolladores QUERÍAN pagar online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 solución (Zero to One): 7 líneas de código → aceptar pagos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Pricing simple: 2.9% + $0.30. Sin contracts, sin monthly fees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Documentación excelente: sandbox en 5 minutos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Por qué Stripe es un monopolio Thieliano: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🔷 Tecnología 10x más simple que cualquier competidor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🔷 Network effects: +comercios → +datos de fraude → mejor detección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🔷 Economías de escala: infraestructura fija, procesar $1 más cuesta ~$0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🔷 Brand: Stripe = gold standard. Nadie cuestiona Stripe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Resultado: $65B valuation. Stripe Atlas, Connect, Billing → ecosistema entero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Caso: Airbnb — La Plataforma que Creó un Nuevo Mercado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Mercado existente: hoteles (habitaciones estandarizadas, caras)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Mercado invisible: millones de casas con habitaciones vacías (recursos ociosos)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 plataforma desbloqueó valor LATENTE (Parker et al.)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Las decisiones correctas: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Sistema de reputación bidireccional: hosts califican guests y viceversa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Pagos retenidos: retiene el pago hasta 24h después del check-in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Fotografía profesional: fotógrafos para fotos de listings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Insurance ($1M host guarantee): redujo barrera de riesgo para hosts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Moats: Network effects + 100M+ reviews no transferibles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7M+ properties que no existen en otro lado. Brand: Airbnb = home-sharing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PARTE XI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Síntesis:</a:t>
            </a:r>
            <a:br/>
            <a:r>
              <a:t>Compound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E6FA"/>
                </a:solidFill>
                <a:latin typeface="Calibri"/>
              </a:defRPr>
            </a:pPr>
            <a:r>
              <a:t>Cómo todas las piezas encajan en un framework unificado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 Gran Integración: Cómo Todo se Conecta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Flujo Unificado de Creación de Valor en Software: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1. BIEN NO RIVAL: el código es no rival → costo marginal ~$0. Se APRECIA con uso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2. RENDIMIENTOS CRECIENTES: cada usuario genera más valor que el anterior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3. NETWORK EFFECTS + ECOSISTEMA: producto atrae usuarios, usuarios atraen complementos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4. LOCK-IN: datos, aprendizaje, integraciones → switching costs altísimos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5. MONOPOLIO TEMPORAL: network effects + lock-in + data moats = monopolio Thieliano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Los competidores no pueden entrar porque los 'moats' crecen con el tiempo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Compound Everything: El Principio Unificador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El principio que une a Romer, Arthur, Thiel, Hoffman, Parker, Shapiro &amp; Varian: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💰 Efectos de red se COMPONEN: cada usuario agrega valor NO lineal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📊 Datos se COMPONEN: más datos → mejor producto → más usuarios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🔒 Lock-in se COMPONE: cada año de uso → más switching costs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🧠 Conocimiento se COMPONE: cada idea nueva se construye sobre las anteriores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🏢 Economías de escala se COMPONEN: más clientes → menor costo unitario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🌐 Ecosistema se COMPONE: más complementos → más valor → más complementos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Compounding ≠ crecimiento lineal. El compounding es lo que convierte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una startup de 3 personas en una empresa de $1T.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Pregunta clave: ¿Mi producto se vuelve más valioso con cada usuario?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Si la respuesta es SÍ → tienes un asset exponencial.</a:t>
            </a:r>
          </a:p>
          <a:p>
            <a:pPr>
              <a:spcBef>
                <a:spcPts val="300"/>
              </a:spcBef>
              <a:defRPr sz="1200">
                <a:solidFill>
                  <a:srgbClr val="6B7A8D"/>
                </a:solidFill>
                <a:latin typeface="Calibri"/>
              </a:defRPr>
            </a:pPr>
            <a:r>
              <a:t>Si la respuesta es NO → tienes un commodity.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Checklist: ¿Tu Startup Tiene las Propiedades Correctas?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1A2B4A"/>
                </a:solidFill>
                <a:latin typeface="Calibri"/>
              </a:defRPr>
            </a:pPr>
            <a:r>
              <a:t>✅ ¿El producto es 10x mejor que la alternativa? (Thiel)</a:t>
            </a:r>
          </a:p>
          <a:p>
            <a:pPr>
              <a:spcBef>
                <a:spcPts val="600"/>
              </a:spcBef>
              <a:defRPr sz="1200">
                <a:solidFill>
                  <a:srgbClr val="1A2B4A"/>
                </a:solidFill>
                <a:latin typeface="Calibri"/>
              </a:defRPr>
            </a:pPr>
            <a:r>
              <a:t>✅ ¿Los costos marginales son cercanos a 0? (Romer)</a:t>
            </a:r>
          </a:p>
          <a:p>
            <a:pPr>
              <a:spcBef>
                <a:spcPts val="600"/>
              </a:spcBef>
              <a:defRPr sz="1200">
                <a:solidFill>
                  <a:srgbClr val="1A2B4A"/>
                </a:solidFill>
                <a:latin typeface="Calibri"/>
              </a:defRPr>
            </a:pPr>
            <a:r>
              <a:t>✅ ¿El producto mejora con más usuarios? (Arthur + Hoffman)</a:t>
            </a:r>
          </a:p>
          <a:p>
            <a:pPr>
              <a:spcBef>
                <a:spcPts val="600"/>
              </a:spcBef>
              <a:defRPr sz="1200">
                <a:solidFill>
                  <a:srgbClr val="1A2B4A"/>
                </a:solidFill>
                <a:latin typeface="Calibri"/>
              </a:defRPr>
            </a:pPr>
            <a:r>
              <a:t>✅ ¿Hay switching costs altos? (Shapiro &amp; Varian)</a:t>
            </a:r>
          </a:p>
          <a:p>
            <a:pPr>
              <a:spcBef>
                <a:spcPts val="600"/>
              </a:spcBef>
              <a:defRPr sz="1200">
                <a:solidFill>
                  <a:srgbClr val="1A2B4A"/>
                </a:solidFill>
                <a:latin typeface="Calibri"/>
              </a:defRPr>
            </a:pPr>
            <a:r>
              <a:t>✅ ¿Puedes escalar sin aumentar proporcionalmente costos? (AWS)</a:t>
            </a:r>
          </a:p>
          <a:p>
            <a:pPr>
              <a:spcBef>
                <a:spcPts val="600"/>
              </a:spcBef>
              <a:defRPr sz="1200">
                <a:solidFill>
                  <a:srgbClr val="1A2B4A"/>
                </a:solidFill>
                <a:latin typeface="Calibri"/>
              </a:defRPr>
            </a:pPr>
            <a:r>
              <a:t>✅ ¿Hay algún tipo de efecto de red? (Parker et al.)</a:t>
            </a:r>
          </a:p>
          <a:p>
            <a:pPr>
              <a:spcBef>
                <a:spcPts val="600"/>
              </a:spcBef>
              <a:defRPr sz="1200">
                <a:solidFill>
                  <a:srgbClr val="1A2B4A"/>
                </a:solidFill>
                <a:latin typeface="Calibri"/>
              </a:defRPr>
            </a:pPr>
            <a:r>
              <a:t>✅ ¿El mercado es grande y el incumbente lento? (Christensen)</a:t>
            </a:r>
          </a:p>
          <a:p>
            <a:pPr>
              <a:spcBef>
                <a:spcPts val="600"/>
              </a:spcBef>
              <a:defRPr sz="1200">
                <a:solidFill>
                  <a:srgbClr val="1A2B4A"/>
                </a:solidFill>
                <a:latin typeface="Calibri"/>
              </a:defRPr>
            </a:pPr>
            <a:r>
              <a:t>✅ ¿Puedes capturar valor de la recombinación? (Weitzman)</a:t>
            </a:r>
          </a:p>
          <a:p>
            <a:pPr>
              <a:spcBef>
                <a:spcPts val="600"/>
              </a:spcBef>
              <a:defRPr sz="1200">
                <a:solidFill>
                  <a:srgbClr val="1A2B4A"/>
                </a:solidFill>
                <a:latin typeface="Calibri"/>
              </a:defRPr>
            </a:pPr>
            <a:r>
              <a:t>✅ ¿Tu conocimiento se acumula año a año? (Romer)</a:t>
            </a:r>
          </a:p>
          <a:p>
            <a:pPr>
              <a:spcBef>
                <a:spcPts val="600"/>
              </a:spcBef>
              <a:defRPr sz="1200">
                <a:solidFill>
                  <a:srgbClr val="1A2B4A"/>
                </a:solidFill>
                <a:latin typeface="Calibri"/>
              </a:defRPr>
            </a:pPr>
            <a:r>
              <a:t>✅ ¿Es 'Zero to One' (nueva categoría)? (Thiel)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8C42"/>
                </a:solidFill>
                <a:latin typeface="Calibri"/>
              </a:defRPr>
            </a:pPr>
            <a:r>
              <a:t>"Does your business get better</a:t>
            </a:r>
            <a:br/>
            <a:r>
              <a:t>the more you use it?"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FA"/>
                </a:solidFill>
                <a:latin typeface="Calibri"/>
              </a:defRPr>
            </a:pPr>
            <a:r>
              <a:t>Si la respuesta es SÍ, tienes un asset exponencial.</a:t>
            </a:r>
            <a:br/>
            <a:r>
              <a:t>Si la respuesta es NO, tienes un commodity.</a:t>
            </a:r>
            <a:br/>
            <a:br/>
            <a:r>
              <a:t>Arthur · Romer · Weitzman · Schumpeter</a:t>
            </a:r>
            <a:br/>
            <a:r>
              <a:t>Shapiro &amp; Varian · Benkler</a:t>
            </a:r>
            <a:br/>
            <a:r>
              <a:t>Parker, Van Alstyne &amp; Choudary</a:t>
            </a:r>
            <a:br/>
            <a:r>
              <a:t>Hoffman · Thiel · Brynjolfsson &amp; McAfee</a:t>
            </a:r>
            <a:br/>
            <a:r>
              <a:t>— todos llegan a la misma conclusión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92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Bibliografía Esencial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49469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919472"/>
            <a:ext cx="8503920" cy="9144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469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850392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05840"/>
            <a:ext cx="45720" cy="374903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B4A"/>
                </a:solidFill>
                <a:latin typeface="Calibri"/>
              </a:defRPr>
            </a:pPr>
            <a:r>
              <a:t>Lecturas Fundamentales</a:t>
            </a:r>
          </a:p>
          <a:p>
            <a:pPr>
              <a:spcBef>
                <a:spcPts val="4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→  Romer, P. (1990). Endogenous Technological Change. Journal of Political Economy.</a:t>
            </a:r>
          </a:p>
          <a:p>
            <a:pPr>
              <a:spcBef>
                <a:spcPts val="4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→  Arthur, W.B. (1996). Increasing Returns and the New World of Business. HBR.</a:t>
            </a:r>
          </a:p>
          <a:p>
            <a:pPr>
              <a:spcBef>
                <a:spcPts val="4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→  Shapiro, C. &amp; Varian, H. (1999). Information Rules. Harvard Business School Press.</a:t>
            </a:r>
          </a:p>
          <a:p>
            <a:pPr>
              <a:spcBef>
                <a:spcPts val="4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→  Parker, G., Van Alstyne, M. &amp; Choudary, S.P. (2016). Platform Revolution. W.W. Norton.</a:t>
            </a:r>
          </a:p>
          <a:p>
            <a:pPr>
              <a:spcBef>
                <a:spcPts val="4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→  Benkler, Y. (2006). The Wealth of Networks. Yale University Press.</a:t>
            </a:r>
          </a:p>
          <a:p>
            <a:pPr>
              <a:spcBef>
                <a:spcPts val="4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→  Brynjolfsson, E. &amp; McAfee, A. (2014). The Second Machine Age. W.W. Norton.</a:t>
            </a:r>
          </a:p>
          <a:p>
            <a:pPr>
              <a:spcBef>
                <a:spcPts val="4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→  Schumpeter, J. (1942). Capitalism, Socialism and Democracy. Harper &amp; Brothers.</a:t>
            </a:r>
          </a:p>
          <a:p>
            <a:pPr>
              <a:spcBef>
                <a:spcPts val="4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→  Thiel, P. (2014). Zero to One. Crown Business.</a:t>
            </a:r>
          </a:p>
          <a:p>
            <a:pPr>
              <a:spcBef>
                <a:spcPts val="4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→  Hoffman, R. (2018). Blitzscaling. Currency.</a:t>
            </a:r>
          </a:p>
          <a:p>
            <a:pPr>
              <a:spcBef>
                <a:spcPts val="4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→  Christensen, C. (1997). The Innovator's Dilemma. HBR Press.</a:t>
            </a:r>
          </a:p>
          <a:p>
            <a:pPr>
              <a:spcBef>
                <a:spcPts val="400"/>
              </a:spcBef>
              <a:defRPr sz="1100">
                <a:solidFill>
                  <a:srgbClr val="6B7A8D"/>
                </a:solidFill>
                <a:latin typeface="Calibri"/>
              </a:defRPr>
            </a:pPr>
            <a:r>
              <a:t>→  David, P. (1985). Clio and the Economics of QWERTY. AER, 75(2).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8C42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E6FA"/>
                </a:solidFill>
                <a:latin typeface="Calibri"/>
              </a:defRPr>
            </a:pPr>
            <a:r>
              <a:t>El software no es solo tecnología.</a:t>
            </a:r>
            <a:br/>
            <a:r>
              <a:t>Es la máquina de compounding más poderosa jamás creada.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8C42"/>
                </a:solidFill>
                <a:latin typeface="Calibri"/>
              </a:defRPr>
            </a:pPr>
            <a:r>
              <a:t>catalaxiaresearch.com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