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480560" cy="10058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457200" y="457200"/>
            <a:ext cx="182880" cy="182880"/>
          </a:xfrm>
          <a:prstGeom prst="diamond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365760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web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shooks</a:t>
            </a:r>
            <a:r>
              <a:rPr sz="26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384048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B82F6"/>
                </a:solidFill>
                <a:latin typeface="Calibri"/>
              </a:rPr>
              <a:t>Desarrollo de Software · LATAM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1481328"/>
            <a:ext cx="2194560" cy="36576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931920" cy="1463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Kickoff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Técnico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11880"/>
            <a:ext cx="3931920" cy="12801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AB4C8"/>
                </a:solidFill>
                <a:latin typeface="Calibri"/>
              </a:rPr>
              <a:t>Screener Financiero AR + US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AAB4C8"/>
                </a:solidFill>
                <a:latin typeface="Calibri"/>
              </a:rPr>
              <a:t>Plan de trabajo · 4 sprints · equipo webshooks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532120"/>
            <a:ext cx="3520440" cy="12801"/>
          </a:xfrm>
          <a:prstGeom prst="rect">
            <a:avLst/>
          </a:prstGeom>
          <a:solidFill>
            <a:srgbClr val="3A4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0"/>
            <a:ext cx="365760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AB4C8"/>
                </a:solidFill>
                <a:latin typeface="Calibri"/>
              </a:rPr>
              <a:t>Duración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4 semanas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35040"/>
            <a:ext cx="365760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AB4C8"/>
                </a:solidFill>
                <a:latin typeface="Calibri"/>
              </a:rPr>
              <a:t>Fecha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Julio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868680"/>
            <a:ext cx="6858000" cy="19202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100" b="1" i="0">
                <a:solidFill>
                  <a:srgbClr val="1A2744"/>
                </a:solidFill>
                <a:latin typeface="Calibri"/>
              </a:rPr>
              <a:t>Construimos una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100" b="1" i="0">
                <a:solidFill>
                  <a:srgbClr val="1A2744"/>
                </a:solidFill>
                <a:latin typeface="Calibri"/>
              </a:rPr>
              <a:t>plataforma de análisis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100" b="1" i="0">
                <a:solidFill>
                  <a:srgbClr val="3B82F6"/>
                </a:solidFill>
                <a:latin typeface="Calibri"/>
              </a:rPr>
              <a:t>fundamental en 4 semanas.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3063240"/>
            <a:ext cx="6492240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291840"/>
            <a:ext cx="6766560" cy="914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Objetivo:  </a:t>
            </a:r>
            <a:r>
              <a:rPr sz="1300" b="0" i="0">
                <a:solidFill>
                  <a:srgbClr val="3A4458"/>
                </a:solidFill>
                <a:latin typeface="Calibri"/>
              </a:rPr>
              <a:t>productizar un dataset ya construido y validado (572 empresas, 3 mercados, ratios oficiales) en un screener web con API propia.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4681728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4727448"/>
            <a:ext cx="93268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FastAPI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16752" y="4681728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6752" y="4727448"/>
            <a:ext cx="93268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Next.js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95744" y="4681728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5744" y="4727448"/>
            <a:ext cx="120700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PostgreSQL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49056" y="4681728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49056" y="4727448"/>
            <a:ext cx="84124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Docker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36608" y="4681728"/>
            <a:ext cx="65836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4727448"/>
            <a:ext cx="65836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Jira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0" y="4681728"/>
            <a:ext cx="157276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0" y="4727448"/>
            <a:ext cx="157276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Contrato-first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Qué vamos a construir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Un screener de análisis fundamental que unifica Argentina y Estados Unidos, en ARS y USD, sobre datos oficiales y trazables.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 · Kickoff Catalaxia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260604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12264"/>
            <a:ext cx="26060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572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07208"/>
            <a:ext cx="2423160" cy="47548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empresas · 3 mercados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0984" y="19659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00984" y="1965960"/>
            <a:ext cx="2606040" cy="5486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00984" y="2112264"/>
            <a:ext cx="26060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733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2807208"/>
            <a:ext cx="2423160" cy="47548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instrumentos con ISIN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48" y="19659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9048" y="1965960"/>
            <a:ext cx="2606040" cy="54864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8" y="2112264"/>
            <a:ext cx="26060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~16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2807208"/>
            <a:ext cx="2423160" cy="47548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ratios fundamentales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7112" y="19659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97112" y="1965960"/>
            <a:ext cx="2606040" cy="54864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7112" y="2112264"/>
            <a:ext cx="26060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807208"/>
            <a:ext cx="2423160" cy="47548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niveles: empresa + instrumento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1097280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2744"/>
                </a:solidFill>
                <a:latin typeface="Calibri"/>
              </a:rPr>
              <a:t>Dos vistas de producto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023360"/>
            <a:ext cx="5486400" cy="21945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0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19" b="1" i="0">
                <a:solidFill>
                  <a:srgbClr val="1A2744"/>
                </a:solidFill>
                <a:latin typeface="Calibri"/>
              </a:rPr>
              <a:t>Screener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tabla filtrable de 572 empresas, toggle ARS/USD, orden por ratio.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0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19" b="1" i="0">
                <a:solidFill>
                  <a:srgbClr val="1A2744"/>
                </a:solidFill>
                <a:latin typeface="Calibri"/>
              </a:rPr>
              <a:t>Ficha de empresa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fundamentales + panel de instrumentos (ADR/CEDEAR/local).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0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19" b="1" i="0">
                <a:solidFill>
                  <a:srgbClr val="1A2744"/>
                </a:solidFill>
                <a:latin typeface="Calibri"/>
              </a:rPr>
              <a:t>Export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CSV del screener.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023360"/>
            <a:ext cx="5486400" cy="21945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0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19" b="1" i="0">
                <a:solidFill>
                  <a:srgbClr val="1A2744"/>
                </a:solidFill>
                <a:latin typeface="Calibri"/>
              </a:rPr>
              <a:t>Datos oficiales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SEC · CNV · IAMC · Comafi · JPMorgan, con source_url por dato.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0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19" b="1" i="0">
                <a:solidFill>
                  <a:srgbClr val="1A2744"/>
                </a:solidFill>
                <a:latin typeface="Calibri"/>
              </a:rPr>
              <a:t>Doble moneda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precio ARS/USD + CCL; ratios CEDEAR/ADR del emisor.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0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19" b="1" i="0">
                <a:solidFill>
                  <a:srgbClr val="1A2744"/>
                </a:solidFill>
                <a:latin typeface="Calibri"/>
              </a:rPr>
              <a:t>Provenance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cada número es auditable — el diferenciador.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Punto de partida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La capa de datos ya está construida y validada. El trabajo de estas 4 semanas es productizarla: PostgreSQL + API + frontend.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 · Kickoff Catalaxia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972800" cy="21945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150" b="1" i="0">
                <a:solidFill>
                  <a:srgbClr val="1A2744"/>
                </a:solidFill>
                <a:latin typeface="Calibri"/>
              </a:rPr>
              <a:t>Dataset listo  </a:t>
            </a:r>
            <a:r>
              <a:rPr sz="1150" b="0" i="0">
                <a:solidFill>
                  <a:srgbClr val="3A4458"/>
                </a:solidFill>
                <a:latin typeface="Calibri"/>
              </a:rPr>
              <a:t>572 empresas + 733 instrumentos, ~16 ratios calculados.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150" b="1" i="0">
                <a:solidFill>
                  <a:srgbClr val="1A2744"/>
                </a:solidFill>
                <a:latin typeface="Calibri"/>
              </a:rPr>
              <a:t>Ratios oficiales  </a:t>
            </a:r>
            <a:r>
              <a:rPr sz="1150" b="0" i="0">
                <a:solidFill>
                  <a:srgbClr val="3A4458"/>
                </a:solidFill>
                <a:latin typeface="Calibri"/>
              </a:rPr>
              <a:t>CEDEAR (Comafi) y ADR (SEC F-6/20-F + JPMorgan).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150" b="1" i="0">
                <a:solidFill>
                  <a:srgbClr val="1A2744"/>
                </a:solidFill>
                <a:latin typeface="Calibri"/>
              </a:rPr>
              <a:t>Trazabilidad  </a:t>
            </a:r>
            <a:r>
              <a:rPr sz="1150" b="0" i="0">
                <a:solidFill>
                  <a:srgbClr val="3A4458"/>
                </a:solidFill>
                <a:latin typeface="Calibri"/>
              </a:rPr>
              <a:t>source_url por dato; validación cruzada por CCL (dispersión 1,3%).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150" b="1" i="0">
                <a:solidFill>
                  <a:srgbClr val="1A2744"/>
                </a:solidFill>
                <a:latin typeface="Calibri"/>
              </a:rPr>
              <a:t>Hoy en SQLite  </a:t>
            </a:r>
            <a:r>
              <a:rPr sz="1150" b="0" i="0">
                <a:solidFill>
                  <a:srgbClr val="3A4458"/>
                </a:solidFill>
                <a:latin typeface="Calibri"/>
              </a:rPr>
              <a:t>se migra a PostgreSQL en la Semana 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11183112" cy="1234440"/>
          </a:xfrm>
          <a:prstGeom prst="roundRect">
            <a:avLst>
              <a:gd name="adj" fmla="val 5000"/>
            </a:avLst>
          </a:prstGeom>
          <a:solidFill>
            <a:srgbClr val="DCEAFF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4892040"/>
            <a:ext cx="64008" cy="12344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983479"/>
            <a:ext cx="10863072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B82F6"/>
                </a:solidFill>
                <a:latin typeface="Calibri"/>
              </a:rPr>
              <a:t>Qué implica para el equipo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49240"/>
            <a:ext cx="10835640" cy="6858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El riesgo de datos ya está resuelto. El foco de las 4 semanas es ingeniería de producto: esquema Postgres, API REST, dos frontends y jobs de actualización. El </a:t>
            </a:r>
            <a:r>
              <a:rPr sz="1050" b="1" i="0">
                <a:solidFill>
                  <a:srgbClr val="1A2744"/>
                </a:solidFill>
                <a:latin typeface="Calibri"/>
              </a:rPr>
              <a:t>contrato de API del día 1</a:t>
            </a:r>
            <a:r>
              <a:rPr sz="1050" b="0" i="0">
                <a:solidFill>
                  <a:srgbClr val="3A4458"/>
                </a:solidFill>
                <a:latin typeface="Calibri"/>
              </a:rPr>
              <a:t> permite que backend y frontend avancen en paralelo desde el inicio.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Arquitectura objetivo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Cada bloque tiene dueño y contrato. Los frontends consumen la API; la API sirve desde Postgres; los jobs actualizan solos.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 · Kickoff Catalaxia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2651760" cy="246888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2651760" cy="566928"/>
          </a:xfrm>
          <a:prstGeom prst="roundRect">
            <a:avLst>
              <a:gd name="adj" fmla="val 6000"/>
            </a:avLst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249424"/>
            <a:ext cx="2651760" cy="283464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965960"/>
            <a:ext cx="2432304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Datos · 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3774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A4D8F"/>
                </a:solidFill>
                <a:latin typeface="Calibri"/>
              </a:rPr>
              <a:t>Federico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2377440" cy="12801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572/733 + provenance;
migración SQLite→PG; backups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2926080"/>
            <a:ext cx="36576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AAB4C8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5" y="1965960"/>
            <a:ext cx="2651760" cy="246888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28415" y="1965960"/>
            <a:ext cx="2651760" cy="566928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28415" y="2249424"/>
            <a:ext cx="2651760" cy="2834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38144" y="1965960"/>
            <a:ext cx="2432304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API · 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5" y="2651760"/>
            <a:ext cx="23774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B82F6"/>
                </a:solidFill>
                <a:latin typeface="Calibri"/>
              </a:rPr>
              <a:t>Mateo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5575" y="3017520"/>
            <a:ext cx="2377440" cy="12801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REST + filtros + jobs;
OpenAPI documentada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1888" y="2926080"/>
            <a:ext cx="36576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AAB4C8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1965960"/>
            <a:ext cx="2651760" cy="246888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53912" y="1965960"/>
            <a:ext cx="2651760" cy="566928"/>
          </a:xfrm>
          <a:prstGeom prst="roundRect">
            <a:avLst>
              <a:gd name="adj" fmla="val 6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3912" y="2249424"/>
            <a:ext cx="2651760" cy="283464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1965960"/>
            <a:ext cx="2432304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Front · Screener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2651760"/>
            <a:ext cx="23774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3A047"/>
                </a:solidFill>
                <a:latin typeface="Calibri"/>
              </a:rPr>
              <a:t>Joaquín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3017520"/>
            <a:ext cx="2377440" cy="12801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tabla, filtros, toggle
ARS/USD, export, jobs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87384" y="2926080"/>
            <a:ext cx="36576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AAB4C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79408" y="1965960"/>
            <a:ext cx="2651760" cy="246888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79408" y="1965960"/>
            <a:ext cx="2651760" cy="566928"/>
          </a:xfrm>
          <a:prstGeom prst="roundRect">
            <a:avLst>
              <a:gd name="adj" fmla="val 6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79408" y="2249424"/>
            <a:ext cx="2651760" cy="28346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89136" y="1965960"/>
            <a:ext cx="2432304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Front · Detalle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8" y="2651760"/>
            <a:ext cx="23774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5821F"/>
                </a:solidFill>
                <a:latin typeface="Calibri"/>
              </a:rPr>
              <a:t>Aldana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16568" y="3017520"/>
            <a:ext cx="2377440" cy="12801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ficha, instrumentos,
CEDEAR/ADR, comparador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754880"/>
            <a:ext cx="11183112" cy="1371600"/>
          </a:xfrm>
          <a:prstGeom prst="roundRect">
            <a:avLst>
              <a:gd name="adj" fmla="val 5000"/>
            </a:avLst>
          </a:prstGeom>
          <a:solidFill>
            <a:srgbClr val="FDF0E4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02920" y="4754880"/>
            <a:ext cx="64008" cy="1371600"/>
          </a:xfrm>
          <a:prstGeom prst="roundRect">
            <a:avLst>
              <a:gd name="adj" fmla="val 50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846320"/>
            <a:ext cx="10863072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5821F"/>
                </a:solidFill>
                <a:latin typeface="Calibri"/>
              </a:rPr>
              <a:t>Infraestructura (Federico)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157216"/>
            <a:ext cx="10835640" cy="87782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Docker Compose · VPS · HTTPS (nginx/certbot) · CORS · scheduler de jobs · CI (lint + tests en cada PR). </a:t>
            </a:r>
            <a:r>
              <a:rPr sz="1050" b="1" i="0">
                <a:solidFill>
                  <a:srgbClr val="1A2744"/>
                </a:solidFill>
                <a:latin typeface="Calibri"/>
              </a:rPr>
              <a:t>El raw cache es la fuente de verdad: la base se reconstruye sin volver a la 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Contrato de API primero (día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Definimos el contrato y entregamos mocks el día 1. Frontend y backend trabajan en paralelo desde el minuto cero — nadie espera a nadie.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 · Kickoff Catalaxia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4216583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874519"/>
            <a:ext cx="4106855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Endpoint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19503" y="1874519"/>
            <a:ext cx="5133231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92655" y="1874519"/>
            <a:ext cx="5023503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Qué devuelve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52734" y="1874519"/>
            <a:ext cx="1833297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25886" y="1874519"/>
            <a:ext cx="1723569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Dueño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276856"/>
            <a:ext cx="11183112" cy="475488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276856"/>
            <a:ext cx="4106855" cy="47548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GET /empresas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2655" y="2276856"/>
            <a:ext cx="5023503" cy="47548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screener: lista + filtros + orden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5886" y="2276856"/>
            <a:ext cx="1723569" cy="47548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Mateo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752344"/>
            <a:ext cx="111831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752344"/>
            <a:ext cx="4106855" cy="47548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GET /empresas/{id}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2655" y="2752344"/>
            <a:ext cx="5023503" cy="47548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fundamentales + instrumentos anidados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5886" y="2752344"/>
            <a:ext cx="1723569" cy="47548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Mateo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27832"/>
            <a:ext cx="11183112" cy="475488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227832"/>
            <a:ext cx="4106855" cy="47548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GET /instrumentos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92655" y="3227832"/>
            <a:ext cx="5023503" cy="47548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filtros por tipo/mercado + paginación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5886" y="3227832"/>
            <a:ext cx="1723569" cy="47548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Mateo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703320"/>
            <a:ext cx="111831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3703320"/>
            <a:ext cx="4106855" cy="47548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GET /cobertura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2655" y="3703320"/>
            <a:ext cx="5023503" cy="47548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salud del dataset (validar_final)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5886" y="3703320"/>
            <a:ext cx="1723569" cy="47548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Mateo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178808"/>
            <a:ext cx="11183112" cy="475488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4178808"/>
            <a:ext cx="4106855" cy="47548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POST /jobs/{tipo}  ·  GET /jobs/{id}/status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2655" y="4178808"/>
            <a:ext cx="5023503" cy="47548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disparar y seguir jobs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5886" y="4178808"/>
            <a:ext cx="1723569" cy="47548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Mateo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654296"/>
            <a:ext cx="1118311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4654296"/>
            <a:ext cx="4106855" cy="47548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GET /health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2655" y="4654296"/>
            <a:ext cx="5023503" cy="47548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liveness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5886" y="4654296"/>
            <a:ext cx="1723569" cy="47548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Mateo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257800"/>
            <a:ext cx="11183112" cy="868680"/>
          </a:xfrm>
          <a:prstGeom prst="roundRect">
            <a:avLst>
              <a:gd name="adj" fmla="val 5000"/>
            </a:avLst>
          </a:prstGeom>
          <a:solidFill>
            <a:srgbClr val="DCEAFF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257800"/>
            <a:ext cx="64008" cy="86868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349240"/>
            <a:ext cx="10863072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Regla de oro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641848"/>
            <a:ext cx="10835640" cy="393191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El contrato + los mocks se congelan el día 1. Cualquier cambio se acuerda entre backend y frontend y se versiona. </a:t>
            </a:r>
            <a:r>
              <a:rPr sz="1050" b="1" i="0">
                <a:solidFill>
                  <a:srgbClr val="1A2744"/>
                </a:solidFill>
                <a:latin typeface="Calibri"/>
              </a:rPr>
              <a:t>Los frontends nunca quedan bloqueados esperando la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Modelo de datos — 2 niveles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Una empresa tiene N instrumentos negociables. Los fundamentales viven en la empresa; el precio y el ratio de conversión, en el instrumento.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 · Kickoff Catalaxia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74519"/>
            <a:ext cx="5029200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EMPRESA (nivel 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41448"/>
            <a:ext cx="5394960" cy="420624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441448"/>
            <a:ext cx="2103120" cy="42062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id / cuit / cik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441448"/>
            <a:ext cx="2926080" cy="42062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identidad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16936"/>
            <a:ext cx="5394960" cy="420624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916936"/>
            <a:ext cx="2103120" cy="42062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nombre · sector · país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916936"/>
            <a:ext cx="2926080" cy="42062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taxonomía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92424"/>
            <a:ext cx="5394960" cy="420624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392424"/>
            <a:ext cx="2103120" cy="42062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~16 ratios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392424"/>
            <a:ext cx="2926080" cy="42062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fundamentales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67912"/>
            <a:ext cx="5394960" cy="420624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867912"/>
            <a:ext cx="2103120" cy="42062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provenance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867912"/>
            <a:ext cx="2926080" cy="42062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source_url por dato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343400"/>
            <a:ext cx="5394960" cy="420624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343400"/>
            <a:ext cx="2103120" cy="42062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fuente_fund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343400"/>
            <a:ext cx="2926080" cy="42062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edgar / cnv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1874519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874519"/>
            <a:ext cx="5029200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INSTRUMENTO (nivel 2)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441448"/>
            <a:ext cx="5394960" cy="420624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2441448"/>
            <a:ext cx="2103120" cy="42062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tipo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441448"/>
            <a:ext cx="2926080" cy="42062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ADR / CEDEAR / local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916936"/>
            <a:ext cx="5394960" cy="420624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2916936"/>
            <a:ext cx="2103120" cy="42062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ISIN · mercado · moneda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916936"/>
            <a:ext cx="2926080" cy="42062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identidad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392424"/>
            <a:ext cx="5394960" cy="420624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3392424"/>
            <a:ext cx="2103120" cy="42062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ratio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392424"/>
            <a:ext cx="2926080" cy="42062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conversión (N:1)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867912"/>
            <a:ext cx="5394960" cy="420624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3952" y="3867912"/>
            <a:ext cx="2103120" cy="42062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precio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867912"/>
            <a:ext cx="2926080" cy="42062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ARS y USD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343400"/>
            <a:ext cx="5394960" cy="420624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3952" y="4343400"/>
            <a:ext cx="2103120" cy="42062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dividendos / yield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4343400"/>
            <a:ext cx="2926080" cy="42062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ADR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120640"/>
            <a:ext cx="11183112" cy="1005840"/>
          </a:xfrm>
          <a:prstGeom prst="roundRect">
            <a:avLst>
              <a:gd name="adj" fmla="val 5000"/>
            </a:avLst>
          </a:prstGeom>
          <a:solidFill>
            <a:srgbClr val="FDF0E4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2920" y="5120640"/>
            <a:ext cx="64008" cy="1005840"/>
          </a:xfrm>
          <a:prstGeom prst="roundRect">
            <a:avLst>
              <a:gd name="adj" fmla="val 50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212079"/>
            <a:ext cx="10863072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821F"/>
                </a:solidFill>
                <a:latin typeface="Calibri"/>
              </a:rPr>
              <a:t>Doble precio + ratios oficiales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504688"/>
            <a:ext cx="10835640" cy="53035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Cada instrumento guarda su precio en ARS y USD y su ratio de conversión del emisor (Comafi para CEDEAR, SEC F-6/JPMorgan para ADR). El CCL se calcula desde los ADRs y valida el resto.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Cómo trabajamos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 · Kickoff Catalaxia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3602736" cy="420624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3602736" cy="50292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76272"/>
            <a:ext cx="3602736" cy="2468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3328416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Código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60320"/>
            <a:ext cx="3273552" cy="34747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3A4458"/>
                </a:solidFill>
                <a:latin typeface="Calibri"/>
              </a:rPr>
              <a:t>Rama por historia (feature/S1-07-…)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3A4458"/>
                </a:solidFill>
                <a:latin typeface="Calibri"/>
              </a:rPr>
              <a:t>PR + review de Federico antes de merge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3A4458"/>
                </a:solidFill>
                <a:latin typeface="Calibri"/>
              </a:rPr>
              <a:t>main siempre deployable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3A4458"/>
                </a:solidFill>
                <a:latin typeface="Calibri"/>
              </a:rPr>
              <a:t>CI: lint + tests en cada PR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15383" y="1920240"/>
            <a:ext cx="3602736" cy="420624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15383" y="1920240"/>
            <a:ext cx="3602736" cy="502920"/>
          </a:xfrm>
          <a:prstGeom prst="roundRect">
            <a:avLst>
              <a:gd name="adj" fmla="val 8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15383" y="2176272"/>
            <a:ext cx="3602736" cy="246888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544" y="1920240"/>
            <a:ext cx="3328416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Seguimiento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2560320"/>
            <a:ext cx="3273552" cy="34747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3A4458"/>
                </a:solidFill>
                <a:latin typeface="Calibri"/>
              </a:rPr>
              <a:t>Jira: 34 historias · 108 puntos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3A4458"/>
                </a:solidFill>
                <a:latin typeface="Calibri"/>
              </a:rPr>
              <a:t>Mover el estado de cada tarea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3A4458"/>
                </a:solidFill>
                <a:latin typeface="Calibri"/>
              </a:rPr>
              <a:t>Excel de backlog como respaldo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3A4458"/>
                </a:solidFill>
                <a:latin typeface="Calibri"/>
              </a:rPr>
              <a:t>Daily async en el canal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1920240"/>
            <a:ext cx="3602736" cy="420624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27848" y="1920240"/>
            <a:ext cx="3602736" cy="502920"/>
          </a:xfrm>
          <a:prstGeom prst="roundRect">
            <a:avLst>
              <a:gd name="adj" fmla="val 8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27848" y="2176272"/>
            <a:ext cx="3602736" cy="24688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8" y="1920240"/>
            <a:ext cx="3328416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Entregas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7" y="2560320"/>
            <a:ext cx="3273552" cy="34747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3A4458"/>
                </a:solidFill>
                <a:latin typeface="Calibri"/>
              </a:rPr>
              <a:t>Cada sábado: demo del bloque de la semana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3A4458"/>
                </a:solidFill>
                <a:latin typeface="Calibri"/>
              </a:rPr>
              <a:t>Rama + checklist con referencias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3A4458"/>
                </a:solidFill>
                <a:latin typeface="Calibri"/>
              </a:rPr>
              <a:t>Definición de Hecho por tarea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3A4458"/>
                </a:solidFill>
                <a:latin typeface="Calibri"/>
              </a:rPr>
              <a:t>Sin sorpresas al final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Roles y responsabilidades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 · Kickoff Catalaxia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440680" cy="2121408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73152" cy="2121408"/>
          </a:xfrm>
          <a:prstGeom prst="roundRect">
            <a:avLst>
              <a:gd name="adj" fmla="val 50000"/>
            </a:avLst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38528"/>
            <a:ext cx="50749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4D8F"/>
                </a:solidFill>
                <a:latin typeface="Calibri"/>
              </a:rPr>
              <a:t>Federico — Tech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59152"/>
            <a:ext cx="4983480" cy="1508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Contrato de API + arquitectura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Infra: VPS, Postgres, deploy, backups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Datos → Postgres + scheduler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Code review, QA e integración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828800"/>
            <a:ext cx="5440680" cy="2121408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5352" y="1828800"/>
            <a:ext cx="73152" cy="21214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50749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B82F6"/>
                </a:solidFill>
                <a:latin typeface="Calibri"/>
              </a:rPr>
              <a:t>Mateo —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359152"/>
            <a:ext cx="4983480" cy="1508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FastAPI: endpoints + filtros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Jobs + scheduler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Tests de endpoints + openapi.json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Doble precio / ratios en la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14800"/>
            <a:ext cx="5440680" cy="2121408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4114800"/>
            <a:ext cx="73152" cy="212140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224528"/>
            <a:ext cx="50749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43A047"/>
                </a:solidFill>
                <a:latin typeface="Calibri"/>
              </a:rPr>
              <a:t>Joaquín — Frontend Screener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645152"/>
            <a:ext cx="4983480" cy="1508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Tabla de 572 empresas + toggle ARS/USD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Filtros + sorting + paginación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Export CSV + panel de jobs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Estados vacío/loading/error + responsive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4114800"/>
            <a:ext cx="5440680" cy="2121408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45352" y="4114800"/>
            <a:ext cx="73152" cy="2121408"/>
          </a:xfrm>
          <a:prstGeom prst="roundRect">
            <a:avLst>
              <a:gd name="adj" fmla="val 50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224528"/>
            <a:ext cx="50749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5821F"/>
                </a:solidFill>
                <a:latin typeface="Calibri"/>
              </a:rPr>
              <a:t>Aldana — Frontend Detalle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4645152"/>
            <a:ext cx="4983480" cy="1508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Ficha de empresa + panel de instrumentos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Dividendos ADR + yield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Vista CEDEAR + comparador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Chips de provenance + disclaimers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Sprint 1 · Semana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Fundamentos navegables — infra + API base + fronts contra los mocks del contrato.   ·   38 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 · Kickoff Catalaxia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2651760" cy="416052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76272"/>
            <a:ext cx="2651760" cy="246888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1920240"/>
            <a:ext cx="2395728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Federico  </a:t>
            </a:r>
            <a:r>
              <a:rPr sz="950" b="0" i="0">
                <a:solidFill>
                  <a:srgbClr val="FFFFFF"/>
                </a:solidFill>
                <a:latin typeface="Calibri"/>
              </a:rPr>
              <a:t>· 19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560320"/>
            <a:ext cx="2340864" cy="33832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Definir contrato de API + mocks (día 1) </a:t>
            </a:r>
            <a:r>
              <a:rPr sz="900" b="1" i="0">
                <a:solidFill>
                  <a:srgbClr val="1A4D8F"/>
                </a:solidFill>
                <a:latin typeface="Calibri"/>
              </a:rPr>
              <a:t>(3)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Esquema PostgreSQL (empresas + instrumentos) </a:t>
            </a:r>
            <a:r>
              <a:rPr sz="900" b="1" i="0">
                <a:solidFill>
                  <a:srgbClr val="1A4D8F"/>
                </a:solidFill>
                <a:latin typeface="Calibri"/>
              </a:rPr>
              <a:t>(3)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Migrar 572 empresas + 733 instrumentos a Postgres </a:t>
            </a:r>
            <a:r>
              <a:rPr sz="900" b="1" i="0">
                <a:solidFill>
                  <a:srgbClr val="1A4D8F"/>
                </a:solidFill>
                <a:latin typeface="Calibri"/>
              </a:rPr>
              <a:t>(5)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Postgres en la VPS + backups diarios </a:t>
            </a:r>
            <a:r>
              <a:rPr sz="900" b="1" i="0">
                <a:solidFill>
                  <a:srgbClr val="1A4D8F"/>
                </a:solidFill>
                <a:latin typeface="Calibri"/>
              </a:rPr>
              <a:t>(3)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Deploy API base + HTTPS + CORS </a:t>
            </a:r>
            <a:r>
              <a:rPr sz="900" b="1" i="0">
                <a:solidFill>
                  <a:srgbClr val="1A4D8F"/>
                </a:solidFill>
                <a:latin typeface="Calibri"/>
              </a:rPr>
              <a:t>(5)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5" y="1920240"/>
            <a:ext cx="2651760" cy="416052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28415" y="19202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28415" y="2176272"/>
            <a:ext cx="2651760" cy="2468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1920240"/>
            <a:ext cx="2395728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Mateo  </a:t>
            </a:r>
            <a:r>
              <a:rPr sz="950" b="0" i="0">
                <a:solidFill>
                  <a:srgbClr val="FFFFFF"/>
                </a:solidFill>
                <a:latin typeface="Calibri"/>
              </a:rPr>
              <a:t>· 8 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560320"/>
            <a:ext cx="2340864" cy="33832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Scaffold FastAPI + Postgres async </a:t>
            </a:r>
            <a:r>
              <a:rPr sz="900" b="1" i="0">
                <a:solidFill>
                  <a:srgbClr val="3B82F6"/>
                </a:solidFill>
                <a:latin typeface="Calibri"/>
              </a:rPr>
              <a:t>(3)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GET /empresas + /cobertura + /health </a:t>
            </a:r>
            <a:r>
              <a:rPr sz="900" b="1" i="0">
                <a:solidFill>
                  <a:srgbClr val="3B82F6"/>
                </a:solidFill>
                <a:latin typeface="Calibri"/>
              </a:rPr>
              <a:t>(5)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1920240"/>
            <a:ext cx="2651760" cy="416052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53912" y="19202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912" y="2176272"/>
            <a:ext cx="2651760" cy="246888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7" y="1920240"/>
            <a:ext cx="2395728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Joaquín  </a:t>
            </a:r>
            <a:r>
              <a:rPr sz="950" b="0" i="0">
                <a:solidFill>
                  <a:srgbClr val="FFFFFF"/>
                </a:solidFill>
                <a:latin typeface="Calibri"/>
              </a:rPr>
              <a:t>· 6 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3" y="2560320"/>
            <a:ext cx="2340864" cy="33832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Scaffold Next.js + layout </a:t>
            </a:r>
            <a:r>
              <a:rPr sz="900" b="1" i="0">
                <a:solidFill>
                  <a:srgbClr val="43A047"/>
                </a:solidFill>
                <a:latin typeface="Calibri"/>
              </a:rPr>
              <a:t>(3)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Tabla screener contra mocks </a:t>
            </a:r>
            <a:r>
              <a:rPr sz="900" b="1" i="0">
                <a:solidFill>
                  <a:srgbClr val="43A047"/>
                </a:solidFill>
                <a:latin typeface="Calibri"/>
              </a:rPr>
              <a:t>(3)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9408" y="1920240"/>
            <a:ext cx="2651760" cy="416052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79408" y="19202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79408" y="2176272"/>
            <a:ext cx="2651760" cy="24688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920240"/>
            <a:ext cx="2395728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Aldana  </a:t>
            </a:r>
            <a:r>
              <a:rPr sz="950" b="0" i="0">
                <a:solidFill>
                  <a:srgbClr val="FFFFFF"/>
                </a:solidFill>
                <a:latin typeface="Calibri"/>
              </a:rPr>
              <a:t>· 5 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560320"/>
            <a:ext cx="2340864" cy="33832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Base del front + ruta detalle (mocks) </a:t>
            </a:r>
            <a:r>
              <a:rPr sz="900" b="1" i="0">
                <a:solidFill>
                  <a:srgbClr val="F5821F"/>
                </a:solidFill>
                <a:latin typeface="Calibri"/>
              </a:rPr>
              <a:t>(3)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Componentes base (cards, chips, tabla) </a:t>
            </a:r>
            <a:r>
              <a:rPr sz="900" b="1" i="0">
                <a:solidFill>
                  <a:srgbClr val="F5821F"/>
                </a:solidFill>
                <a:latin typeface="Calibri"/>
              </a:rPr>
              <a:t>(2)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Sprint 2 · Semana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Datos reales conectados — el front consume la API (572 empresas, doble moneda).   ·   25 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 · Kickoff Catalaxia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2651760" cy="416052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76272"/>
            <a:ext cx="2651760" cy="246888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1920240"/>
            <a:ext cx="2395728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Federico  </a:t>
            </a:r>
            <a:r>
              <a:rPr sz="950" b="0" i="0">
                <a:solidFill>
                  <a:srgbClr val="FFFFFF"/>
                </a:solidFill>
                <a:latin typeface="Calibri"/>
              </a:rPr>
              <a:t>· 5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560320"/>
            <a:ext cx="2340864" cy="33832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Verificar 733 instrumentos + dividendos ADR </a:t>
            </a:r>
            <a:r>
              <a:rPr sz="900" b="1" i="0">
                <a:solidFill>
                  <a:srgbClr val="1A4D8F"/>
                </a:solidFill>
                <a:latin typeface="Calibri"/>
              </a:rPr>
              <a:t>(3)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Asistir a frontends (CORS/staging) </a:t>
            </a:r>
            <a:r>
              <a:rPr sz="900" b="1" i="0">
                <a:solidFill>
                  <a:srgbClr val="1A4D8F"/>
                </a:solidFill>
                <a:latin typeface="Calibri"/>
              </a:rPr>
              <a:t>(2)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5" y="1920240"/>
            <a:ext cx="2651760" cy="416052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28415" y="19202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28415" y="2176272"/>
            <a:ext cx="2651760" cy="2468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1920240"/>
            <a:ext cx="2395728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Mateo  </a:t>
            </a:r>
            <a:r>
              <a:rPr sz="950" b="0" i="0">
                <a:solidFill>
                  <a:srgbClr val="FFFFFF"/>
                </a:solidFill>
                <a:latin typeface="Calibri"/>
              </a:rPr>
              <a:t>· 8 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560320"/>
            <a:ext cx="2340864" cy="33832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GET /empresas/{id} (fund. + instrumentos) </a:t>
            </a:r>
            <a:r>
              <a:rPr sz="900" b="1" i="0">
                <a:solidFill>
                  <a:srgbClr val="3B82F6"/>
                </a:solidFill>
                <a:latin typeface="Calibri"/>
              </a:rPr>
              <a:t>(5)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GET /instrumentos con filtros + paginación </a:t>
            </a:r>
            <a:r>
              <a:rPr sz="900" b="1" i="0">
                <a:solidFill>
                  <a:srgbClr val="3B82F6"/>
                </a:solidFill>
                <a:latin typeface="Calibri"/>
              </a:rPr>
              <a:t>(3)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1920240"/>
            <a:ext cx="2651760" cy="416052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53912" y="19202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912" y="2176272"/>
            <a:ext cx="2651760" cy="246888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7" y="1920240"/>
            <a:ext cx="2395728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Joaquín  </a:t>
            </a:r>
            <a:r>
              <a:rPr sz="950" b="0" i="0">
                <a:solidFill>
                  <a:srgbClr val="FFFFFF"/>
                </a:solidFill>
                <a:latin typeface="Calibri"/>
              </a:rPr>
              <a:t>· 7 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3" y="2560320"/>
            <a:ext cx="2340864" cy="33832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Screener contra API real + toggle ARS/USD </a:t>
            </a:r>
            <a:r>
              <a:rPr sz="900" b="1" i="0">
                <a:solidFill>
                  <a:srgbClr val="43A047"/>
                </a:solidFill>
                <a:latin typeface="Calibri"/>
              </a:rPr>
              <a:t>(5)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Sorting + paginación server-side </a:t>
            </a:r>
            <a:r>
              <a:rPr sz="900" b="1" i="0">
                <a:solidFill>
                  <a:srgbClr val="43A047"/>
                </a:solidFill>
                <a:latin typeface="Calibri"/>
              </a:rPr>
              <a:t>(2)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9408" y="1920240"/>
            <a:ext cx="2651760" cy="416052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79408" y="19202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79408" y="2176272"/>
            <a:ext cx="2651760" cy="24688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920240"/>
            <a:ext cx="2395728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Aldana  </a:t>
            </a:r>
            <a:r>
              <a:rPr sz="950" b="0" i="0">
                <a:solidFill>
                  <a:srgbClr val="FFFFFF"/>
                </a:solidFill>
                <a:latin typeface="Calibri"/>
              </a:rPr>
              <a:t>· 5 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560320"/>
            <a:ext cx="2340864" cy="33832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Detalle real + panel de instrumentos </a:t>
            </a:r>
            <a:r>
              <a:rPr sz="900" b="1" i="0">
                <a:solidFill>
                  <a:srgbClr val="F5821F"/>
                </a:solidFill>
                <a:latin typeface="Calibri"/>
              </a:rPr>
              <a:t>(5)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Sprint 3 · Semana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Funcionalidad completa — filtros, export, jobs en vivo, CEDEAR/ADR, comparador.   ·   26 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 · Kickoff Catalaxia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2651760" cy="416052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76272"/>
            <a:ext cx="2651760" cy="246888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1920240"/>
            <a:ext cx="2395728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Federico  </a:t>
            </a:r>
            <a:r>
              <a:rPr sz="950" b="0" i="0">
                <a:solidFill>
                  <a:srgbClr val="FFFFFF"/>
                </a:solidFill>
                <a:latin typeface="Calibri"/>
              </a:rPr>
              <a:t>· 3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560320"/>
            <a:ext cx="2340864" cy="33832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Scheduler de jobs en la VPS </a:t>
            </a:r>
            <a:r>
              <a:rPr sz="900" b="1" i="0">
                <a:solidFill>
                  <a:srgbClr val="1A4D8F"/>
                </a:solidFill>
                <a:latin typeface="Calibri"/>
              </a:rPr>
              <a:t>(3)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5" y="1920240"/>
            <a:ext cx="2651760" cy="416052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28415" y="19202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28415" y="2176272"/>
            <a:ext cx="2651760" cy="2468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1920240"/>
            <a:ext cx="2395728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Mateo  </a:t>
            </a:r>
            <a:r>
              <a:rPr sz="950" b="0" i="0">
                <a:solidFill>
                  <a:srgbClr val="FFFFFF"/>
                </a:solidFill>
                <a:latin typeface="Calibri"/>
              </a:rPr>
              <a:t>· 6 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560320"/>
            <a:ext cx="2340864" cy="33832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Filtros compuestos en /empresas </a:t>
            </a:r>
            <a:r>
              <a:rPr sz="900" b="1" i="0">
                <a:solidFill>
                  <a:srgbClr val="3B82F6"/>
                </a:solidFill>
                <a:latin typeface="Calibri"/>
              </a:rPr>
              <a:t>(3)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POST /jobs/{tipo} + GET /jobs/{id}/status </a:t>
            </a:r>
            <a:r>
              <a:rPr sz="900" b="1" i="0">
                <a:solidFill>
                  <a:srgbClr val="3B82F6"/>
                </a:solidFill>
                <a:latin typeface="Calibri"/>
              </a:rPr>
              <a:t>(3)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1920240"/>
            <a:ext cx="2651760" cy="416052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53912" y="19202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912" y="2176272"/>
            <a:ext cx="2651760" cy="246888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7" y="1920240"/>
            <a:ext cx="2395728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Joaquín  </a:t>
            </a:r>
            <a:r>
              <a:rPr sz="950" b="0" i="0">
                <a:solidFill>
                  <a:srgbClr val="FFFFFF"/>
                </a:solidFill>
                <a:latin typeface="Calibri"/>
              </a:rPr>
              <a:t>· 8 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3" y="2560320"/>
            <a:ext cx="2340864" cy="33832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Filtros min/max + flag de calidad </a:t>
            </a:r>
            <a:r>
              <a:rPr sz="900" b="1" i="0">
                <a:solidFill>
                  <a:srgbClr val="43A047"/>
                </a:solidFill>
                <a:latin typeface="Calibri"/>
              </a:rPr>
              <a:t>(3)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Export CSV del screener </a:t>
            </a:r>
            <a:r>
              <a:rPr sz="900" b="1" i="0">
                <a:solidFill>
                  <a:srgbClr val="43A047"/>
                </a:solidFill>
                <a:latin typeface="Calibri"/>
              </a:rPr>
              <a:t>(2)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Panel de jobs en vivo (polling) </a:t>
            </a:r>
            <a:r>
              <a:rPr sz="900" b="1" i="0">
                <a:solidFill>
                  <a:srgbClr val="43A047"/>
                </a:solidFill>
                <a:latin typeface="Calibri"/>
              </a:rPr>
              <a:t>(3)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9408" y="1920240"/>
            <a:ext cx="2651760" cy="416052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79408" y="19202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79408" y="2176272"/>
            <a:ext cx="2651760" cy="24688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920240"/>
            <a:ext cx="2395728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Aldana  </a:t>
            </a:r>
            <a:r>
              <a:rPr sz="950" b="0" i="0">
                <a:solidFill>
                  <a:srgbClr val="FFFFFF"/>
                </a:solidFill>
                <a:latin typeface="Calibri"/>
              </a:rPr>
              <a:t>· 9 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560320"/>
            <a:ext cx="2340864" cy="33832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Dividendos ADR + yield </a:t>
            </a:r>
            <a:r>
              <a:rPr sz="900" b="1" i="0">
                <a:solidFill>
                  <a:srgbClr val="F5821F"/>
                </a:solidFill>
                <a:latin typeface="Calibri"/>
              </a:rPr>
              <a:t>(3)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Vista CEDEAR (ratio de conversión) </a:t>
            </a:r>
            <a:r>
              <a:rPr sz="900" b="1" i="0">
                <a:solidFill>
                  <a:srgbClr val="F5821F"/>
                </a:solidFill>
                <a:latin typeface="Calibri"/>
              </a:rPr>
              <a:t>(3)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Comparador + chips de provenance </a:t>
            </a:r>
            <a:r>
              <a:rPr sz="900" b="1" i="0">
                <a:solidFill>
                  <a:srgbClr val="F5821F"/>
                </a:solidFill>
                <a:latin typeface="Calibri"/>
              </a:rPr>
              <a:t>(3)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Sprint 4 · Semana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QA + entrega — tests, hardening, estados/responsive, walkthrough + deploy prod.   ·   19 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 · Kickoff Catalaxia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2651760" cy="416052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76272"/>
            <a:ext cx="2651760" cy="246888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1920240"/>
            <a:ext cx="2395728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Federico  </a:t>
            </a:r>
            <a:r>
              <a:rPr sz="950" b="0" i="0">
                <a:solidFill>
                  <a:srgbClr val="FFFFFF"/>
                </a:solidFill>
                <a:latin typeface="Calibri"/>
              </a:rPr>
              <a:t>· 8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560320"/>
            <a:ext cx="2340864" cy="33832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Hardening infra + backups + deploy prod </a:t>
            </a:r>
            <a:r>
              <a:rPr sz="900" b="1" i="0">
                <a:solidFill>
                  <a:srgbClr val="1A4D8F"/>
                </a:solidFill>
                <a:latin typeface="Calibri"/>
              </a:rPr>
              <a:t>(3)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QA de integración end-to-end </a:t>
            </a:r>
            <a:r>
              <a:rPr sz="900" b="1" i="0">
                <a:solidFill>
                  <a:srgbClr val="1A4D8F"/>
                </a:solidFill>
                <a:latin typeface="Calibri"/>
              </a:rPr>
              <a:t>(3)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Walkthrough + README de operación </a:t>
            </a:r>
            <a:r>
              <a:rPr sz="900" b="1" i="0">
                <a:solidFill>
                  <a:srgbClr val="1A4D8F"/>
                </a:solidFill>
                <a:latin typeface="Calibri"/>
              </a:rPr>
              <a:t>(2)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5" y="1920240"/>
            <a:ext cx="2651760" cy="416052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28415" y="19202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28415" y="2176272"/>
            <a:ext cx="2651760" cy="2468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1920240"/>
            <a:ext cx="2395728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Mateo  </a:t>
            </a:r>
            <a:r>
              <a:rPr sz="950" b="0" i="0">
                <a:solidFill>
                  <a:srgbClr val="FFFFFF"/>
                </a:solidFill>
                <a:latin typeface="Calibri"/>
              </a:rPr>
              <a:t>· 5 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560320"/>
            <a:ext cx="2340864" cy="33832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Tests de endpoints + manejo de errores </a:t>
            </a:r>
            <a:r>
              <a:rPr sz="900" b="1" i="0">
                <a:solidFill>
                  <a:srgbClr val="3B82F6"/>
                </a:solidFill>
                <a:latin typeface="Calibri"/>
              </a:rPr>
              <a:t>(3)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openapi.json documentado </a:t>
            </a:r>
            <a:r>
              <a:rPr sz="900" b="1" i="0">
                <a:solidFill>
                  <a:srgbClr val="3B82F6"/>
                </a:solidFill>
                <a:latin typeface="Calibri"/>
              </a:rPr>
              <a:t>(2)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1920240"/>
            <a:ext cx="2651760" cy="416052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53912" y="19202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912" y="2176272"/>
            <a:ext cx="2651760" cy="246888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7" y="1920240"/>
            <a:ext cx="2395728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Joaquín  </a:t>
            </a:r>
            <a:r>
              <a:rPr sz="950" b="0" i="0">
                <a:solidFill>
                  <a:srgbClr val="FFFFFF"/>
                </a:solidFill>
                <a:latin typeface="Calibri"/>
              </a:rPr>
              <a:t>· 3 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3" y="2560320"/>
            <a:ext cx="2340864" cy="33832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Estados + responsive (screener) </a:t>
            </a:r>
            <a:r>
              <a:rPr sz="900" b="1" i="0">
                <a:solidFill>
                  <a:srgbClr val="43A047"/>
                </a:solidFill>
                <a:latin typeface="Calibri"/>
              </a:rPr>
              <a:t>(3)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9408" y="1920240"/>
            <a:ext cx="2651760" cy="416052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79408" y="19202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79408" y="2176272"/>
            <a:ext cx="2651760" cy="24688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920240"/>
            <a:ext cx="2395728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Aldana  </a:t>
            </a:r>
            <a:r>
              <a:rPr sz="950" b="0" i="0">
                <a:solidFill>
                  <a:srgbClr val="FFFFFF"/>
                </a:solidFill>
                <a:latin typeface="Calibri"/>
              </a:rPr>
              <a:t>· 3 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560320"/>
            <a:ext cx="2340864" cy="33832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Estados + responsive + disclaimers (detalle) </a:t>
            </a:r>
            <a:r>
              <a:rPr sz="900" b="1" i="0">
                <a:solidFill>
                  <a:srgbClr val="F5821F"/>
                </a:solidFill>
                <a:latin typeface="Calibri"/>
              </a:rPr>
              <a:t>(3)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Definición de Hecho + convenciones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Una tarea está 'Hecha' cuando cumple todo esto. Así el sábado no hay sorpresas.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 · Kickoff Catalaxia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548640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Definición de Hecho (DoD)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5486400" cy="36576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40" b="0" i="0">
                <a:solidFill>
                  <a:srgbClr val="3A4458"/>
                </a:solidFill>
                <a:latin typeface="Calibri"/>
              </a:rPr>
              <a:t>PR aprobado por review + CI en verde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40" b="0" i="0">
                <a:solidFill>
                  <a:srgbClr val="3A4458"/>
                </a:solidFill>
                <a:latin typeface="Calibri"/>
              </a:rPr>
              <a:t>Sin errores en consola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40" b="0" i="0">
                <a:solidFill>
                  <a:srgbClr val="3A4458"/>
                </a:solidFill>
                <a:latin typeface="Calibri"/>
              </a:rPr>
              <a:t>Estados vacío / loading / error cubiertos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40" b="0" i="0">
                <a:solidFill>
                  <a:srgbClr val="3A4458"/>
                </a:solidFill>
                <a:latin typeface="Calibri"/>
              </a:rPr>
              <a:t>Responsive (mobile + desktop)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40" b="0" i="0">
                <a:solidFill>
                  <a:srgbClr val="3A4458"/>
                </a:solidFill>
                <a:latin typeface="Calibri"/>
              </a:rPr>
              <a:t>Datos con provenance / disclaimer donde corresponde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40" b="0" i="0">
                <a:solidFill>
                  <a:srgbClr val="3A4458"/>
                </a:solidFill>
                <a:latin typeface="Calibri"/>
              </a:rPr>
              <a:t>Doc mínima (endpoint o componente)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48640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Convenciones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5486400" cy="36576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40" b="0" i="0">
                <a:solidFill>
                  <a:srgbClr val="3A4458"/>
                </a:solidFill>
                <a:latin typeface="Calibri"/>
              </a:rPr>
              <a:t>TypeScript estricto en el front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40" b="0" i="0">
                <a:solidFill>
                  <a:srgbClr val="3A4458"/>
                </a:solidFill>
                <a:latin typeface="Calibri"/>
              </a:rPr>
              <a:t>Componentes de shadcn/ui + Tailwind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40" b="0" i="0">
                <a:solidFill>
                  <a:srgbClr val="3A4458"/>
                </a:solidFill>
                <a:latin typeface="Calibri"/>
              </a:rPr>
              <a:t>Nombres de endpoints del contrato, sin desvíos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40" b="0" i="0">
                <a:solidFill>
                  <a:srgbClr val="3A4458"/>
                </a:solidFill>
                <a:latin typeface="Calibri"/>
              </a:rPr>
              <a:t>Formato ARS/USD y flags de calidad consistentes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40" b="0" i="0">
                <a:solidFill>
                  <a:srgbClr val="3A4458"/>
                </a:solidFill>
                <a:latin typeface="Calibri"/>
              </a:rPr>
              <a:t>Commits y ramas con el ID de la historia (S1-07…)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0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40" b="0" i="0">
                <a:solidFill>
                  <a:srgbClr val="3A4458"/>
                </a:solidFill>
                <a:latin typeface="Calibri"/>
              </a:rPr>
              <a:t>Nada de secretos en el repo (.env)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Esta semana — primeros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 · Kickoff Catalaxia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137160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B82F6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233172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Accesos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233172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Repo, VPS/staging, Jira y .env para cada uno.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9202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2057400"/>
            <a:ext cx="137160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43A047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697480"/>
            <a:ext cx="233172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Contrato + mocks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3063240"/>
            <a:ext cx="233172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Federico congela el contrato de API; mocks disponibles.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9202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57400"/>
            <a:ext cx="137160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5821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697480"/>
            <a:ext cx="233172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Scaffolds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3063240"/>
            <a:ext cx="233172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FastAPI (Mateo) y Next.js (Joaquín/Aldana) arrancan.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4544" y="19202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07424" y="2057400"/>
            <a:ext cx="137160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4D8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2697480"/>
            <a:ext cx="233172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Primera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3063240"/>
            <a:ext cx="233172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El sábado: infra + API base + fronts navegando contra mocks.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11183112" cy="1417320"/>
          </a:xfrm>
          <a:prstGeom prst="roundRect">
            <a:avLst>
              <a:gd name="adj" fmla="val 3000"/>
            </a:avLst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297680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Duración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4 semanas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297680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Backlog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34 tareas · 108 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97680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Cadencia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demo cada sábado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64608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Stack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FastAPI + Next.js + Postgres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864608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Tracking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Jira + Excel de backlog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864608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Arranque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contrato de API día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B7589"/>
                </a:solidFill>
                <a:latin typeface="Calibri"/>
              </a:rPr>
              <a:t>Objetivo de la semana 1: todo navegable contra los mocks del contrato el sábado.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